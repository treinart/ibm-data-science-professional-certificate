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6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</p:sldIdLst>
  <p:sldSz cy="6858000" cx="12192000"/>
  <p:notesSz cx="6858000" cy="1857375"/>
  <p:embeddedFontLst>
    <p:embeddedFont>
      <p:font typeface="Inter SemiBold"/>
      <p:regular r:id="rId57"/>
      <p:bold r:id="rId58"/>
      <p:italic r:id="rId59"/>
      <p:boldItalic r:id="rId60"/>
    </p:embeddedFont>
    <p:embeddedFont>
      <p:font typeface="Inter"/>
      <p:bold r:id="rId61"/>
      <p:boldItalic r:id="rId62"/>
    </p:embeddedFont>
    <p:embeddedFont>
      <p:font typeface="IBM Plex Mono SemiBold"/>
      <p:regular r:id="rId63"/>
      <p:bold r:id="rId64"/>
      <p:italic r:id="rId65"/>
      <p:boldItalic r:id="rId66"/>
    </p:embeddedFont>
    <p:embeddedFont>
      <p:font typeface="Inter ExtraBold"/>
      <p:bold r:id="rId67"/>
      <p:boldItalic r:id="rId68"/>
    </p:embeddedFont>
    <p:embeddedFont>
      <p:font typeface="IBM Plex Mono"/>
      <p:regular r:id="rId69"/>
      <p:bold r:id="rId70"/>
      <p:italic r:id="rId71"/>
      <p:boldItalic r:id="rId7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2" Type="http://schemas.openxmlformats.org/officeDocument/2006/relationships/font" Target="fonts/IBMPlexMono-boldItalic.fntdata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1" Type="http://schemas.openxmlformats.org/officeDocument/2006/relationships/font" Target="fonts/IBMPlexMono-italic.fntdata"/><Relationship Id="rId70" Type="http://schemas.openxmlformats.org/officeDocument/2006/relationships/font" Target="fonts/IBMPlexMono-bold.fntdata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font" Target="fonts/Inter-boldItalic.fntdata"/><Relationship Id="rId61" Type="http://schemas.openxmlformats.org/officeDocument/2006/relationships/font" Target="fonts/Inter-bold.fntdata"/><Relationship Id="rId20" Type="http://schemas.openxmlformats.org/officeDocument/2006/relationships/slide" Target="slides/slide15.xml"/><Relationship Id="rId64" Type="http://schemas.openxmlformats.org/officeDocument/2006/relationships/font" Target="fonts/IBMPlexMonoSemiBold-bold.fntdata"/><Relationship Id="rId63" Type="http://schemas.openxmlformats.org/officeDocument/2006/relationships/font" Target="fonts/IBMPlexMonoSemiBold-regular.fntdata"/><Relationship Id="rId22" Type="http://schemas.openxmlformats.org/officeDocument/2006/relationships/slide" Target="slides/slide17.xml"/><Relationship Id="rId66" Type="http://schemas.openxmlformats.org/officeDocument/2006/relationships/font" Target="fonts/IBMPlexMonoSemiBold-boldItalic.fntdata"/><Relationship Id="rId21" Type="http://schemas.openxmlformats.org/officeDocument/2006/relationships/slide" Target="slides/slide16.xml"/><Relationship Id="rId65" Type="http://schemas.openxmlformats.org/officeDocument/2006/relationships/font" Target="fonts/IBMPlexMonoSemiBold-italic.fntdata"/><Relationship Id="rId24" Type="http://schemas.openxmlformats.org/officeDocument/2006/relationships/slide" Target="slides/slide19.xml"/><Relationship Id="rId68" Type="http://schemas.openxmlformats.org/officeDocument/2006/relationships/font" Target="fonts/InterExtraBold-boldItalic.fntdata"/><Relationship Id="rId23" Type="http://schemas.openxmlformats.org/officeDocument/2006/relationships/slide" Target="slides/slide18.xml"/><Relationship Id="rId67" Type="http://schemas.openxmlformats.org/officeDocument/2006/relationships/font" Target="fonts/InterExtraBold-bold.fntdata"/><Relationship Id="rId60" Type="http://schemas.openxmlformats.org/officeDocument/2006/relationships/font" Target="fonts/InterSemiBold-boldItalic.fntdata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font" Target="fonts/IBMPlexMono-regular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font" Target="fonts/InterSemiBold-regular.fntdata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font" Target="fonts/InterSemiBold-italic.fntdata"/><Relationship Id="rId14" Type="http://schemas.openxmlformats.org/officeDocument/2006/relationships/slide" Target="slides/slide9.xml"/><Relationship Id="rId58" Type="http://schemas.openxmlformats.org/officeDocument/2006/relationships/font" Target="fonts/InterSemiBold-bold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6" name="Google Shape;226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227" name="Google Shape;227;p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9" name="Google Shape;599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600" name="Google Shape;600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capres17sql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2" name="Google Shape;632;capres17sql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633" name="Google Shape;633;capres17sql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capres18map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capres18map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664" name="Google Shape;664;capres18map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capres19dash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8" name="Google Shape;678;capres19dash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679" name="Google Shape;679;capres19dash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3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capres20model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5" name="Google Shape;705;capres20model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706" name="Google Shape;706;capres20model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4" name="Google Shape;744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6" name="Google Shape;756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0" name="Google Shape;780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0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2" name="Google Shape;792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4" name="Google Shape;80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2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6" name="Google Shape;836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7" name="Google Shape;88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9" name="Google Shape;899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1" name="Google Shape;911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3" name="Google Shape;923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7" name="Google Shape;947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3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5" name="Google Shape;965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8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0" name="Google Shape;1000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7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9" name="Google Shape;1019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5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0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Google Shape;1061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2" name="Google Shape;1062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7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9" name="Google Shape;1079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6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8" name="Google Shape;1098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3" name="Google Shape;1113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6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8" name="Google Shape;1118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p4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3" name="Google Shape;1143;p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6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Google Shape;1167;p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8" name="Google Shape;1168;p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1" name="Shape 1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Google Shape;1192;p4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3" name="Google Shape;1193;p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6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4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8" name="Google Shape;1198;p4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5" name="Shape 1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Google Shape;1216;p4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7" name="Google Shape;1217;p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2" name="Shape 1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Google Shape;1233;p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4" name="Google Shape;1234;p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2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p4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4" name="Google Shape;1264;p4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5" name="Google Shape;1265;p4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7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p4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9" name="Google Shape;1289;p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" showMasterSp="0">
  <p:cSld name="1_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800"/>
              <a:buFont typeface="IBM Plex Mono SemiBold"/>
              <a:buNone/>
              <a:defRPr b="0" i="0" sz="4800" u="none" cap="none" strike="noStrike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Vertical Title and Text">
  <p:cSld name="1_Vertical Title and Tex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" name="Google Shape;2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" name="Google Shape;2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" name="Google Shape;34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7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0" name="Google Shape;40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" name="Google Shape;43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6" name="Google Shape;46;p8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9" name="Google Shape;49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0" name="Google Shape;50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" name="Google Shape;59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" name="Google Shape;6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" name="Google Shape;6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1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5" name="Google Shape;65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7" name="Google Shape;6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2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3" name="Google Shape;7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3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8" name="Google Shape;78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9" name="Google Shape;79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0" name="Google Shape;80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1" name="Google Shape;81;p14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600" u="none" cap="none" strike="noStrike">
                <a:solidFill>
                  <a:srgbClr val="1C7DDB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600" u="none" cap="none" strike="noStrike">
                <a:solidFill>
                  <a:srgbClr val="1C7DDB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600" u="none" cap="none" strike="noStrike">
                <a:solidFill>
                  <a:srgbClr val="1C7DDB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600" u="none" cap="none" strike="noStrike">
                <a:solidFill>
                  <a:srgbClr val="1C7DDB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600" u="none" cap="none" strike="noStrike">
                <a:solidFill>
                  <a:srgbClr val="1C7DDB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600" u="none" cap="none" strike="noStrike">
                <a:solidFill>
                  <a:srgbClr val="1C7DDB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600" u="none" cap="none" strike="noStrike">
                <a:solidFill>
                  <a:srgbClr val="1C7DDB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600" u="none" cap="none" strike="noStrike">
                <a:solidFill>
                  <a:srgbClr val="1C7DDB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600" u="none" cap="none" strike="noStrike">
                <a:solidFill>
                  <a:srgbClr val="1C7DDB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mc:AlternateContent>
    <mc:Choice Requires="p14">
      <p:transition spd="slow" p14:dur="700">
        <p:push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hyperlink" Target="https://github.com/treinart/IBM-Data-Science-Professional-Certificate/blob/main/10_Applied%20Data%20Science%20Capstone/Module%205/ds-capstone-template-coursera_10.18.26.pptx" TargetMode="External"/><Relationship Id="rId10" Type="http://schemas.openxmlformats.org/officeDocument/2006/relationships/image" Target="../media/image31.png"/><Relationship Id="rId13" Type="http://schemas.openxmlformats.org/officeDocument/2006/relationships/hyperlink" Target="https://docs.google.com/presentation/d/1Kn3pD8-L4FcQXGbkiTyAKMSsKwxemskQptS2ltuppcQ/edit?usp=sharing" TargetMode="External"/><Relationship Id="rId12" Type="http://schemas.openxmlformats.org/officeDocument/2006/relationships/hyperlink" Target="https://github.com/treinart/IBM-Data-Science-Professional-Certificate/blob/main/10_Applied%20Data%20Science%20Capstone/Module%205/ds-capstone-template-coursera_10.18.26.pdf" TargetMode="External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87.png"/><Relationship Id="rId9" Type="http://schemas.openxmlformats.org/officeDocument/2006/relationships/hyperlink" Target="https://docs.google.com/presentation/d/1Kn3pD8-L4FcQXGbkiTyAKMSsKwxemskQptS2ltuppcQ/edit?usp=sharing" TargetMode="External"/><Relationship Id="rId5" Type="http://schemas.openxmlformats.org/officeDocument/2006/relationships/image" Target="../media/image46.png"/><Relationship Id="rId6" Type="http://schemas.openxmlformats.org/officeDocument/2006/relationships/hyperlink" Target="https://github.com/treinart/IBM-Data-Science-Professional-Certificate" TargetMode="External"/><Relationship Id="rId7" Type="http://schemas.openxmlformats.org/officeDocument/2006/relationships/hyperlink" Target="https://github.com/treinart/IBM-Data-Science-Professional-Certificate/blob/main/10_Applied%20Data%20Science%20Capstone/Module%205/ds-capstone-template-coursera_10.18.26.pptx" TargetMode="External"/><Relationship Id="rId8" Type="http://schemas.openxmlformats.org/officeDocument/2006/relationships/hyperlink" Target="https://github.com/treinart/IBM-Data-Science-Professional-Certificate/blob/main/10_Applied%20Data%20Science%20Capstone/Module%205/ds-capstone-template-coursera_10.18.26.pdf" TargetMode="External"/></Relationships>
</file>

<file path=ppt/slides/_rels/slide2.xml.rels><?xml version="1.0" encoding="UTF-8" standalone="yes"?><Relationships xmlns="http://schemas.openxmlformats.org/package/2006/relationships"><Relationship Id="rId20" Type="http://schemas.openxmlformats.org/officeDocument/2006/relationships/slide" Target="/ppt/slides/slide50.xml"/><Relationship Id="rId11" Type="http://schemas.openxmlformats.org/officeDocument/2006/relationships/slide" Target="/ppt/slides/slide21.xml"/><Relationship Id="rId10" Type="http://schemas.openxmlformats.org/officeDocument/2006/relationships/slide" Target="/ppt/slides/slide21.xml"/><Relationship Id="rId21" Type="http://schemas.openxmlformats.org/officeDocument/2006/relationships/slide" Target="/ppt/slides/slide50.xml"/><Relationship Id="rId13" Type="http://schemas.openxmlformats.org/officeDocument/2006/relationships/slide" Target="/ppt/slides/slide38.xml"/><Relationship Id="rId12" Type="http://schemas.openxmlformats.org/officeDocument/2006/relationships/slide" Target="/ppt/slides/slide38.xm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slide" Target="/ppt/slides/slide3.xml"/><Relationship Id="rId9" Type="http://schemas.openxmlformats.org/officeDocument/2006/relationships/slide" Target="/ppt/slides/slide5.xml"/><Relationship Id="rId15" Type="http://schemas.openxmlformats.org/officeDocument/2006/relationships/slide" Target="/ppt/slides/slide42.xml"/><Relationship Id="rId14" Type="http://schemas.openxmlformats.org/officeDocument/2006/relationships/slide" Target="/ppt/slides/slide42.xml"/><Relationship Id="rId17" Type="http://schemas.openxmlformats.org/officeDocument/2006/relationships/slide" Target="/ppt/slides/slide46.xml"/><Relationship Id="rId16" Type="http://schemas.openxmlformats.org/officeDocument/2006/relationships/slide" Target="/ppt/slides/slide46.xml"/><Relationship Id="rId5" Type="http://schemas.openxmlformats.org/officeDocument/2006/relationships/slide" Target="/ppt/slides/slide3.xml"/><Relationship Id="rId19" Type="http://schemas.openxmlformats.org/officeDocument/2006/relationships/slide" Target="/ppt/slides/slide49.xml"/><Relationship Id="rId6" Type="http://schemas.openxmlformats.org/officeDocument/2006/relationships/slide" Target="/ppt/slides/slide4.xml"/><Relationship Id="rId18" Type="http://schemas.openxmlformats.org/officeDocument/2006/relationships/slide" Target="/ppt/slides/slide49.xml"/><Relationship Id="rId7" Type="http://schemas.openxmlformats.org/officeDocument/2006/relationships/slide" Target="/ppt/slides/slide4.xml"/><Relationship Id="rId8" Type="http://schemas.openxmlformats.org/officeDocument/2006/relationships/slide" Target="/ppt/slides/slide5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/Relationships>
</file>

<file path=ppt/slides/_rels/slide6.xml.rels><?xml version="1.0" encoding="UTF-8" standalone="yes"?><Relationships xmlns="http://schemas.openxmlformats.org/package/2006/relationships"><Relationship Id="rId40" Type="http://schemas.openxmlformats.org/officeDocument/2006/relationships/hyperlink" Target="https://dash.plotly.com/" TargetMode="External"/><Relationship Id="rId20" Type="http://schemas.openxmlformats.org/officeDocument/2006/relationships/hyperlink" Target="https://matplotlib.org/" TargetMode="External"/><Relationship Id="rId42" Type="http://schemas.openxmlformats.org/officeDocument/2006/relationships/image" Target="../media/image12.png"/><Relationship Id="rId41" Type="http://schemas.openxmlformats.org/officeDocument/2006/relationships/hyperlink" Target="https://dash.plotly.com/" TargetMode="External"/><Relationship Id="rId22" Type="http://schemas.openxmlformats.org/officeDocument/2006/relationships/image" Target="../media/image33.png"/><Relationship Id="rId44" Type="http://schemas.openxmlformats.org/officeDocument/2006/relationships/hyperlink" Target="https://scikit-learn.org/stable/" TargetMode="External"/><Relationship Id="rId21" Type="http://schemas.openxmlformats.org/officeDocument/2006/relationships/hyperlink" Target="https://matplotlib.org/" TargetMode="External"/><Relationship Id="rId43" Type="http://schemas.openxmlformats.org/officeDocument/2006/relationships/hyperlink" Target="https://dash.plotly.com/" TargetMode="External"/><Relationship Id="rId24" Type="http://schemas.openxmlformats.org/officeDocument/2006/relationships/hyperlink" Target="https://seaborn.pydata.org/" TargetMode="External"/><Relationship Id="rId46" Type="http://schemas.openxmlformats.org/officeDocument/2006/relationships/image" Target="../media/image9.png"/><Relationship Id="rId23" Type="http://schemas.openxmlformats.org/officeDocument/2006/relationships/hyperlink" Target="https://matplotlib.org/" TargetMode="External"/><Relationship Id="rId45" Type="http://schemas.openxmlformats.org/officeDocument/2006/relationships/hyperlink" Target="https://scikit-learn.org/stable/" TargetMode="Externa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requests.readthedocs.io/en/latest/" TargetMode="External"/><Relationship Id="rId9" Type="http://schemas.openxmlformats.org/officeDocument/2006/relationships/hyperlink" Target="https://www.crummy.com/software/BeautifulSoup/" TargetMode="External"/><Relationship Id="rId26" Type="http://schemas.openxmlformats.org/officeDocument/2006/relationships/image" Target="../media/image23.png"/><Relationship Id="rId25" Type="http://schemas.openxmlformats.org/officeDocument/2006/relationships/hyperlink" Target="https://seaborn.pydata.org/" TargetMode="External"/><Relationship Id="rId47" Type="http://schemas.openxmlformats.org/officeDocument/2006/relationships/hyperlink" Target="https://scikit-learn.org/stable/" TargetMode="External"/><Relationship Id="rId28" Type="http://schemas.openxmlformats.org/officeDocument/2006/relationships/hyperlink" Target="https://www.sqlite.org/" TargetMode="External"/><Relationship Id="rId27" Type="http://schemas.openxmlformats.org/officeDocument/2006/relationships/hyperlink" Target="https://seaborn.pydata.org/" TargetMode="External"/><Relationship Id="rId5" Type="http://schemas.openxmlformats.org/officeDocument/2006/relationships/hyperlink" Target="https://requests.readthedocs.io/en/latest/" TargetMode="External"/><Relationship Id="rId6" Type="http://schemas.openxmlformats.org/officeDocument/2006/relationships/image" Target="../media/image6.png"/><Relationship Id="rId29" Type="http://schemas.openxmlformats.org/officeDocument/2006/relationships/hyperlink" Target="https://www.sqlite.org/" TargetMode="External"/><Relationship Id="rId7" Type="http://schemas.openxmlformats.org/officeDocument/2006/relationships/hyperlink" Target="https://requests.readthedocs.io/en/latest/" TargetMode="External"/><Relationship Id="rId8" Type="http://schemas.openxmlformats.org/officeDocument/2006/relationships/hyperlink" Target="https://www.crummy.com/software/BeautifulSoup/" TargetMode="External"/><Relationship Id="rId31" Type="http://schemas.openxmlformats.org/officeDocument/2006/relationships/hyperlink" Target="https://www.sqlite.org/" TargetMode="External"/><Relationship Id="rId30" Type="http://schemas.openxmlformats.org/officeDocument/2006/relationships/image" Target="../media/image25.png"/><Relationship Id="rId11" Type="http://schemas.openxmlformats.org/officeDocument/2006/relationships/hyperlink" Target="https://www.crummy.com/software/BeautifulSoup/" TargetMode="External"/><Relationship Id="rId33" Type="http://schemas.openxmlformats.org/officeDocument/2006/relationships/hyperlink" Target="https://python-visualization.github.io/folium/latest/" TargetMode="External"/><Relationship Id="rId10" Type="http://schemas.openxmlformats.org/officeDocument/2006/relationships/image" Target="../media/image7.png"/><Relationship Id="rId32" Type="http://schemas.openxmlformats.org/officeDocument/2006/relationships/hyperlink" Target="https://python-visualization.github.io/folium/latest/" TargetMode="External"/><Relationship Id="rId13" Type="http://schemas.openxmlformats.org/officeDocument/2006/relationships/hyperlink" Target="https://pandas.pydata.org/" TargetMode="External"/><Relationship Id="rId35" Type="http://schemas.openxmlformats.org/officeDocument/2006/relationships/hyperlink" Target="https://python-visualization.github.io/folium/latest/" TargetMode="External"/><Relationship Id="rId12" Type="http://schemas.openxmlformats.org/officeDocument/2006/relationships/hyperlink" Target="https://pandas.pydata.org/" TargetMode="External"/><Relationship Id="rId34" Type="http://schemas.openxmlformats.org/officeDocument/2006/relationships/image" Target="../media/image8.png"/><Relationship Id="rId15" Type="http://schemas.openxmlformats.org/officeDocument/2006/relationships/hyperlink" Target="https://pandas.pydata.org/" TargetMode="External"/><Relationship Id="rId37" Type="http://schemas.openxmlformats.org/officeDocument/2006/relationships/hyperlink" Target="https://plotly.com/python/" TargetMode="External"/><Relationship Id="rId14" Type="http://schemas.openxmlformats.org/officeDocument/2006/relationships/image" Target="../media/image19.png"/><Relationship Id="rId36" Type="http://schemas.openxmlformats.org/officeDocument/2006/relationships/hyperlink" Target="https://plotly.com/python/" TargetMode="External"/><Relationship Id="rId17" Type="http://schemas.openxmlformats.org/officeDocument/2006/relationships/hyperlink" Target="https://numpy.org/" TargetMode="External"/><Relationship Id="rId39" Type="http://schemas.openxmlformats.org/officeDocument/2006/relationships/hyperlink" Target="https://plotly.com/python/" TargetMode="External"/><Relationship Id="rId16" Type="http://schemas.openxmlformats.org/officeDocument/2006/relationships/hyperlink" Target="https://numpy.org/" TargetMode="External"/><Relationship Id="rId38" Type="http://schemas.openxmlformats.org/officeDocument/2006/relationships/image" Target="../media/image26.png"/><Relationship Id="rId19" Type="http://schemas.openxmlformats.org/officeDocument/2006/relationships/hyperlink" Target="https://numpy.org/" TargetMode="External"/><Relationship Id="rId18" Type="http://schemas.openxmlformats.org/officeDocument/2006/relationships/image" Target="../media/image11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Relationship Id="rId4" Type="http://schemas.openxmlformats.org/officeDocument/2006/relationships/image" Target="../media/image17.png"/><Relationship Id="rId9" Type="http://schemas.openxmlformats.org/officeDocument/2006/relationships/image" Target="../media/image10.png"/><Relationship Id="rId5" Type="http://schemas.openxmlformats.org/officeDocument/2006/relationships/hyperlink" Target="https://github.com/treinart/IBM-Data-Science-Professional-Certificate/blob/main/10_Applied%20Data%20Science%20Capstone/Module%201/jupyter-labs-spacex-data-collection-api-v2.ipynb" TargetMode="External"/><Relationship Id="rId6" Type="http://schemas.openxmlformats.org/officeDocument/2006/relationships/hyperlink" Target="https://github.com/treinart/IBM-Data-Science-Professional-Certificate/blob/main/10_Applied%20Data%20Science%20Capstone/Module%201/dataset_part_1.csv" TargetMode="External"/><Relationship Id="rId7" Type="http://schemas.openxmlformats.org/officeDocument/2006/relationships/hyperlink" Target="https://github.com/treinart/IBM-Data-Science-Professional-Certificate/blob/main/10_Applied%20Data%20Science%20Capstone/Module%201/jupyter-labs-webscraping.ipynb" TargetMode="External"/><Relationship Id="rId8" Type="http://schemas.openxmlformats.org/officeDocument/2006/relationships/hyperlink" Target="https://github.com/treinart/IBM-Data-Science-Professional-Certificate/blob/main/10_Applied%20Data%20Science%20Capstone/Module%201/spacex_web_scraped.csv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hyperlink" Target="https://github.com/treinart/IBM-Data-Science-Professional-Certificate/blob/main/10_Applied%20Data%20Science%20Capstone/Module%201/jupyter-labs-spacex-data-collection-api-v2.ipynb" TargetMode="External"/><Relationship Id="rId5" Type="http://schemas.openxmlformats.org/officeDocument/2006/relationships/image" Target="../media/image16.png"/><Relationship Id="rId6" Type="http://schemas.openxmlformats.org/officeDocument/2006/relationships/image" Target="../media/image27.png"/><Relationship Id="rId7" Type="http://schemas.openxmlformats.org/officeDocument/2006/relationships/hyperlink" Target="https://github.com/treinart/IBM-Data-Science-Professional-Certificate/blob/main/10_Applied%20Data%20Science%20Capstone/Module%204/SpaceX-Machine-Learning-Prediction-Part-5-v1.ipynb" TargetMode="External"/><Relationship Id="rId8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hyperlink" Target="https://github.com/treinart/IBM-Data-Science-Professional-Certificate/blob/main/10_Applied%20Data%20Science%20Capstone/Module%201/jupyter-labs-webscraping.ipynb" TargetMode="External"/><Relationship Id="rId5" Type="http://schemas.openxmlformats.org/officeDocument/2006/relationships/image" Target="../media/image22.png"/><Relationship Id="rId6" Type="http://schemas.openxmlformats.org/officeDocument/2006/relationships/hyperlink" Target="https://github.com/treinart/IBM-Data-Science-Professional-Certificate/blob/main/10_Applied%20Data%20Science%20Capstone/Module%201/jupyter-labs-webscraping.ipynb" TargetMode="External"/><Relationship Id="rId7" Type="http://schemas.openxmlformats.org/officeDocument/2006/relationships/image" Target="../media/image10.png"/><Relationship Id="rId8" Type="http://schemas.openxmlformats.org/officeDocument/2006/relationships/image" Target="../media/image6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hyperlink" Target="https://github.com/treinart/IBM-Data-Science-Professional-Certificate/blob/main/10_Applied%20Data%20Science%20Capstone/Module%201/labs-jupyter-spacex-Data%20wrangling-v2.ipynb" TargetMode="External"/><Relationship Id="rId5" Type="http://schemas.openxmlformats.org/officeDocument/2006/relationships/image" Target="../media/image28.png"/><Relationship Id="rId6" Type="http://schemas.openxmlformats.org/officeDocument/2006/relationships/hyperlink" Target="https://github.com/treinart/IBM-Data-Science-Professional-Certificate/blob/main/10_Applied%20Data%20Science%20Capstone/Module%201/labs-jupyter-spacex-Data%20wrangling-v2.ipynb" TargetMode="External"/><Relationship Id="rId7" Type="http://schemas.openxmlformats.org/officeDocument/2006/relationships/image" Target="../media/image10.png"/><Relationship Id="rId8" Type="http://schemas.openxmlformats.org/officeDocument/2006/relationships/image" Target="../media/image5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104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dataviz-v2.ipynb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Relationship Id="rId4" Type="http://schemas.openxmlformats.org/officeDocument/2006/relationships/image" Target="../media/image10.png"/><Relationship Id="rId5" Type="http://schemas.openxmlformats.org/officeDocument/2006/relationships/hyperlink" Target="https://github.com/treinart/IBM-Data-Science-Professional-Certificate/blob/main/10_Applied%20Data%20Science%20Capstone/Module%202/jupyter-labs-eda-sql-coursera_sqllite.ipynb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1.png"/><Relationship Id="rId4" Type="http://schemas.openxmlformats.org/officeDocument/2006/relationships/hyperlink" Target="https://github.com/treinart/IBM-Data-Science-Professional-Certificate/blob/main/10_Applied%20Data%20Science%20Capstone/Module%203/lab-jupyter-launch-site-location-v2.ipynb" TargetMode="External"/><Relationship Id="rId5" Type="http://schemas.openxmlformats.org/officeDocument/2006/relationships/hyperlink" Target="https://github.com/treinart/IBM-Data-Science-Professional-Certificate/blob/main/10_Applied%20Data%20Science%20Capstone/Module%203/lab-jupyter-launch-site-location-v2.ipynb" TargetMode="External"/><Relationship Id="rId6" Type="http://schemas.openxmlformats.org/officeDocument/2006/relationships/hyperlink" Target="https://github.com/treinart/IBM-Data-Science-Professional-Certificate/blob/main/10_Applied%20Data%20Science%20Capstone/Module%203/lab-jupyter-launch-site-location-v2.ipynb" TargetMode="External"/><Relationship Id="rId7" Type="http://schemas.openxmlformats.org/officeDocument/2006/relationships/image" Target="../media/image10.png"/><Relationship Id="rId8" Type="http://schemas.openxmlformats.org/officeDocument/2006/relationships/image" Target="../media/image4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Relationship Id="rId4" Type="http://schemas.openxmlformats.org/officeDocument/2006/relationships/hyperlink" Target="https://github.com/treinart/IBM-Data-Science-Professional-Certificate/blob/main/10_Applied%20Data%20Science%20Capstone/Module%203/spacex-dash-app.py" TargetMode="External"/><Relationship Id="rId9" Type="http://schemas.openxmlformats.org/officeDocument/2006/relationships/hyperlink" Target="https://spacex-launch-analytics.netlify.app/" TargetMode="External"/><Relationship Id="rId5" Type="http://schemas.openxmlformats.org/officeDocument/2006/relationships/hyperlink" Target="https://github.com/treinart/IBM-Data-Science-Professional-Certificate/blob/main/10_Applied%20Data%20Science%20Capstone/Module%203/spacex-dash-app.py" TargetMode="External"/><Relationship Id="rId6" Type="http://schemas.openxmlformats.org/officeDocument/2006/relationships/image" Target="../media/image43.png"/><Relationship Id="rId7" Type="http://schemas.openxmlformats.org/officeDocument/2006/relationships/hyperlink" Target="https://github.com/treinart/IBM-Data-Science-Professional-Certificate/blob/main/10_Applied%20Data%20Science%20Capstone/Module%203/spacex-dash-app.py" TargetMode="External"/><Relationship Id="rId8" Type="http://schemas.openxmlformats.org/officeDocument/2006/relationships/image" Target="../media/image10.png"/><Relationship Id="rId10" Type="http://schemas.openxmlformats.org/officeDocument/2006/relationships/hyperlink" Target="https://spacex-launch-analytics.netlify.app/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Relationship Id="rId4" Type="http://schemas.openxmlformats.org/officeDocument/2006/relationships/hyperlink" Target="https://github.com/treinart/IBM-Data-Science-Professional-Certificate/blob/main/10_Applied%20Data%20Science%20Capstone/Module%204/SpaceX-Machine-Learning-Prediction-Part-5-v1.ipynb" TargetMode="External"/><Relationship Id="rId5" Type="http://schemas.openxmlformats.org/officeDocument/2006/relationships/hyperlink" Target="https://github.com/treinart/IBM-Data-Science-Professional-Certificate/blob/main/10_Applied%20Data%20Science%20Capstone/Module%204/SpaceX-Machine-Learning-Prediction-Part-5-v1.ipynb" TargetMode="External"/><Relationship Id="rId6" Type="http://schemas.openxmlformats.org/officeDocument/2006/relationships/image" Target="../media/image10.png"/><Relationship Id="rId7" Type="http://schemas.openxmlformats.org/officeDocument/2006/relationships/image" Target="../media/image38.png"/><Relationship Id="rId8" Type="http://schemas.openxmlformats.org/officeDocument/2006/relationships/image" Target="../media/image5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0.png"/><Relationship Id="rId4" Type="http://schemas.openxmlformats.org/officeDocument/2006/relationships/hyperlink" Target="https://github.com/treinart/IBM-Data-Science-Professional-Certificate/blob/main/10_Applied%20Data%20Science%20Capstone/Module%202/jupyter-labs-eda-dataviz-v2.ipynb" TargetMode="External"/><Relationship Id="rId9" Type="http://schemas.openxmlformats.org/officeDocument/2006/relationships/hyperlink" Target="https://spacex-launch-analytics.netlify.app/" TargetMode="External"/><Relationship Id="rId5" Type="http://schemas.openxmlformats.org/officeDocument/2006/relationships/hyperlink" Target="https://github.com/treinart/IBM-Data-Science-Professional-Certificate/blob/main/10_Applied%20Data%20Science%20Capstone/Module%202/jupyter-labs-eda-dataviz-v2.ipynb" TargetMode="External"/><Relationship Id="rId6" Type="http://schemas.openxmlformats.org/officeDocument/2006/relationships/hyperlink" Target="https://github.com/treinart/IBM-Data-Science-Professional-Certificate/blob/main/10_Applied%20Data%20Science%20Capstone/Module%203/spacex-dash-app.py" TargetMode="External"/><Relationship Id="rId7" Type="http://schemas.openxmlformats.org/officeDocument/2006/relationships/hyperlink" Target="https://github.com/treinart/IBM-Data-Science-Professional-Certificate/blob/main/10_Applied%20Data%20Science%20Capstone/Module%203/spacex-dash-app.py" TargetMode="External"/><Relationship Id="rId8" Type="http://schemas.openxmlformats.org/officeDocument/2006/relationships/hyperlink" Target="https://spacex-launch-analytics.netlify.app/" TargetMode="External"/><Relationship Id="rId11" Type="http://schemas.openxmlformats.org/officeDocument/2006/relationships/hyperlink" Target="https://github.com/treinart/IBM-Data-Science-Professional-Certificate/blob/main/10_Applied%20Data%20Science%20Capstone/Module%204/SpaceX-Machine-Learning-Prediction-Part-5-v1.ipynb" TargetMode="External"/><Relationship Id="rId10" Type="http://schemas.openxmlformats.org/officeDocument/2006/relationships/hyperlink" Target="https://github.com/treinart/IBM-Data-Science-Professional-Certificate/blob/main/10_Applied%20Data%20Science%20Capstone/Module%204/SpaceX-Machine-Learning-Prediction-Part-5-v1.ipynb" TargetMode="External"/><Relationship Id="rId13" Type="http://schemas.openxmlformats.org/officeDocument/2006/relationships/image" Target="../media/image78.png"/><Relationship Id="rId12" Type="http://schemas.openxmlformats.org/officeDocument/2006/relationships/image" Target="../media/image74.png"/><Relationship Id="rId15" Type="http://schemas.openxmlformats.org/officeDocument/2006/relationships/image" Target="../media/image45.png"/><Relationship Id="rId14" Type="http://schemas.openxmlformats.org/officeDocument/2006/relationships/image" Target="../media/image47.png"/><Relationship Id="rId16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hyperlink" Target="https://github.com/treinart/IBM-Data-Science-Professional-Certificate/blob/main/10_Applied%20Data%20Science%20Capstone/Module%202/jupyter-labs-eda-dataviz-v2.ipynb" TargetMode="External"/><Relationship Id="rId6" Type="http://schemas.openxmlformats.org/officeDocument/2006/relationships/hyperlink" Target="https://github.com/treinart/IBM-Data-Science-Professional-Certificate/blob/main/10_Applied%20Data%20Science%20Capstone/Module%202/jupyter-labs-eda-sql-coursera_sqllite.ipynb" TargetMode="External"/><Relationship Id="rId7" Type="http://schemas.openxmlformats.org/officeDocument/2006/relationships/image" Target="../media/image4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Relationship Id="rId4" Type="http://schemas.openxmlformats.org/officeDocument/2006/relationships/image" Target="../media/image55.png"/><Relationship Id="rId5" Type="http://schemas.openxmlformats.org/officeDocument/2006/relationships/image" Target="../media/image53.png"/><Relationship Id="rId6" Type="http://schemas.openxmlformats.org/officeDocument/2006/relationships/image" Target="../media/image10.png"/><Relationship Id="rId7" Type="http://schemas.openxmlformats.org/officeDocument/2006/relationships/hyperlink" Target="https://github.com/treinart/IBM-Data-Science-Professional-Certificate/blob/main/10_Applied%20Data%20Science%20Capstone/Module%203/lab-jupyter-launch-site-location-v2.ipynb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Relationship Id="rId4" Type="http://schemas.openxmlformats.org/officeDocument/2006/relationships/image" Target="../media/image52.png"/><Relationship Id="rId5" Type="http://schemas.openxmlformats.org/officeDocument/2006/relationships/image" Target="../media/image57.png"/><Relationship Id="rId6" Type="http://schemas.openxmlformats.org/officeDocument/2006/relationships/hyperlink" Target="https://spacex-launch-analytics.netlify.app/" TargetMode="External"/><Relationship Id="rId7" Type="http://schemas.openxmlformats.org/officeDocument/2006/relationships/hyperlink" Target="https://github.com/treinart/IBM-Data-Science-Professional-Certificate/blob/main/10_Applied%20Data%20Science%20Capstone/Module%203/01-all-sites-dashboard.png" TargetMode="External"/><Relationship Id="rId8" Type="http://schemas.openxmlformats.org/officeDocument/2006/relationships/hyperlink" Target="https://github.com/treinart/IBM-Data-Science-Professional-Certificate/blob/main/10_Applied%20Data%20Science%20Capstone/Module%203/02-selected-site-dashboard.png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png"/><Relationship Id="rId4" Type="http://schemas.openxmlformats.org/officeDocument/2006/relationships/image" Target="../media/image75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4/SpaceX-Machine-Learning-Prediction-Part-5-v1.ipynb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Relationship Id="rId4" Type="http://schemas.openxmlformats.org/officeDocument/2006/relationships/image" Target="../media/image121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dataviz-v2.ipynb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png"/><Relationship Id="rId4" Type="http://schemas.openxmlformats.org/officeDocument/2006/relationships/image" Target="../media/image92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dataviz-v2.ipynb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1.png"/><Relationship Id="rId4" Type="http://schemas.openxmlformats.org/officeDocument/2006/relationships/image" Target="../media/image110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dataviz-v2.ipynb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1.png"/><Relationship Id="rId4" Type="http://schemas.openxmlformats.org/officeDocument/2006/relationships/image" Target="../media/image114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dataviz-v2.ipynb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png"/><Relationship Id="rId4" Type="http://schemas.openxmlformats.org/officeDocument/2006/relationships/image" Target="../media/image97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dataviz-v2.ipynb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1.png"/><Relationship Id="rId4" Type="http://schemas.openxmlformats.org/officeDocument/2006/relationships/image" Target="../media/image123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dataviz-v2.ipynb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73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sql-coursera_sqllite.ipynb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1.png"/><Relationship Id="rId4" Type="http://schemas.openxmlformats.org/officeDocument/2006/relationships/image" Target="../media/image67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sql-coursera_sqllite.ipynb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1.png"/><Relationship Id="rId4" Type="http://schemas.openxmlformats.org/officeDocument/2006/relationships/image" Target="../media/image66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sql-coursera_sqllite.ipynb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1.png"/><Relationship Id="rId4" Type="http://schemas.openxmlformats.org/officeDocument/2006/relationships/image" Target="../media/image69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sql-coursera_sqllite.ipynb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1.png"/><Relationship Id="rId4" Type="http://schemas.openxmlformats.org/officeDocument/2006/relationships/image" Target="../media/image94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sql-coursera_sqllite.ipynb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png"/><Relationship Id="rId4" Type="http://schemas.openxmlformats.org/officeDocument/2006/relationships/image" Target="../media/image80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sql-coursera_sqllite.ipynb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.png"/><Relationship Id="rId4" Type="http://schemas.openxmlformats.org/officeDocument/2006/relationships/image" Target="../media/image77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sql-coursera_sqllite.ipynb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1.png"/><Relationship Id="rId4" Type="http://schemas.openxmlformats.org/officeDocument/2006/relationships/image" Target="../media/image89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sql-coursera_sqllite.ipynb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.png"/><Relationship Id="rId4" Type="http://schemas.openxmlformats.org/officeDocument/2006/relationships/image" Target="../media/image86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sql-coursera_sqllite.ipynb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1.png"/><Relationship Id="rId4" Type="http://schemas.openxmlformats.org/officeDocument/2006/relationships/image" Target="../media/image90.png"/><Relationship Id="rId5" Type="http://schemas.openxmlformats.org/officeDocument/2006/relationships/image" Target="../media/image10.png"/><Relationship Id="rId6" Type="http://schemas.openxmlformats.org/officeDocument/2006/relationships/hyperlink" Target="https://github.com/treinart/IBM-Data-Science-Professional-Certificate/blob/main/10_Applied%20Data%20Science%20Capstone/Module%202/jupyter-labs-eda-sql-coursera_sqllite.ipynb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.png"/><Relationship Id="rId4" Type="http://schemas.openxmlformats.org/officeDocument/2006/relationships/image" Target="../media/image120.png"/><Relationship Id="rId5" Type="http://schemas.openxmlformats.org/officeDocument/2006/relationships/hyperlink" Target="https://github.com/treinart/IBM-Data-Science-Professional-Certificate/blob/main/10_Applied%20Data%20Science%20Capstone/Module%203/lab-jupyter-launch-site-location-v2.ipynb" TargetMode="External"/><Relationship Id="rId6" Type="http://schemas.openxmlformats.org/officeDocument/2006/relationships/image" Target="../media/image91.png"/><Relationship Id="rId7" Type="http://schemas.openxmlformats.org/officeDocument/2006/relationships/image" Target="../media/image96.png"/><Relationship Id="rId8" Type="http://schemas.openxmlformats.org/officeDocument/2006/relationships/image" Target="../media/image10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1.png"/><Relationship Id="rId4" Type="http://schemas.openxmlformats.org/officeDocument/2006/relationships/image" Target="../media/image98.png"/><Relationship Id="rId5" Type="http://schemas.openxmlformats.org/officeDocument/2006/relationships/hyperlink" Target="https://github.com/treinart/IBM-Data-Science-Professional-Certificate/blob/main/10_Applied%20Data%20Science%20Capstone/Module%203/lab-jupyter-launch-site-location-v2.ipynb" TargetMode="External"/><Relationship Id="rId6" Type="http://schemas.openxmlformats.org/officeDocument/2006/relationships/image" Target="../media/image10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.png"/><Relationship Id="rId4" Type="http://schemas.openxmlformats.org/officeDocument/2006/relationships/image" Target="../media/image101.png"/><Relationship Id="rId5" Type="http://schemas.openxmlformats.org/officeDocument/2006/relationships/hyperlink" Target="https://github.com/treinart/IBM-Data-Science-Professional-Certificate/blob/main/10_Applied%20Data%20Science%20Capstone/Module%203/lab-jupyter-launch-site-location-v2.ipynb" TargetMode="External"/><Relationship Id="rId6" Type="http://schemas.openxmlformats.org/officeDocument/2006/relationships/image" Target="../media/image95.png"/><Relationship Id="rId7" Type="http://schemas.openxmlformats.org/officeDocument/2006/relationships/image" Target="../media/image10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05.jp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.png"/><Relationship Id="rId4" Type="http://schemas.openxmlformats.org/officeDocument/2006/relationships/image" Target="../media/image103.png"/><Relationship Id="rId5" Type="http://schemas.openxmlformats.org/officeDocument/2006/relationships/hyperlink" Target="https://spacex-launch-analytics.netlify.app/" TargetMode="External"/><Relationship Id="rId6" Type="http://schemas.openxmlformats.org/officeDocument/2006/relationships/image" Target="../media/image10.png"/><Relationship Id="rId7" Type="http://schemas.openxmlformats.org/officeDocument/2006/relationships/hyperlink" Target="https://github.com/treinart/IBM-Data-Science-Professional-Certificate/blob/main/10_Applied%20Data%20Science%20Capstone/Module%203/spacex-dash-app.py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.png"/><Relationship Id="rId4" Type="http://schemas.openxmlformats.org/officeDocument/2006/relationships/image" Target="../media/image125.png"/><Relationship Id="rId5" Type="http://schemas.openxmlformats.org/officeDocument/2006/relationships/hyperlink" Target="https://spacex-launch-analytics.netlify.app/" TargetMode="External"/><Relationship Id="rId6" Type="http://schemas.openxmlformats.org/officeDocument/2006/relationships/image" Target="../media/image10.png"/><Relationship Id="rId7" Type="http://schemas.openxmlformats.org/officeDocument/2006/relationships/hyperlink" Target="https://github.com/treinart/IBM-Data-Science-Professional-Certificate/blob/main/10_Applied%20Data%20Science%20Capstone/Module%203/spacex-dash-app.py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.png"/><Relationship Id="rId4" Type="http://schemas.openxmlformats.org/officeDocument/2006/relationships/image" Target="../media/image107.png"/><Relationship Id="rId5" Type="http://schemas.openxmlformats.org/officeDocument/2006/relationships/hyperlink" Target="https://spacex-launch-analytics.netlify.app/" TargetMode="External"/><Relationship Id="rId6" Type="http://schemas.openxmlformats.org/officeDocument/2006/relationships/image" Target="../media/image10.png"/><Relationship Id="rId7" Type="http://schemas.openxmlformats.org/officeDocument/2006/relationships/hyperlink" Target="https://github.com/treinart/IBM-Data-Science-Professional-Certificate/blob/main/10_Applied%20Data%20Science%20Capstone/Module%203/spacex-dash-app.py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12.jp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21.png"/><Relationship Id="rId4" Type="http://schemas.openxmlformats.org/officeDocument/2006/relationships/image" Target="../media/image119.png"/><Relationship Id="rId5" Type="http://schemas.openxmlformats.org/officeDocument/2006/relationships/hyperlink" Target="https://github.com/treinart/IBM-Data-Science-Professional-Certificate/blob/main/10_Applied%20Data%20Science%20Capstone/Module%204/SpaceX-Machine-Learning-Prediction-Part-5-v1.ipynb" TargetMode="External"/><Relationship Id="rId6" Type="http://schemas.openxmlformats.org/officeDocument/2006/relationships/image" Target="../media/image10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1.png"/><Relationship Id="rId4" Type="http://schemas.openxmlformats.org/officeDocument/2006/relationships/image" Target="../media/image117.png"/><Relationship Id="rId5" Type="http://schemas.openxmlformats.org/officeDocument/2006/relationships/hyperlink" Target="https://github.com/treinart/IBM-Data-Science-Professional-Certificate/blob/main/10_Applied%20Data%20Science%20Capstone/Module%204/SpaceX-Machine-Learning-Prediction-Part-5-v1.ipynb" TargetMode="External"/><Relationship Id="rId6" Type="http://schemas.openxmlformats.org/officeDocument/2006/relationships/image" Target="../media/image75.png"/><Relationship Id="rId7" Type="http://schemas.openxmlformats.org/officeDocument/2006/relationships/image" Target="../media/image10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1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1.png"/><Relationship Id="rId4" Type="http://schemas.openxmlformats.org/officeDocument/2006/relationships/hyperlink" Target="https://github.com/treinart/IBM-Data-Science-Professional-Certificate/blob/main/10_Applied%20Data%20Science%20Capstone/Module%203/spacex-dashboard/app.js#L146-L162" TargetMode="External"/><Relationship Id="rId9" Type="http://schemas.openxmlformats.org/officeDocument/2006/relationships/hyperlink" Target="https://github.com/treinart/IBM-Data-Science-Professional-Certificate/blob/main/10_Applied%20Data%20Science%20Capstone/Module%203/spacex-dashboard/app.js" TargetMode="External"/><Relationship Id="rId5" Type="http://schemas.openxmlformats.org/officeDocument/2006/relationships/image" Target="../media/image126.png"/><Relationship Id="rId6" Type="http://schemas.openxmlformats.org/officeDocument/2006/relationships/hyperlink" Target="https://github.com/treinart/IBM-Data-Science-Professional-Certificate/blob/main/10_Applied%20Data%20Science%20Capstone/Module%203/spacex-dashboard/app.js#L146-L162" TargetMode="External"/><Relationship Id="rId7" Type="http://schemas.openxmlformats.org/officeDocument/2006/relationships/hyperlink" Target="https://spacex-launch-analytics.netlify.app/" TargetMode="External"/><Relationship Id="rId8" Type="http://schemas.openxmlformats.org/officeDocument/2006/relationships/hyperlink" Target="https://github.com/treinart/IBM-Data-Science-Professional-Certificate/blob/main/10_Applied%20Data%20Science%20Capstone/Module%203/spacex-dashboard/README.md" TargetMode="External"/><Relationship Id="rId11" Type="http://schemas.openxmlformats.org/officeDocument/2006/relationships/hyperlink" Target="https://github.com/treinart/IBM-Data-Science-Professional-Certificate/blob/main/10_Applied%20Data%20Science%20Capstone/Module%203/spacex-dashboard/spacex_launch_dash.csv" TargetMode="External"/><Relationship Id="rId10" Type="http://schemas.openxmlformats.org/officeDocument/2006/relationships/hyperlink" Target="https://github.com/treinart/IBM-Data-Science-Professional-Certificate/blob/main/10_Applied%20Data%20Science%20Capstone/Module%203/spacex-dash-app.py" TargetMode="Externa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22.jpg"/><Relationship Id="rId4" Type="http://schemas.openxmlformats.org/officeDocument/2006/relationships/image" Target="../media/image87.png"/><Relationship Id="rId9" Type="http://schemas.openxmlformats.org/officeDocument/2006/relationships/hyperlink" Target="https://docs.google.com/presentation/d/1Kn3pD8-L4FcQXGbkiTyAKMSsKwxemskQptS2ltuppcQ/edit?usp=sharing" TargetMode="External"/><Relationship Id="rId5" Type="http://schemas.openxmlformats.org/officeDocument/2006/relationships/image" Target="../media/image46.png"/><Relationship Id="rId6" Type="http://schemas.openxmlformats.org/officeDocument/2006/relationships/hyperlink" Target="https://github.com/treinart/IBM-Data-Science-Professional-Certificate" TargetMode="External"/><Relationship Id="rId7" Type="http://schemas.openxmlformats.org/officeDocument/2006/relationships/hyperlink" Target="https://github.com/treinart/IBM-Data-Science-Professional-Certificate/blob/main/10_Applied%20Data%20Science%20Capstone/Module%205/ds-capstone-template-coursera_10.18.26.pptx" TargetMode="External"/><Relationship Id="rId8" Type="http://schemas.openxmlformats.org/officeDocument/2006/relationships/hyperlink" Target="https://github.com/treinart/IBM-Data-Science-Professional-Certificate/blob/main/10_Applied%20Data%20Science%20Capstone/Module%205/ds-capstone-template-coursera_10.18.26.pdf" TargetMode="External"/><Relationship Id="rId11" Type="http://schemas.openxmlformats.org/officeDocument/2006/relationships/hyperlink" Target="https://github.com/treinart/IBM-Data-Science-Professional-Certificate/blob/main/10_Applied%20Data%20Science%20Capstone/Module%205/ds-capstone-template-coursera_10.18.26.pptx" TargetMode="External"/><Relationship Id="rId10" Type="http://schemas.openxmlformats.org/officeDocument/2006/relationships/image" Target="../media/image31.png"/><Relationship Id="rId13" Type="http://schemas.openxmlformats.org/officeDocument/2006/relationships/hyperlink" Target="https://docs.google.com/presentation/d/1Kn3pD8-L4FcQXGbkiTyAKMSsKwxemskQptS2ltuppcQ/edit?usp=sharing" TargetMode="External"/><Relationship Id="rId12" Type="http://schemas.openxmlformats.org/officeDocument/2006/relationships/hyperlink" Target="https://github.com/treinart/IBM-Data-Science-Professional-Certificate/blob/main/10_Applied%20Data%20Science%20Capstone/Module%205/ds-capstone-template-coursera_10.18.26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5"/>
          <p:cNvSpPr/>
          <p:nvPr/>
        </p:nvSpPr>
        <p:spPr>
          <a:xfrm>
            <a:off x="696800" y="4133725"/>
            <a:ext cx="6086400" cy="2495700"/>
          </a:xfrm>
          <a:prstGeom prst="roundRect">
            <a:avLst>
              <a:gd fmla="val 3870" name="adj"/>
            </a:avLst>
          </a:prstGeom>
          <a:solidFill>
            <a:srgbClr val="0B132B">
              <a:alpha val="88000"/>
            </a:srgbClr>
          </a:solidFill>
          <a:ln cap="flat" cmpd="sng" w="14300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5"/>
          <p:cNvSpPr/>
          <p:nvPr/>
        </p:nvSpPr>
        <p:spPr>
          <a:xfrm>
            <a:off x="696800" y="337675"/>
            <a:ext cx="6086400" cy="2259300"/>
          </a:xfrm>
          <a:prstGeom prst="roundRect">
            <a:avLst>
              <a:gd fmla="val 3870" name="adj"/>
            </a:avLst>
          </a:prstGeom>
          <a:solidFill>
            <a:srgbClr val="0B132B">
              <a:alpha val="88000"/>
            </a:srgbClr>
          </a:solidFill>
          <a:ln cap="flat" cmpd="sng" w="14300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BM Skills Network Logo" id="88" name="Google Shape;88;p15"/>
          <p:cNvPicPr preferRelativeResize="0"/>
          <p:nvPr/>
        </p:nvPicPr>
        <p:blipFill rotWithShape="1">
          <a:blip r:embed="rId4">
            <a:alphaModFix/>
          </a:blip>
          <a:srcRect b="0" l="2153" r="2153" t="0"/>
          <a:stretch/>
        </p:blipFill>
        <p:spPr>
          <a:xfrm>
            <a:off x="985750" y="522425"/>
            <a:ext cx="1905000" cy="5697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5"/>
          <p:cNvSpPr/>
          <p:nvPr/>
        </p:nvSpPr>
        <p:spPr>
          <a:xfrm>
            <a:off x="993132" y="1132498"/>
            <a:ext cx="3238500" cy="373200"/>
          </a:xfrm>
          <a:prstGeom prst="roundRect">
            <a:avLst>
              <a:gd fmla="val 50000" name="adj"/>
            </a:avLst>
          </a:prstGeom>
          <a:solidFill>
            <a:srgbClr val="1E3A8A">
              <a:alpha val="60000"/>
            </a:srgbClr>
          </a:solidFill>
          <a:ln cap="flat" cmpd="sng" w="9525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5"/>
          <p:cNvSpPr txBox="1"/>
          <p:nvPr/>
        </p:nvSpPr>
        <p:spPr>
          <a:xfrm>
            <a:off x="1135932" y="1158073"/>
            <a:ext cx="2952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60A5FA"/>
                </a:solidFill>
                <a:latin typeface="Arial"/>
                <a:ea typeface="Arial"/>
                <a:cs typeface="Arial"/>
                <a:sym typeface="Arial"/>
              </a:rPr>
              <a:t>IBM APPLIED DATA SCIENCE CAPSTONE</a:t>
            </a:r>
            <a:endParaRPr b="1" sz="1150">
              <a:solidFill>
                <a:srgbClr val="60A5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985750" y="1594975"/>
            <a:ext cx="51435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6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SpaceX Falcon 9 First-Stage Landing Prediction</a:t>
            </a:r>
            <a:endParaRPr b="1" sz="296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5"/>
          <p:cNvSpPr txBox="1"/>
          <p:nvPr/>
        </p:nvSpPr>
        <p:spPr>
          <a:xfrm>
            <a:off x="1189983" y="4381450"/>
            <a:ext cx="5143500" cy="573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Travis Reinart</a:t>
            </a:r>
            <a:endParaRPr b="1" sz="18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October 18, 2026</a:t>
            </a:r>
            <a:endParaRPr b="0" sz="180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5"/>
          <p:cNvSpPr/>
          <p:nvPr/>
        </p:nvSpPr>
        <p:spPr>
          <a:xfrm>
            <a:off x="1168250" y="4999225"/>
            <a:ext cx="5143500" cy="1371600"/>
          </a:xfrm>
          <a:prstGeom prst="roundRect">
            <a:avLst>
              <a:gd fmla="val 8333" name="adj"/>
            </a:avLst>
          </a:prstGeom>
          <a:solidFill>
            <a:srgbClr val="0F172A">
              <a:alpha val="80000"/>
            </a:srgbClr>
          </a:solidFill>
          <a:ln cap="flat" cmpd="sng" w="9525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58750" y="5225025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/>
        </p:nvSpPr>
        <p:spPr>
          <a:xfrm>
            <a:off x="1614443" y="5186925"/>
            <a:ext cx="453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 u="sng">
                <a:solidFill>
                  <a:srgbClr val="60A5FA"/>
                </a:solidFill>
                <a:latin typeface="Arial"/>
                <a:ea typeface="Arial"/>
                <a:cs typeface="Arial"/>
                <a:sym typeface="Arial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github.com/treinart/IBM-Data-Science-Professional-Certificate</a:t>
            </a:r>
            <a:endParaRPr b="1" sz="1100">
              <a:solidFill>
                <a:srgbClr val="60A5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1358750" y="5600650"/>
            <a:ext cx="4762500" cy="373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AVAILABLE FORMATS</a:t>
            </a:r>
            <a:endParaRPr b="1"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450"/>
              </a:spcBef>
              <a:spcAft>
                <a:spcPts val="45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" name="Google Shape;97;p15">
            <a:hlinkClick r:id="rId7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35024" y="5820156"/>
            <a:ext cx="174000" cy="17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5">
            <a:hlinkClick r:id="rId8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77296" y="5812872"/>
            <a:ext cx="174000" cy="17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5">
            <a:hlinkClick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630441" y="5791127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5"/>
          <p:cNvSpPr txBox="1"/>
          <p:nvPr/>
        </p:nvSpPr>
        <p:spPr>
          <a:xfrm>
            <a:off x="1470660" y="5715000"/>
            <a:ext cx="1430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u="sng">
                <a:solidFill>
                  <a:schemeClr val="hlink"/>
                </a:solidFill>
                <a:hlinkClick r:id="rId11"/>
              </a:rPr>
              <a:t>PowerPoint Deck</a:t>
            </a:r>
            <a:endParaRPr b="1" sz="1200" u="sng">
              <a:solidFill>
                <a:schemeClr val="hlink"/>
              </a:solidFill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3101340" y="5715000"/>
            <a:ext cx="1490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u="sng">
                <a:solidFill>
                  <a:schemeClr val="hlink"/>
                </a:solidFill>
                <a:hlinkClick r:id="rId12"/>
              </a:rPr>
              <a:t>PDF Presentation</a:t>
            </a:r>
            <a:endParaRPr b="1" sz="1200" u="sng">
              <a:solidFill>
                <a:schemeClr val="hlink"/>
              </a:solidFill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4762500" y="5715000"/>
            <a:ext cx="129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u="sng">
                <a:solidFill>
                  <a:schemeClr val="hlink"/>
                </a:solidFill>
                <a:hlinkClick r:id="rId13"/>
              </a:rPr>
              <a:t>Google Slides</a:t>
            </a:r>
            <a:endParaRPr b="1" sz="1200" u="sng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/>
        </p:nvSpPr>
        <p:spPr>
          <a:xfrm>
            <a:off x="713232" y="438912"/>
            <a:ext cx="6400800" cy="6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0F172A"/>
                </a:solidFill>
              </a:rPr>
              <a:t>Outline</a:t>
            </a:r>
            <a:endParaRPr b="1" sz="3100">
              <a:solidFill>
                <a:srgbClr val="0F172A"/>
              </a:solidFill>
            </a:endParaRPr>
          </a:p>
        </p:txBody>
      </p:sp>
      <p:sp>
        <p:nvSpPr>
          <p:cNvPr id="109" name="Google Shape;109;p16"/>
          <p:cNvSpPr txBox="1"/>
          <p:nvPr/>
        </p:nvSpPr>
        <p:spPr>
          <a:xfrm>
            <a:off x="7315200" y="630936"/>
            <a:ext cx="41421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64748B"/>
                </a:solidFill>
              </a:rPr>
              <a:t>CLICK AN ENTRY TO JUMP TO ITS PAGE</a:t>
            </a:r>
            <a:endParaRPr b="1" sz="1000">
              <a:solidFill>
                <a:srgbClr val="64748B"/>
              </a:solidFill>
            </a:endParaRPr>
          </a:p>
        </p:txBody>
      </p:sp>
      <p:sp>
        <p:nvSpPr>
          <p:cNvPr id="110" name="Google Shape;110;p16"/>
          <p:cNvSpPr/>
          <p:nvPr/>
        </p:nvSpPr>
        <p:spPr>
          <a:xfrm>
            <a:off x="722376" y="1298448"/>
            <a:ext cx="822900" cy="50400"/>
          </a:xfrm>
          <a:prstGeom prst="rect">
            <a:avLst/>
          </a:prstGeom>
          <a:solidFill>
            <a:srgbClr val="0B49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6"/>
          <p:cNvSpPr txBox="1"/>
          <p:nvPr/>
        </p:nvSpPr>
        <p:spPr>
          <a:xfrm>
            <a:off x="932688" y="1536192"/>
            <a:ext cx="882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F172A"/>
                </a:solidFill>
                <a:uFill>
                  <a:noFill/>
                </a:uFill>
                <a:hlinkClick action="ppaction://hlinksldjump"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Executive Summary</a:t>
            </a:r>
            <a:endParaRPr sz="1600">
              <a:solidFill>
                <a:srgbClr val="0F172A"/>
              </a:solidFill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9802368" y="1536192"/>
            <a:ext cx="1581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49C9"/>
                </a:solidFill>
                <a:uFill>
                  <a:noFill/>
                </a:uFill>
                <a:hlinkClick action="ppaction://hlinksldjump"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Page 3</a:t>
            </a:r>
            <a:endParaRPr b="1" sz="1350">
              <a:solidFill>
                <a:srgbClr val="0B49C9"/>
              </a:solidFill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731520" y="1956816"/>
            <a:ext cx="10671000" cy="111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6"/>
          <p:cNvSpPr txBox="1"/>
          <p:nvPr/>
        </p:nvSpPr>
        <p:spPr>
          <a:xfrm>
            <a:off x="932688" y="2020824"/>
            <a:ext cx="882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F172A"/>
                </a:solidFill>
                <a:uFill>
                  <a:noFill/>
                </a:uFill>
                <a:hlinkClick action="ppaction://hlinksldjump"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Introduction</a:t>
            </a:r>
            <a:endParaRPr sz="1600">
              <a:solidFill>
                <a:srgbClr val="0F172A"/>
              </a:solidFill>
            </a:endParaRPr>
          </a:p>
        </p:txBody>
      </p:sp>
      <p:sp>
        <p:nvSpPr>
          <p:cNvPr id="115" name="Google Shape;115;p16"/>
          <p:cNvSpPr txBox="1"/>
          <p:nvPr/>
        </p:nvSpPr>
        <p:spPr>
          <a:xfrm>
            <a:off x="9802368" y="2020824"/>
            <a:ext cx="1581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49C9"/>
                </a:solidFill>
                <a:uFill>
                  <a:noFill/>
                </a:uFill>
                <a:hlinkClick action="ppaction://hlinksldjump"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Page 4</a:t>
            </a:r>
            <a:endParaRPr b="1" sz="1350">
              <a:solidFill>
                <a:srgbClr val="0B49C9"/>
              </a:solidFill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731520" y="2441448"/>
            <a:ext cx="10671000" cy="111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932688" y="2505456"/>
            <a:ext cx="882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F172A"/>
                </a:solidFill>
                <a:uFill>
                  <a:noFill/>
                </a:uFill>
                <a:hlinkClick action="ppaction://hlinksldjump"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Section 1  Methodology</a:t>
            </a:r>
            <a:endParaRPr b="1" sz="1600">
              <a:solidFill>
                <a:srgbClr val="0F172A"/>
              </a:solidFill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9802368" y="2505456"/>
            <a:ext cx="1581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49C9"/>
                </a:solidFill>
                <a:uFill>
                  <a:noFill/>
                </a:uFill>
                <a:hlinkClick action="ppaction://hlinksldjump" r:id="rId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Page 5</a:t>
            </a:r>
            <a:endParaRPr b="1" sz="1350">
              <a:solidFill>
                <a:srgbClr val="0B49C9"/>
              </a:solidFill>
            </a:endParaRPr>
          </a:p>
        </p:txBody>
      </p:sp>
      <p:sp>
        <p:nvSpPr>
          <p:cNvPr id="119" name="Google Shape;119;p16"/>
          <p:cNvSpPr/>
          <p:nvPr/>
        </p:nvSpPr>
        <p:spPr>
          <a:xfrm>
            <a:off x="731520" y="2926080"/>
            <a:ext cx="10671000" cy="111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932688" y="2990088"/>
            <a:ext cx="882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F172A"/>
                </a:solidFill>
                <a:uFill>
                  <a:noFill/>
                </a:uFill>
                <a:hlinkClick action="ppaction://hlinksldjump" r:id="rId1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Section 2  Insights drawn from EDA</a:t>
            </a:r>
            <a:endParaRPr b="1" sz="1600">
              <a:solidFill>
                <a:srgbClr val="0F172A"/>
              </a:solidFill>
            </a:endParaRPr>
          </a:p>
        </p:txBody>
      </p:sp>
      <p:sp>
        <p:nvSpPr>
          <p:cNvPr id="121" name="Google Shape;121;p16"/>
          <p:cNvSpPr txBox="1"/>
          <p:nvPr/>
        </p:nvSpPr>
        <p:spPr>
          <a:xfrm>
            <a:off x="9802368" y="2990088"/>
            <a:ext cx="1581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49C9"/>
                </a:solidFill>
                <a:uFill>
                  <a:noFill/>
                </a:uFill>
                <a:hlinkClick action="ppaction://hlinksldjump" r:id="rId11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Page 21</a:t>
            </a:r>
            <a:endParaRPr b="1" sz="1350">
              <a:solidFill>
                <a:srgbClr val="0B49C9"/>
              </a:solidFill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731520" y="3410712"/>
            <a:ext cx="10671000" cy="111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932688" y="3474720"/>
            <a:ext cx="882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F172A"/>
                </a:solidFill>
                <a:uFill>
                  <a:noFill/>
                </a:uFill>
                <a:hlinkClick action="ppaction://hlinksldjump" r:id="rId1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Section 3  Launch Sites Proximities Analysis</a:t>
            </a:r>
            <a:endParaRPr b="1" sz="1600">
              <a:solidFill>
                <a:srgbClr val="0F172A"/>
              </a:solidFill>
            </a:endParaRPr>
          </a:p>
        </p:txBody>
      </p:sp>
      <p:sp>
        <p:nvSpPr>
          <p:cNvPr id="124" name="Google Shape;124;p16"/>
          <p:cNvSpPr txBox="1"/>
          <p:nvPr/>
        </p:nvSpPr>
        <p:spPr>
          <a:xfrm>
            <a:off x="9802368" y="3474720"/>
            <a:ext cx="1581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49C9"/>
                </a:solidFill>
                <a:uFill>
                  <a:noFill/>
                </a:uFill>
                <a:hlinkClick action="ppaction://hlinksldjump" r:id="rId1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Page 38</a:t>
            </a:r>
            <a:endParaRPr b="1" sz="1350">
              <a:solidFill>
                <a:srgbClr val="0B49C9"/>
              </a:solidFill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731520" y="3895344"/>
            <a:ext cx="10671000" cy="111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932688" y="3959352"/>
            <a:ext cx="882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F172A"/>
                </a:solidFill>
                <a:uFill>
                  <a:noFill/>
                </a:uFill>
                <a:hlinkClick action="ppaction://hlinksldjump" r:id="rId1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Section 4  Build a Dashboard with Plotly Dash</a:t>
            </a:r>
            <a:endParaRPr b="1" sz="1600">
              <a:solidFill>
                <a:srgbClr val="0F172A"/>
              </a:solidFill>
            </a:endParaRPr>
          </a:p>
        </p:txBody>
      </p:sp>
      <p:sp>
        <p:nvSpPr>
          <p:cNvPr id="127" name="Google Shape;127;p16"/>
          <p:cNvSpPr txBox="1"/>
          <p:nvPr/>
        </p:nvSpPr>
        <p:spPr>
          <a:xfrm>
            <a:off x="9802368" y="3959352"/>
            <a:ext cx="1581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49C9"/>
                </a:solidFill>
                <a:uFill>
                  <a:noFill/>
                </a:uFill>
                <a:hlinkClick action="ppaction://hlinksldjump" r:id="rId1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Page 42</a:t>
            </a:r>
            <a:endParaRPr b="1" sz="1350">
              <a:solidFill>
                <a:srgbClr val="0B49C9"/>
              </a:solidFill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731520" y="4379976"/>
            <a:ext cx="10671000" cy="111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932688" y="4443984"/>
            <a:ext cx="882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F172A"/>
                </a:solidFill>
                <a:uFill>
                  <a:noFill/>
                </a:uFill>
                <a:hlinkClick action="ppaction://hlinksldjump" r:id="rId1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Section 5  Predictive Analysis</a:t>
            </a:r>
            <a:endParaRPr b="1" sz="1600">
              <a:solidFill>
                <a:srgbClr val="0F172A"/>
              </a:solidFill>
            </a:endParaRPr>
          </a:p>
        </p:txBody>
      </p:sp>
      <p:sp>
        <p:nvSpPr>
          <p:cNvPr id="130" name="Google Shape;130;p16"/>
          <p:cNvSpPr txBox="1"/>
          <p:nvPr/>
        </p:nvSpPr>
        <p:spPr>
          <a:xfrm>
            <a:off x="9802368" y="4443984"/>
            <a:ext cx="1581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49C9"/>
                </a:solidFill>
                <a:uFill>
                  <a:noFill/>
                </a:uFill>
                <a:hlinkClick action="ppaction://hlinksldjump" r:id="rId1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Page 46</a:t>
            </a:r>
            <a:endParaRPr b="1" sz="1350">
              <a:solidFill>
                <a:srgbClr val="0B49C9"/>
              </a:solidFill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731520" y="4864608"/>
            <a:ext cx="10671000" cy="111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932688" y="4928616"/>
            <a:ext cx="882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F172A"/>
                </a:solidFill>
                <a:uFill>
                  <a:noFill/>
                </a:uFill>
                <a:hlinkClick action="ppaction://hlinksldjump" r:id="rId1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Conclusion</a:t>
            </a:r>
            <a:endParaRPr sz="1600">
              <a:solidFill>
                <a:srgbClr val="0F172A"/>
              </a:solidFill>
            </a:endParaRPr>
          </a:p>
        </p:txBody>
      </p:sp>
      <p:sp>
        <p:nvSpPr>
          <p:cNvPr id="133" name="Google Shape;133;p16"/>
          <p:cNvSpPr txBox="1"/>
          <p:nvPr/>
        </p:nvSpPr>
        <p:spPr>
          <a:xfrm>
            <a:off x="9802368" y="4928616"/>
            <a:ext cx="1581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49C9"/>
                </a:solidFill>
                <a:uFill>
                  <a:noFill/>
                </a:uFill>
                <a:hlinkClick action="ppaction://hlinksldjump" r:id="rId1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Page 49</a:t>
            </a:r>
            <a:endParaRPr b="1" sz="1350">
              <a:solidFill>
                <a:srgbClr val="0B49C9"/>
              </a:solidFill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731520" y="5349240"/>
            <a:ext cx="10671000" cy="111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932688" y="5413248"/>
            <a:ext cx="882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F172A"/>
                </a:solidFill>
                <a:uFill>
                  <a:noFill/>
                </a:uFill>
                <a:hlinkClick action="ppaction://hlinksldjump" r:id="rId2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Appendix</a:t>
            </a:r>
            <a:endParaRPr sz="1600">
              <a:solidFill>
                <a:srgbClr val="0F172A"/>
              </a:solidFill>
            </a:endParaRPr>
          </a:p>
        </p:txBody>
      </p:sp>
      <p:sp>
        <p:nvSpPr>
          <p:cNvPr id="136" name="Google Shape;136;p16"/>
          <p:cNvSpPr txBox="1"/>
          <p:nvPr/>
        </p:nvSpPr>
        <p:spPr>
          <a:xfrm>
            <a:off x="9802368" y="5413248"/>
            <a:ext cx="1581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49C9"/>
                </a:solidFill>
                <a:uFill>
                  <a:noFill/>
                </a:uFill>
                <a:hlinkClick action="ppaction://hlinksldjump" r:id="rId21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Page 50</a:t>
            </a:r>
            <a:endParaRPr b="1" sz="1350">
              <a:solidFill>
                <a:srgbClr val="0B49C9"/>
              </a:solidFill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731520" y="5833872"/>
            <a:ext cx="10671000" cy="111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11018520" y="6190488"/>
            <a:ext cx="3840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B49C9"/>
                </a:solidFill>
              </a:rPr>
              <a:t>2</a:t>
            </a:r>
            <a:endParaRPr>
              <a:solidFill>
                <a:srgbClr val="0B49C9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7"/>
          <p:cNvSpPr txBox="1"/>
          <p:nvPr/>
        </p:nvSpPr>
        <p:spPr>
          <a:xfrm>
            <a:off x="685800" y="266700"/>
            <a:ext cx="8229600" cy="438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Executive Summary</a:t>
            </a:r>
            <a:endParaRPr b="1" sz="26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685800" y="742950"/>
            <a:ext cx="10820400" cy="400200"/>
          </a:xfrm>
          <a:prstGeom prst="roundRect">
            <a:avLst>
              <a:gd fmla="val 14285" name="adj"/>
            </a:avLst>
          </a:prstGeom>
          <a:solidFill>
            <a:srgbClr val="EFF6FF"/>
          </a:solidFill>
          <a:ln cap="flat" cmpd="sng" w="9525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838200" y="742950"/>
            <a:ext cx="105156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Key Finding: </a:t>
            </a:r>
            <a:r>
              <a:rPr b="1" lang="en-US" sz="125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Landing success improved on later flights. The final model identified every success, but only half of failures.</a:t>
            </a:r>
            <a:endParaRPr b="1" sz="1250">
              <a:solidFill>
                <a:srgbClr val="1E3A8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1257300" y="1257300"/>
            <a:ext cx="3333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METHODOLOGY USED</a:t>
            </a:r>
            <a:endParaRPr b="1" sz="95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7"/>
          <p:cNvSpPr txBox="1"/>
          <p:nvPr/>
        </p:nvSpPr>
        <p:spPr>
          <a:xfrm>
            <a:off x="4991100" y="1257300"/>
            <a:ext cx="5715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SUMMARY OF RESULTS</a:t>
            </a:r>
            <a:endParaRPr b="1" sz="95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685800" y="1485900"/>
            <a:ext cx="10820400" cy="457200"/>
          </a:xfrm>
          <a:prstGeom prst="roundRect">
            <a:avLst>
              <a:gd fmla="val 1666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1257300" y="1485900"/>
            <a:ext cx="342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API collection, web scraping, outcome labeling</a:t>
            </a:r>
            <a:endParaRPr b="1" sz="115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4800600" y="1581150"/>
            <a:ext cx="9600" cy="266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4991100" y="1485900"/>
            <a:ext cx="6286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90-launch model set: 60 successful landings, 30 unsuccessful outcomes.</a:t>
            </a:r>
            <a:endParaRPr b="0" sz="110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685800" y="2000250"/>
            <a:ext cx="10820400" cy="4572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1257300" y="2000250"/>
            <a:ext cx="342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Visual EDA by flight, payload, orbit, site and year</a:t>
            </a:r>
            <a:endParaRPr b="1" sz="115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4800600" y="2095500"/>
            <a:ext cx="9600" cy="266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4991100" y="2000250"/>
            <a:ext cx="6286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Later flights improved. 2019: 9/10; 2020: 16/19. VLEO: 12/14; GTO: 14/27.</a:t>
            </a:r>
            <a:endParaRPr b="0" sz="110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685800" y="2514600"/>
            <a:ext cx="10820400" cy="457200"/>
          </a:xfrm>
          <a:prstGeom prst="roundRect">
            <a:avLst>
              <a:gd fmla="val 1666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1257300" y="2514600"/>
            <a:ext cx="342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SQL queries on sites, payloads, missions and landings</a:t>
            </a:r>
            <a:endParaRPr b="1" sz="115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4800600" y="2609850"/>
            <a:ext cx="9600" cy="266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4991100" y="2514600"/>
            <a:ext cx="6286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Four sites; NASA (CRS) payload totaled 45,596 kg; first ground-pad success: Dec 22, 2015.</a:t>
            </a:r>
            <a:endParaRPr b="0" sz="110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7"/>
          <p:cNvSpPr/>
          <p:nvPr/>
        </p:nvSpPr>
        <p:spPr>
          <a:xfrm>
            <a:off x="685800" y="3028950"/>
            <a:ext cx="10820400" cy="4572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1257300" y="3028950"/>
            <a:ext cx="342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Folium mapping of outcomes and nearby features</a:t>
            </a:r>
            <a:endParaRPr b="1" sz="115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4800600" y="3124200"/>
            <a:ext cx="9600" cy="266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4991100" y="3028950"/>
            <a:ext cx="6286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Four sites mapped in California and Florida; launch clusters and proximity distances measured.</a:t>
            </a:r>
            <a:endParaRPr b="0" sz="110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685800" y="3543300"/>
            <a:ext cx="10820400" cy="457200"/>
          </a:xfrm>
          <a:prstGeom prst="roundRect">
            <a:avLst>
              <a:gd fmla="val 1666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1257300" y="3543300"/>
            <a:ext cx="342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Dash site and payload filters with pie and scatter views</a:t>
            </a:r>
            <a:endParaRPr b="1" sz="115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7"/>
          <p:cNvSpPr/>
          <p:nvPr/>
        </p:nvSpPr>
        <p:spPr>
          <a:xfrm>
            <a:off x="4800600" y="3638550"/>
            <a:ext cx="9600" cy="266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4991100" y="3543300"/>
            <a:ext cx="6286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Dashboard sample: 24 successes across sites; 2,000–6,000 kg range: 18/34 successes.</a:t>
            </a:r>
            <a:endParaRPr b="0" sz="110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7"/>
          <p:cNvSpPr/>
          <p:nvPr/>
        </p:nvSpPr>
        <p:spPr>
          <a:xfrm>
            <a:off x="685800" y="4323676"/>
            <a:ext cx="10820400" cy="2000100"/>
          </a:xfrm>
          <a:prstGeom prst="roundRect">
            <a:avLst>
              <a:gd fmla="val 7619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7"/>
          <p:cNvSpPr/>
          <p:nvPr/>
        </p:nvSpPr>
        <p:spPr>
          <a:xfrm>
            <a:off x="685800" y="4171950"/>
            <a:ext cx="108204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7"/>
          <p:cNvSpPr/>
          <p:nvPr/>
        </p:nvSpPr>
        <p:spPr>
          <a:xfrm>
            <a:off x="4000500" y="4457700"/>
            <a:ext cx="9600" cy="1409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7"/>
          <p:cNvSpPr/>
          <p:nvPr/>
        </p:nvSpPr>
        <p:spPr>
          <a:xfrm>
            <a:off x="6762750" y="4457700"/>
            <a:ext cx="9600" cy="14097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990450" y="4562475"/>
            <a:ext cx="2762400" cy="19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93C5FD"/>
                </a:solidFill>
                <a:latin typeface="Arial"/>
                <a:ea typeface="Arial"/>
                <a:cs typeface="Arial"/>
                <a:sym typeface="Arial"/>
              </a:rPr>
              <a:t>PREDICTIVE MODELING</a:t>
            </a:r>
            <a:endParaRPr b="1" sz="1450">
              <a:solidFill>
                <a:srgbClr val="93C5F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990450" y="4914900"/>
            <a:ext cx="2762400" cy="362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tuned classifiers</a:t>
            </a:r>
            <a:endParaRPr b="1" sz="23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7"/>
          <p:cNvSpPr txBox="1"/>
          <p:nvPr/>
        </p:nvSpPr>
        <p:spPr>
          <a:xfrm>
            <a:off x="952500" y="5410200"/>
            <a:ext cx="2762400" cy="6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One-hot encoding, scaling, 72/18 split and 10-fold grid search.</a:t>
            </a:r>
            <a:endParaRPr b="0" i="1" sz="120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7"/>
          <p:cNvSpPr txBox="1"/>
          <p:nvPr/>
        </p:nvSpPr>
        <p:spPr>
          <a:xfrm>
            <a:off x="4243425" y="4562550"/>
            <a:ext cx="2286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93C5FD"/>
                </a:solidFill>
                <a:latin typeface="Arial"/>
                <a:ea typeface="Arial"/>
                <a:cs typeface="Arial"/>
                <a:sym typeface="Arial"/>
              </a:rPr>
              <a:t>SELECTED SVM</a:t>
            </a:r>
            <a:endParaRPr b="1" sz="1450">
              <a:solidFill>
                <a:srgbClr val="93C5F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7"/>
          <p:cNvSpPr txBox="1"/>
          <p:nvPr/>
        </p:nvSpPr>
        <p:spPr>
          <a:xfrm>
            <a:off x="4188625" y="4848300"/>
            <a:ext cx="2286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60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83.3%</a:t>
            </a:r>
            <a:endParaRPr b="0" sz="3360">
              <a:solidFill>
                <a:srgbClr val="38BDF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4229100" y="5410350"/>
            <a:ext cx="2286000" cy="57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15/18 test • LR + KNN tied</a:t>
            </a:r>
            <a:endParaRPr b="0" i="1" sz="1200">
              <a:solidFill>
                <a:srgbClr val="CBD5E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84.8% cross-validation</a:t>
            </a:r>
            <a:endParaRPr b="0" i="1" sz="120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7"/>
          <p:cNvSpPr txBox="1"/>
          <p:nvPr/>
        </p:nvSpPr>
        <p:spPr>
          <a:xfrm>
            <a:off x="7005675" y="4554563"/>
            <a:ext cx="4191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93C5FD"/>
                </a:solidFill>
                <a:latin typeface="Arial"/>
                <a:ea typeface="Arial"/>
                <a:cs typeface="Arial"/>
                <a:sym typeface="Arial"/>
              </a:rPr>
              <a:t>FINAL CLASS RESULTS</a:t>
            </a:r>
            <a:endParaRPr b="1" sz="1450">
              <a:solidFill>
                <a:srgbClr val="93C5F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7"/>
          <p:cNvSpPr txBox="1"/>
          <p:nvPr/>
        </p:nvSpPr>
        <p:spPr>
          <a:xfrm>
            <a:off x="6910400" y="4914900"/>
            <a:ext cx="4191000" cy="24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4ADE80"/>
                </a:solidFill>
                <a:latin typeface="Arial"/>
                <a:ea typeface="Arial"/>
                <a:cs typeface="Arial"/>
                <a:sym typeface="Arial"/>
              </a:rPr>
              <a:t>Success (12):</a:t>
            </a:r>
            <a:r>
              <a:rPr b="1" lang="en-US" sz="1350">
                <a:solidFill>
                  <a:srgbClr val="F8FAFC"/>
                </a:solidFill>
              </a:rPr>
              <a:t> precision .80 | recall 1.00 | F1 .89</a:t>
            </a:r>
            <a:endParaRPr b="1" sz="1350">
              <a:solidFill>
                <a:srgbClr val="F8FAFC"/>
              </a:solidFill>
            </a:endParaRPr>
          </a:p>
        </p:txBody>
      </p:sp>
      <p:sp>
        <p:nvSpPr>
          <p:cNvPr id="180" name="Google Shape;180;p17"/>
          <p:cNvSpPr txBox="1"/>
          <p:nvPr/>
        </p:nvSpPr>
        <p:spPr>
          <a:xfrm>
            <a:off x="6910400" y="5299125"/>
            <a:ext cx="4191000" cy="24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87171"/>
                </a:solidFill>
                <a:latin typeface="Arial"/>
                <a:ea typeface="Arial"/>
                <a:cs typeface="Arial"/>
                <a:sym typeface="Arial"/>
              </a:rPr>
              <a:t>Failure (6):</a:t>
            </a:r>
            <a:r>
              <a:rPr b="1" lang="en-US" sz="1350">
                <a:solidFill>
                  <a:srgbClr val="F8FAFC"/>
                </a:solidFill>
              </a:rPr>
              <a:t> precision 1.00 | recall .50 | F1 .67</a:t>
            </a:r>
            <a:endParaRPr b="1" sz="1350">
              <a:solidFill>
                <a:srgbClr val="F8FAFC"/>
              </a:solidFill>
            </a:endParaRPr>
          </a:p>
        </p:txBody>
      </p:sp>
      <p:sp>
        <p:nvSpPr>
          <p:cNvPr id="181" name="Google Shape;181;p17"/>
          <p:cNvSpPr txBox="1"/>
          <p:nvPr/>
        </p:nvSpPr>
        <p:spPr>
          <a:xfrm>
            <a:off x="6910400" y="5683350"/>
            <a:ext cx="4191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3 false positives • 0 false negatives</a:t>
            </a:r>
            <a:endParaRPr b="1" sz="1350">
              <a:solidFill>
                <a:srgbClr val="F59E0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7"/>
          <p:cNvSpPr txBox="1"/>
          <p:nvPr/>
        </p:nvSpPr>
        <p:spPr>
          <a:xfrm>
            <a:off x="800100" y="1581150"/>
            <a:ext cx="342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1" sz="110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7"/>
          <p:cNvSpPr txBox="1"/>
          <p:nvPr/>
        </p:nvSpPr>
        <p:spPr>
          <a:xfrm>
            <a:off x="800100" y="2095500"/>
            <a:ext cx="342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1" sz="110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7"/>
          <p:cNvSpPr txBox="1"/>
          <p:nvPr/>
        </p:nvSpPr>
        <p:spPr>
          <a:xfrm>
            <a:off x="800100" y="2609850"/>
            <a:ext cx="342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1" sz="110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7"/>
          <p:cNvSpPr txBox="1"/>
          <p:nvPr/>
        </p:nvSpPr>
        <p:spPr>
          <a:xfrm>
            <a:off x="800100" y="3124200"/>
            <a:ext cx="342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1" sz="110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7"/>
          <p:cNvSpPr txBox="1"/>
          <p:nvPr/>
        </p:nvSpPr>
        <p:spPr>
          <a:xfrm>
            <a:off x="800100" y="3638550"/>
            <a:ext cx="342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1" sz="110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11049000" y="6362700"/>
            <a:ext cx="381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sz="13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8"/>
          <p:cNvSpPr txBox="1"/>
          <p:nvPr/>
        </p:nvSpPr>
        <p:spPr>
          <a:xfrm>
            <a:off x="685800" y="342900"/>
            <a:ext cx="10820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b="1" sz="28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Why do some Falcon 9 first stages land while others do not?</a:t>
            </a:r>
            <a:endParaRPr b="0" sz="160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3" name="Google Shape;193;p18"/>
          <p:cNvGrpSpPr/>
          <p:nvPr/>
        </p:nvGrpSpPr>
        <p:grpSpPr>
          <a:xfrm>
            <a:off x="685800" y="1333500"/>
            <a:ext cx="3810000" cy="4953000"/>
            <a:chOff x="0" y="0"/>
            <a:chExt cx="3810000" cy="4953000"/>
          </a:xfrm>
        </p:grpSpPr>
        <p:sp>
          <p:nvSpPr>
            <p:cNvPr id="194" name="Google Shape;194;p18"/>
            <p:cNvSpPr/>
            <p:nvPr/>
          </p:nvSpPr>
          <p:spPr>
            <a:xfrm>
              <a:off x="0" y="0"/>
              <a:ext cx="3810000" cy="4953000"/>
            </a:xfrm>
            <a:prstGeom prst="roundRect">
              <a:avLst>
                <a:gd fmla="val 4000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18"/>
            <p:cNvSpPr txBox="1"/>
            <p:nvPr/>
          </p:nvSpPr>
          <p:spPr>
            <a:xfrm>
              <a:off x="266700" y="266700"/>
              <a:ext cx="3276600" cy="44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93C5FD"/>
                  </a:solidFill>
                  <a:latin typeface="Arial"/>
                  <a:ea typeface="Arial"/>
                  <a:cs typeface="Arial"/>
                  <a:sym typeface="Arial"/>
                </a:rPr>
                <a:t>THE WORK BEHIND THIS DECK</a:t>
              </a:r>
              <a:endParaRPr b="1" sz="1600">
                <a:solidFill>
                  <a:srgbClr val="93C5F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8FAFC"/>
                  </a:solidFill>
                </a:rPr>
                <a:t>I worked through the launch records to see whether flight history, payload, orbit, and launch site had anything to do with the landing result.</a:t>
              </a:r>
              <a:endParaRPr b="1" sz="1600">
                <a:solidFill>
                  <a:srgbClr val="F8FAFC"/>
                </a:solidFill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chemeClr val="lt1"/>
                  </a:solidFill>
                </a:rPr>
                <a:t>I checked the records with charts and SQL, mapped the launch sites, built a dashboard, and tested four prediction models.</a:t>
              </a:r>
              <a:endParaRPr b="1" sz="1600">
                <a:solidFill>
                  <a:schemeClr val="lt1"/>
                </a:solidFill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chemeClr val="lt1"/>
                  </a:solidFill>
                </a:rPr>
                <a:t>This presentation shows what I found and where the models still missed.</a:t>
              </a:r>
              <a:endParaRPr b="1" sz="1600">
                <a:solidFill>
                  <a:schemeClr val="lt1"/>
                </a:solidFill>
              </a:endParaRPr>
            </a:p>
          </p:txBody>
        </p:sp>
      </p:grpSp>
      <p:sp>
        <p:nvSpPr>
          <p:cNvPr id="196" name="Google Shape;196;p18"/>
          <p:cNvSpPr txBox="1"/>
          <p:nvPr/>
        </p:nvSpPr>
        <p:spPr>
          <a:xfrm>
            <a:off x="4724400" y="1333500"/>
            <a:ext cx="67818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WHAT I WANTED TO FIND OUT</a:t>
            </a:r>
            <a:endParaRPr b="1" sz="105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7" name="Google Shape;197;p18"/>
          <p:cNvGrpSpPr/>
          <p:nvPr/>
        </p:nvGrpSpPr>
        <p:grpSpPr>
          <a:xfrm>
            <a:off x="4724400" y="1714500"/>
            <a:ext cx="3276600" cy="2190900"/>
            <a:chOff x="0" y="0"/>
            <a:chExt cx="3276600" cy="2190900"/>
          </a:xfrm>
        </p:grpSpPr>
        <p:sp>
          <p:nvSpPr>
            <p:cNvPr id="198" name="Google Shape;198;p18"/>
            <p:cNvSpPr/>
            <p:nvPr/>
          </p:nvSpPr>
          <p:spPr>
            <a:xfrm>
              <a:off x="0" y="0"/>
              <a:ext cx="3276600" cy="21909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18"/>
            <p:cNvSpPr/>
            <p:nvPr/>
          </p:nvSpPr>
          <p:spPr>
            <a:xfrm>
              <a:off x="228600" y="2286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" name="Google Shape;200;p18"/>
            <p:cNvSpPr txBox="1"/>
            <p:nvPr/>
          </p:nvSpPr>
          <p:spPr>
            <a:xfrm>
              <a:off x="228600" y="22860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1" sz="13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18"/>
            <p:cNvSpPr txBox="1"/>
            <p:nvPr/>
          </p:nvSpPr>
          <p:spPr>
            <a:xfrm>
              <a:off x="228600" y="762000"/>
              <a:ext cx="2819400" cy="12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Did successful landings become more common as Falcon 9 flew more missions?</a:t>
              </a:r>
              <a:endParaRPr b="1" sz="14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2" name="Google Shape;202;p18"/>
          <p:cNvGrpSpPr/>
          <p:nvPr/>
        </p:nvGrpSpPr>
        <p:grpSpPr>
          <a:xfrm>
            <a:off x="8229600" y="1714500"/>
            <a:ext cx="3276600" cy="2190900"/>
            <a:chOff x="0" y="0"/>
            <a:chExt cx="3276600" cy="2190900"/>
          </a:xfrm>
        </p:grpSpPr>
        <p:sp>
          <p:nvSpPr>
            <p:cNvPr id="203" name="Google Shape;203;p18"/>
            <p:cNvSpPr/>
            <p:nvPr/>
          </p:nvSpPr>
          <p:spPr>
            <a:xfrm>
              <a:off x="0" y="0"/>
              <a:ext cx="3276600" cy="21909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p18"/>
            <p:cNvSpPr/>
            <p:nvPr/>
          </p:nvSpPr>
          <p:spPr>
            <a:xfrm>
              <a:off x="228600" y="2286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18"/>
            <p:cNvSpPr txBox="1"/>
            <p:nvPr/>
          </p:nvSpPr>
          <p:spPr>
            <a:xfrm>
              <a:off x="228600" y="22860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1" sz="13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18"/>
            <p:cNvSpPr txBox="1"/>
            <p:nvPr/>
          </p:nvSpPr>
          <p:spPr>
            <a:xfrm>
              <a:off x="228600" y="762000"/>
              <a:ext cx="2819400" cy="12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Did outcomes differ by payload, orbit, booster, or launch site?</a:t>
              </a:r>
              <a:endParaRPr b="1" sz="14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7" name="Google Shape;207;p18"/>
          <p:cNvGrpSpPr/>
          <p:nvPr/>
        </p:nvGrpSpPr>
        <p:grpSpPr>
          <a:xfrm>
            <a:off x="4724400" y="4095750"/>
            <a:ext cx="3276600" cy="2190900"/>
            <a:chOff x="0" y="0"/>
            <a:chExt cx="3276600" cy="2190900"/>
          </a:xfrm>
        </p:grpSpPr>
        <p:sp>
          <p:nvSpPr>
            <p:cNvPr id="208" name="Google Shape;208;p18"/>
            <p:cNvSpPr/>
            <p:nvPr/>
          </p:nvSpPr>
          <p:spPr>
            <a:xfrm>
              <a:off x="0" y="0"/>
              <a:ext cx="3276600" cy="21909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18"/>
            <p:cNvSpPr/>
            <p:nvPr/>
          </p:nvSpPr>
          <p:spPr>
            <a:xfrm>
              <a:off x="228600" y="2286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18"/>
            <p:cNvSpPr txBox="1"/>
            <p:nvPr/>
          </p:nvSpPr>
          <p:spPr>
            <a:xfrm>
              <a:off x="228600" y="22860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1" sz="13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18"/>
            <p:cNvSpPr txBox="1"/>
            <p:nvPr/>
          </p:nvSpPr>
          <p:spPr>
            <a:xfrm>
              <a:off x="228600" y="762000"/>
              <a:ext cx="2819400" cy="12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What did the SQL results and maps reveal that the charts alone could not?</a:t>
              </a:r>
              <a:endParaRPr b="1" sz="14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2" name="Google Shape;212;p18"/>
          <p:cNvGrpSpPr/>
          <p:nvPr/>
        </p:nvGrpSpPr>
        <p:grpSpPr>
          <a:xfrm>
            <a:off x="8229600" y="4095750"/>
            <a:ext cx="3276600" cy="2190900"/>
            <a:chOff x="0" y="0"/>
            <a:chExt cx="3276600" cy="2190900"/>
          </a:xfrm>
        </p:grpSpPr>
        <p:sp>
          <p:nvSpPr>
            <p:cNvPr id="213" name="Google Shape;213;p18"/>
            <p:cNvSpPr/>
            <p:nvPr/>
          </p:nvSpPr>
          <p:spPr>
            <a:xfrm>
              <a:off x="0" y="0"/>
              <a:ext cx="3276600" cy="21909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18"/>
            <p:cNvSpPr/>
            <p:nvPr/>
          </p:nvSpPr>
          <p:spPr>
            <a:xfrm>
              <a:off x="228600" y="2286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18"/>
            <p:cNvSpPr txBox="1"/>
            <p:nvPr/>
          </p:nvSpPr>
          <p:spPr>
            <a:xfrm>
              <a:off x="228600" y="22860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rPr>
                <a:t>04</a:t>
              </a:r>
              <a:endParaRPr b="1" sz="13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8"/>
            <p:cNvSpPr txBox="1"/>
            <p:nvPr/>
          </p:nvSpPr>
          <p:spPr>
            <a:xfrm>
              <a:off x="228600" y="762000"/>
              <a:ext cx="2819400" cy="12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How well could the models identify both successful and unsuccessful landings?</a:t>
              </a:r>
              <a:endParaRPr b="1" sz="14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7" name="Google Shape;217;p18"/>
          <p:cNvSpPr txBox="1"/>
          <p:nvPr/>
        </p:nvSpPr>
        <p:spPr>
          <a:xfrm>
            <a:off x="11125200" y="6400800"/>
            <a:ext cx="381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2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9"/>
          <p:cNvSpPr txBox="1"/>
          <p:nvPr>
            <p:ph idx="12" type="sldNum"/>
          </p:nvPr>
        </p:nvSpPr>
        <p:spPr>
          <a:xfrm>
            <a:off x="94488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3" name="Google Shape;223;p19"/>
          <p:cNvSpPr txBox="1"/>
          <p:nvPr/>
        </p:nvSpPr>
        <p:spPr>
          <a:xfrm>
            <a:off x="765313" y="2812774"/>
            <a:ext cx="1058303" cy="369332"/>
          </a:xfrm>
          <a:prstGeom prst="rect">
            <a:avLst/>
          </a:prstGeom>
          <a:solidFill>
            <a:srgbClr val="0948CB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Section 1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0"/>
          <p:cNvSpPr txBox="1"/>
          <p:nvPr/>
        </p:nvSpPr>
        <p:spPr>
          <a:xfrm>
            <a:off x="685800" y="400050"/>
            <a:ext cx="108204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Methodology Executive Summary</a:t>
            </a:r>
            <a:endParaRPr b="1" sz="28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Structured 5-stage data science pipeline from raw flight records to tested landing models</a:t>
            </a:r>
            <a:endParaRPr b="0" sz="140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0" name="Google Shape;230;p20"/>
          <p:cNvGrpSpPr/>
          <p:nvPr/>
        </p:nvGrpSpPr>
        <p:grpSpPr>
          <a:xfrm>
            <a:off x="685800" y="1257300"/>
            <a:ext cx="10820400" cy="304800"/>
            <a:chOff x="0" y="0"/>
            <a:chExt cx="10820400" cy="304800"/>
          </a:xfrm>
        </p:grpSpPr>
        <p:sp>
          <p:nvSpPr>
            <p:cNvPr id="231" name="Google Shape;231;p20"/>
            <p:cNvSpPr/>
            <p:nvPr/>
          </p:nvSpPr>
          <p:spPr>
            <a:xfrm>
              <a:off x="0" y="0"/>
              <a:ext cx="10820400" cy="304800"/>
            </a:xfrm>
            <a:prstGeom prst="roundRect">
              <a:avLst>
                <a:gd fmla="val 18750" name="adj"/>
              </a:avLst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20"/>
            <p:cNvSpPr txBox="1"/>
            <p:nvPr/>
          </p:nvSpPr>
          <p:spPr>
            <a:xfrm>
              <a:off x="190500" y="0"/>
              <a:ext cx="19050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1E40AF"/>
                  </a:solidFill>
                  <a:latin typeface="Arial"/>
                  <a:ea typeface="Arial"/>
                  <a:cs typeface="Arial"/>
                  <a:sym typeface="Arial"/>
                </a:rPr>
                <a:t>STAGE / PHASE</a:t>
              </a:r>
              <a:endParaRPr b="1" sz="1000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20"/>
            <p:cNvSpPr txBox="1"/>
            <p:nvPr/>
          </p:nvSpPr>
          <p:spPr>
            <a:xfrm>
              <a:off x="2286000" y="0"/>
              <a:ext cx="52389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1E40AF"/>
                  </a:solidFill>
                  <a:latin typeface="Arial"/>
                  <a:ea typeface="Arial"/>
                  <a:cs typeface="Arial"/>
                  <a:sym typeface="Arial"/>
                </a:rPr>
                <a:t>METHODOLOGY &amp; KEY ACTIVITIES</a:t>
              </a:r>
              <a:endParaRPr b="1" sz="1000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20"/>
            <p:cNvSpPr txBox="1"/>
            <p:nvPr/>
          </p:nvSpPr>
          <p:spPr>
            <a:xfrm>
              <a:off x="7715250" y="0"/>
              <a:ext cx="2857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1E40AF"/>
                  </a:solidFill>
                  <a:latin typeface="Arial"/>
                  <a:ea typeface="Arial"/>
                  <a:cs typeface="Arial"/>
                  <a:sym typeface="Arial"/>
                </a:rPr>
                <a:t>TOOLS &amp; LIBRARIES</a:t>
              </a:r>
              <a:endParaRPr b="1" sz="1000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5" name="Google Shape;235;p20"/>
          <p:cNvGrpSpPr/>
          <p:nvPr/>
        </p:nvGrpSpPr>
        <p:grpSpPr>
          <a:xfrm>
            <a:off x="685800" y="1638300"/>
            <a:ext cx="10820400" cy="800100"/>
            <a:chOff x="0" y="0"/>
            <a:chExt cx="10820400" cy="800100"/>
          </a:xfrm>
        </p:grpSpPr>
        <p:sp>
          <p:nvSpPr>
            <p:cNvPr id="236" name="Google Shape;236;p20"/>
            <p:cNvSpPr/>
            <p:nvPr/>
          </p:nvSpPr>
          <p:spPr>
            <a:xfrm>
              <a:off x="0" y="0"/>
              <a:ext cx="10820400" cy="800100"/>
            </a:xfrm>
            <a:prstGeom prst="roundRect">
              <a:avLst>
                <a:gd fmla="val 14285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20"/>
            <p:cNvSpPr/>
            <p:nvPr/>
          </p:nvSpPr>
          <p:spPr>
            <a:xfrm>
              <a:off x="152400" y="171450"/>
              <a:ext cx="457200" cy="457200"/>
            </a:xfrm>
            <a:prstGeom prst="roundRect">
              <a:avLst>
                <a:gd fmla="val 20833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20"/>
            <p:cNvSpPr txBox="1"/>
            <p:nvPr/>
          </p:nvSpPr>
          <p:spPr>
            <a:xfrm>
              <a:off x="152400" y="171450"/>
              <a:ext cx="457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1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20"/>
            <p:cNvSpPr txBox="1"/>
            <p:nvPr/>
          </p:nvSpPr>
          <p:spPr>
            <a:xfrm>
              <a:off x="742950" y="0"/>
              <a:ext cx="14289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COLLECT</a:t>
              </a:r>
              <a:endParaRPr b="1" sz="13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20"/>
            <p:cNvSpPr txBox="1"/>
            <p:nvPr/>
          </p:nvSpPr>
          <p:spPr>
            <a:xfrm>
              <a:off x="2286000" y="0"/>
              <a:ext cx="52389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Fetched SpaceX launch records via REST API and scraped archived Falcon 9 launch tables from Wikipedia.</a:t>
              </a:r>
              <a:endParaRPr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41" name="Google Shape;241;p20"/>
            <p:cNvGrpSpPr/>
            <p:nvPr/>
          </p:nvGrpSpPr>
          <p:grpSpPr>
            <a:xfrm>
              <a:off x="7715250" y="228600"/>
              <a:ext cx="2667150" cy="342900"/>
              <a:chOff x="0" y="0"/>
              <a:chExt cx="2667150" cy="342900"/>
            </a:xfrm>
          </p:grpSpPr>
          <p:sp>
            <p:nvSpPr>
              <p:cNvPr id="242" name="Google Shape;242;p20">
                <a:hlinkClick r:id="rId4"/>
              </p:cNvPr>
              <p:cNvSpPr/>
              <p:nvPr/>
            </p:nvSpPr>
            <p:spPr>
              <a:xfrm>
                <a:off x="0" y="0"/>
                <a:ext cx="11430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F1F5F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243" name="Google Shape;243;p20">
                <a:hlinkClick r:id="rId5"/>
              </p:cNvPr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76200" y="6667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4" name="Google Shape;244;p20">
                <a:hlinkClick r:id="rId7"/>
              </p:cNvPr>
              <p:cNvSpPr txBox="1"/>
              <p:nvPr/>
            </p:nvSpPr>
            <p:spPr>
              <a:xfrm>
                <a:off x="323850" y="0"/>
                <a:ext cx="7620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-US" sz="950" u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Requests</a:t>
                </a:r>
                <a:endParaRPr b="1" i="0" sz="950" u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5" name="Google Shape;245;p20">
                <a:hlinkClick r:id="rId8"/>
              </p:cNvPr>
              <p:cNvSpPr/>
              <p:nvPr/>
            </p:nvSpPr>
            <p:spPr>
              <a:xfrm>
                <a:off x="1238250" y="0"/>
                <a:ext cx="14289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F1F5F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246" name="Google Shape;246;p20">
                <a:hlinkClick r:id="rId9"/>
              </p:cNvPr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1314450" y="6667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7" name="Google Shape;247;p20">
                <a:hlinkClick r:id="rId11"/>
              </p:cNvPr>
              <p:cNvSpPr txBox="1"/>
              <p:nvPr/>
            </p:nvSpPr>
            <p:spPr>
              <a:xfrm>
                <a:off x="1562100" y="0"/>
                <a:ext cx="10479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-US" sz="950" u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Beautiful Soup</a:t>
                </a:r>
                <a:endParaRPr b="1" i="0" sz="950" u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48" name="Google Shape;248;p20"/>
          <p:cNvGrpSpPr/>
          <p:nvPr/>
        </p:nvGrpSpPr>
        <p:grpSpPr>
          <a:xfrm>
            <a:off x="685800" y="2533650"/>
            <a:ext cx="10820400" cy="800100"/>
            <a:chOff x="0" y="0"/>
            <a:chExt cx="10820400" cy="800100"/>
          </a:xfrm>
        </p:grpSpPr>
        <p:sp>
          <p:nvSpPr>
            <p:cNvPr id="249" name="Google Shape;249;p20"/>
            <p:cNvSpPr/>
            <p:nvPr/>
          </p:nvSpPr>
          <p:spPr>
            <a:xfrm>
              <a:off x="0" y="0"/>
              <a:ext cx="10820400" cy="800100"/>
            </a:xfrm>
            <a:prstGeom prst="roundRect">
              <a:avLst>
                <a:gd fmla="val 14285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20"/>
            <p:cNvSpPr/>
            <p:nvPr/>
          </p:nvSpPr>
          <p:spPr>
            <a:xfrm>
              <a:off x="152400" y="171450"/>
              <a:ext cx="457200" cy="457200"/>
            </a:xfrm>
            <a:prstGeom prst="roundRect">
              <a:avLst>
                <a:gd fmla="val 20833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20"/>
            <p:cNvSpPr txBox="1"/>
            <p:nvPr/>
          </p:nvSpPr>
          <p:spPr>
            <a:xfrm>
              <a:off x="152400" y="171450"/>
              <a:ext cx="457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1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20"/>
            <p:cNvSpPr txBox="1"/>
            <p:nvPr/>
          </p:nvSpPr>
          <p:spPr>
            <a:xfrm>
              <a:off x="742950" y="0"/>
              <a:ext cx="14289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WRANGLE</a:t>
              </a:r>
              <a:endParaRPr b="1" sz="13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20"/>
            <p:cNvSpPr txBox="1"/>
            <p:nvPr/>
          </p:nvSpPr>
          <p:spPr>
            <a:xfrm>
              <a:off x="2286000" y="0"/>
              <a:ext cx="52389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Filtered Falcon 9 flights, imputed missing payload mass by mean, and encoded binary landing outcomes (0/1).</a:t>
              </a:r>
              <a:endParaRPr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54" name="Google Shape;254;p20"/>
            <p:cNvGrpSpPr/>
            <p:nvPr/>
          </p:nvGrpSpPr>
          <p:grpSpPr>
            <a:xfrm>
              <a:off x="7715250" y="228600"/>
              <a:ext cx="2190900" cy="342900"/>
              <a:chOff x="0" y="0"/>
              <a:chExt cx="2190900" cy="342900"/>
            </a:xfrm>
          </p:grpSpPr>
          <p:sp>
            <p:nvSpPr>
              <p:cNvPr id="255" name="Google Shape;255;p20">
                <a:hlinkClick r:id="rId12"/>
              </p:cNvPr>
              <p:cNvSpPr/>
              <p:nvPr/>
            </p:nvSpPr>
            <p:spPr>
              <a:xfrm>
                <a:off x="0" y="0"/>
                <a:ext cx="10479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F1F5F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256" name="Google Shape;256;p20">
                <a:hlinkClick r:id="rId13"/>
              </p:cNvPr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76200" y="6667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7" name="Google Shape;257;p20">
                <a:hlinkClick r:id="rId15"/>
              </p:cNvPr>
              <p:cNvSpPr txBox="1"/>
              <p:nvPr/>
            </p:nvSpPr>
            <p:spPr>
              <a:xfrm>
                <a:off x="323850" y="0"/>
                <a:ext cx="6669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-US" sz="950" u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Pandas</a:t>
                </a:r>
                <a:endParaRPr b="1" i="0" sz="950" u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" name="Google Shape;258;p20">
                <a:hlinkClick r:id="rId16"/>
              </p:cNvPr>
              <p:cNvSpPr/>
              <p:nvPr/>
            </p:nvSpPr>
            <p:spPr>
              <a:xfrm>
                <a:off x="1143000" y="0"/>
                <a:ext cx="10479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F1F5F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259" name="Google Shape;259;p20">
                <a:hlinkClick r:id="rId17"/>
              </p:cNvPr>
              <p:cNvPicPr preferRelativeResize="0"/>
              <p:nvPr/>
            </p:nvPicPr>
            <p:blipFill rotWithShape="1">
              <a:blip r:embed="rId18">
                <a:alphaModFix/>
              </a:blip>
              <a:srcRect b="0" l="0" r="0" t="0"/>
              <a:stretch/>
            </p:blipFill>
            <p:spPr>
              <a:xfrm>
                <a:off x="1219200" y="6667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60" name="Google Shape;260;p20">
                <a:hlinkClick r:id="rId19"/>
              </p:cNvPr>
              <p:cNvSpPr txBox="1"/>
              <p:nvPr/>
            </p:nvSpPr>
            <p:spPr>
              <a:xfrm>
                <a:off x="1466850" y="0"/>
                <a:ext cx="6669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-US" sz="950" u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NumPy</a:t>
                </a:r>
                <a:endParaRPr b="1" i="0" sz="950" u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61" name="Google Shape;261;p20"/>
          <p:cNvGrpSpPr/>
          <p:nvPr/>
        </p:nvGrpSpPr>
        <p:grpSpPr>
          <a:xfrm>
            <a:off x="685800" y="3429000"/>
            <a:ext cx="10820400" cy="800100"/>
            <a:chOff x="0" y="0"/>
            <a:chExt cx="10820400" cy="800100"/>
          </a:xfrm>
        </p:grpSpPr>
        <p:sp>
          <p:nvSpPr>
            <p:cNvPr id="262" name="Google Shape;262;p20"/>
            <p:cNvSpPr/>
            <p:nvPr/>
          </p:nvSpPr>
          <p:spPr>
            <a:xfrm>
              <a:off x="0" y="0"/>
              <a:ext cx="10820400" cy="800100"/>
            </a:xfrm>
            <a:prstGeom prst="roundRect">
              <a:avLst>
                <a:gd fmla="val 14285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20"/>
            <p:cNvSpPr/>
            <p:nvPr/>
          </p:nvSpPr>
          <p:spPr>
            <a:xfrm>
              <a:off x="152400" y="171450"/>
              <a:ext cx="457200" cy="457200"/>
            </a:xfrm>
            <a:prstGeom prst="roundRect">
              <a:avLst>
                <a:gd fmla="val 20833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20"/>
            <p:cNvSpPr txBox="1"/>
            <p:nvPr/>
          </p:nvSpPr>
          <p:spPr>
            <a:xfrm>
              <a:off x="152400" y="171450"/>
              <a:ext cx="457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1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20"/>
            <p:cNvSpPr txBox="1"/>
            <p:nvPr/>
          </p:nvSpPr>
          <p:spPr>
            <a:xfrm>
              <a:off x="742950" y="0"/>
              <a:ext cx="14289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EDA + SQL</a:t>
              </a:r>
              <a:endParaRPr b="1" sz="13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20"/>
            <p:cNvSpPr txBox="1"/>
            <p:nvPr/>
          </p:nvSpPr>
          <p:spPr>
            <a:xfrm>
              <a:off x="2286000" y="0"/>
              <a:ext cx="52389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Analyzed flight correlations by launch site, orbit, and payload mass using statistical queries and visual plots.</a:t>
              </a:r>
              <a:endParaRPr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67" name="Google Shape;267;p20"/>
            <p:cNvGrpSpPr/>
            <p:nvPr/>
          </p:nvGrpSpPr>
          <p:grpSpPr>
            <a:xfrm>
              <a:off x="7715250" y="228600"/>
              <a:ext cx="2800425" cy="342900"/>
              <a:chOff x="0" y="0"/>
              <a:chExt cx="2800425" cy="342900"/>
            </a:xfrm>
          </p:grpSpPr>
          <p:sp>
            <p:nvSpPr>
              <p:cNvPr id="268" name="Google Shape;268;p20">
                <a:hlinkClick r:id="rId20"/>
              </p:cNvPr>
              <p:cNvSpPr/>
              <p:nvPr/>
            </p:nvSpPr>
            <p:spPr>
              <a:xfrm>
                <a:off x="0" y="0"/>
                <a:ext cx="9717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F1F5F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269" name="Google Shape;269;p20">
                <a:hlinkClick r:id="rId21"/>
              </p:cNvPr>
              <p:cNvPicPr preferRelativeResize="0"/>
              <p:nvPr/>
            </p:nvPicPr>
            <p:blipFill rotWithShape="1">
              <a:blip r:embed="rId22">
                <a:alphaModFix/>
              </a:blip>
              <a:srcRect b="0" l="0" r="0" t="0"/>
              <a:stretch/>
            </p:blipFill>
            <p:spPr>
              <a:xfrm>
                <a:off x="76200" y="76200"/>
                <a:ext cx="190500" cy="1905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70" name="Google Shape;270;p20">
                <a:hlinkClick r:id="rId23"/>
              </p:cNvPr>
              <p:cNvSpPr txBox="1"/>
              <p:nvPr/>
            </p:nvSpPr>
            <p:spPr>
              <a:xfrm>
                <a:off x="304800" y="0"/>
                <a:ext cx="6192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-US" sz="900" u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Matplotlib</a:t>
                </a:r>
                <a:endParaRPr b="1" i="0" sz="900" u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" name="Google Shape;271;p20">
                <a:hlinkClick r:id="rId24"/>
              </p:cNvPr>
              <p:cNvSpPr/>
              <p:nvPr/>
            </p:nvSpPr>
            <p:spPr>
              <a:xfrm>
                <a:off x="1028700" y="0"/>
                <a:ext cx="9048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F1F5F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272" name="Google Shape;272;p20">
                <a:hlinkClick r:id="rId25"/>
              </p:cNvPr>
              <p:cNvPicPr preferRelativeResize="0"/>
              <p:nvPr/>
            </p:nvPicPr>
            <p:blipFill rotWithShape="1">
              <a:blip r:embed="rId26">
                <a:alphaModFix/>
              </a:blip>
              <a:srcRect b="0" l="2345" r="2345" t="0"/>
              <a:stretch/>
            </p:blipFill>
            <p:spPr>
              <a:xfrm>
                <a:off x="1104900" y="76200"/>
                <a:ext cx="190500" cy="1905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73" name="Google Shape;273;p20">
                <a:hlinkClick r:id="rId27"/>
              </p:cNvPr>
              <p:cNvSpPr txBox="1"/>
              <p:nvPr/>
            </p:nvSpPr>
            <p:spPr>
              <a:xfrm>
                <a:off x="1333500" y="0"/>
                <a:ext cx="5715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-US" sz="900" u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Seaborn</a:t>
                </a:r>
                <a:endParaRPr b="1" i="0" sz="900" u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" name="Google Shape;274;p20">
                <a:hlinkClick r:id="rId28"/>
              </p:cNvPr>
              <p:cNvSpPr/>
              <p:nvPr/>
            </p:nvSpPr>
            <p:spPr>
              <a:xfrm>
                <a:off x="1990725" y="0"/>
                <a:ext cx="8097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F1F5F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275" name="Google Shape;275;p20">
                <a:hlinkClick r:id="rId29"/>
              </p:cNvPr>
              <p:cNvPicPr preferRelativeResize="0"/>
              <p:nvPr/>
            </p:nvPicPr>
            <p:blipFill rotWithShape="1">
              <a:blip r:embed="rId30">
                <a:alphaModFix/>
              </a:blip>
              <a:srcRect b="0" l="0" r="0" t="0"/>
              <a:stretch/>
            </p:blipFill>
            <p:spPr>
              <a:xfrm>
                <a:off x="2066925" y="76200"/>
                <a:ext cx="190500" cy="1905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76" name="Google Shape;276;p20">
                <a:hlinkClick r:id="rId31"/>
              </p:cNvPr>
              <p:cNvSpPr txBox="1"/>
              <p:nvPr/>
            </p:nvSpPr>
            <p:spPr>
              <a:xfrm>
                <a:off x="2295525" y="0"/>
                <a:ext cx="4764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-US" sz="900" u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SQLite</a:t>
                </a:r>
                <a:endParaRPr b="1" i="0" sz="900" u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77" name="Google Shape;277;p20"/>
          <p:cNvGrpSpPr/>
          <p:nvPr/>
        </p:nvGrpSpPr>
        <p:grpSpPr>
          <a:xfrm>
            <a:off x="685800" y="4324350"/>
            <a:ext cx="10820400" cy="800100"/>
            <a:chOff x="0" y="0"/>
            <a:chExt cx="10820400" cy="800100"/>
          </a:xfrm>
        </p:grpSpPr>
        <p:sp>
          <p:nvSpPr>
            <p:cNvPr id="278" name="Google Shape;278;p20"/>
            <p:cNvSpPr/>
            <p:nvPr/>
          </p:nvSpPr>
          <p:spPr>
            <a:xfrm>
              <a:off x="0" y="0"/>
              <a:ext cx="10820400" cy="800100"/>
            </a:xfrm>
            <a:prstGeom prst="roundRect">
              <a:avLst>
                <a:gd fmla="val 14285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20"/>
            <p:cNvSpPr/>
            <p:nvPr/>
          </p:nvSpPr>
          <p:spPr>
            <a:xfrm>
              <a:off x="152400" y="171450"/>
              <a:ext cx="457200" cy="457200"/>
            </a:xfrm>
            <a:prstGeom prst="roundRect">
              <a:avLst>
                <a:gd fmla="val 20833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20"/>
            <p:cNvSpPr txBox="1"/>
            <p:nvPr/>
          </p:nvSpPr>
          <p:spPr>
            <a:xfrm>
              <a:off x="152400" y="171450"/>
              <a:ext cx="457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04</a:t>
              </a:r>
              <a:endParaRPr b="1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" name="Google Shape;281;p20"/>
            <p:cNvSpPr txBox="1"/>
            <p:nvPr/>
          </p:nvSpPr>
          <p:spPr>
            <a:xfrm>
              <a:off x="742950" y="0"/>
              <a:ext cx="14289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MAP + DASH</a:t>
              </a:r>
              <a:endParaRPr b="1" sz="13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p20"/>
            <p:cNvSpPr txBox="1"/>
            <p:nvPr/>
          </p:nvSpPr>
          <p:spPr>
            <a:xfrm>
              <a:off x="2286000" y="0"/>
              <a:ext cx="52389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Built interactive maps of launch sites, landing outcomes, and coastal distances alongside real-time payload filters.</a:t>
              </a:r>
              <a:endParaRPr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83" name="Google Shape;283;p20"/>
            <p:cNvGrpSpPr/>
            <p:nvPr/>
          </p:nvGrpSpPr>
          <p:grpSpPr>
            <a:xfrm>
              <a:off x="7715250" y="228600"/>
              <a:ext cx="2514600" cy="342900"/>
              <a:chOff x="0" y="0"/>
              <a:chExt cx="2514600" cy="342900"/>
            </a:xfrm>
          </p:grpSpPr>
          <p:sp>
            <p:nvSpPr>
              <p:cNvPr id="284" name="Google Shape;284;p20">
                <a:hlinkClick r:id="rId32"/>
              </p:cNvPr>
              <p:cNvSpPr/>
              <p:nvPr/>
            </p:nvSpPr>
            <p:spPr>
              <a:xfrm>
                <a:off x="0" y="0"/>
                <a:ext cx="8382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F1F5F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285" name="Google Shape;285;p20">
                <a:hlinkClick r:id="rId33"/>
              </p:cNvPr>
              <p:cNvPicPr preferRelativeResize="0"/>
              <p:nvPr/>
            </p:nvPicPr>
            <p:blipFill rotWithShape="1">
              <a:blip r:embed="rId34">
                <a:alphaModFix/>
              </a:blip>
              <a:srcRect b="0" l="0" r="0" t="0"/>
              <a:stretch/>
            </p:blipFill>
            <p:spPr>
              <a:xfrm>
                <a:off x="76200" y="76200"/>
                <a:ext cx="190500" cy="1905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86" name="Google Shape;286;p20">
                <a:hlinkClick r:id="rId35"/>
              </p:cNvPr>
              <p:cNvSpPr txBox="1"/>
              <p:nvPr/>
            </p:nvSpPr>
            <p:spPr>
              <a:xfrm>
                <a:off x="304800" y="0"/>
                <a:ext cx="4764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-US" sz="900" u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Folium</a:t>
                </a:r>
                <a:endParaRPr b="1" i="0" sz="900" u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" name="Google Shape;287;p20">
                <a:hlinkClick r:id="rId36"/>
              </p:cNvPr>
              <p:cNvSpPr/>
              <p:nvPr/>
            </p:nvSpPr>
            <p:spPr>
              <a:xfrm>
                <a:off x="895350" y="0"/>
                <a:ext cx="8001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F1F5F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288" name="Google Shape;288;p20">
                <a:hlinkClick r:id="rId37"/>
              </p:cNvPr>
              <p:cNvPicPr preferRelativeResize="0"/>
              <p:nvPr/>
            </p:nvPicPr>
            <p:blipFill rotWithShape="1">
              <a:blip r:embed="rId38">
                <a:alphaModFix/>
              </a:blip>
              <a:srcRect b="0" l="0" r="0" t="0"/>
              <a:stretch/>
            </p:blipFill>
            <p:spPr>
              <a:xfrm>
                <a:off x="971550" y="76200"/>
                <a:ext cx="190500" cy="1905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89" name="Google Shape;289;p20">
                <a:hlinkClick r:id="rId39"/>
              </p:cNvPr>
              <p:cNvSpPr txBox="1"/>
              <p:nvPr/>
            </p:nvSpPr>
            <p:spPr>
              <a:xfrm>
                <a:off x="1200150" y="0"/>
                <a:ext cx="4572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-US" sz="900" u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Plotly</a:t>
                </a:r>
                <a:endParaRPr b="1" i="0" sz="900" u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0" name="Google Shape;290;p20">
                <a:hlinkClick r:id="rId40"/>
              </p:cNvPr>
              <p:cNvSpPr/>
              <p:nvPr/>
            </p:nvSpPr>
            <p:spPr>
              <a:xfrm>
                <a:off x="1752600" y="0"/>
                <a:ext cx="7620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F1F5F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291" name="Google Shape;291;p20">
                <a:hlinkClick r:id="rId41"/>
              </p:cNvPr>
              <p:cNvPicPr preferRelativeResize="0"/>
              <p:nvPr/>
            </p:nvPicPr>
            <p:blipFill rotWithShape="1">
              <a:blip r:embed="rId42">
                <a:alphaModFix/>
              </a:blip>
              <a:srcRect b="0" l="0" r="0" t="0"/>
              <a:stretch/>
            </p:blipFill>
            <p:spPr>
              <a:xfrm>
                <a:off x="1828800" y="76200"/>
                <a:ext cx="190500" cy="1905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92" name="Google Shape;292;p20">
                <a:hlinkClick r:id="rId43"/>
              </p:cNvPr>
              <p:cNvSpPr txBox="1"/>
              <p:nvPr/>
            </p:nvSpPr>
            <p:spPr>
              <a:xfrm>
                <a:off x="2057400" y="0"/>
                <a:ext cx="4191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-US" sz="900" u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Dash</a:t>
                </a:r>
                <a:endParaRPr b="1" i="0" sz="900" u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93" name="Google Shape;293;p20"/>
          <p:cNvGrpSpPr/>
          <p:nvPr/>
        </p:nvGrpSpPr>
        <p:grpSpPr>
          <a:xfrm>
            <a:off x="685800" y="5219700"/>
            <a:ext cx="10820400" cy="800100"/>
            <a:chOff x="0" y="0"/>
            <a:chExt cx="10820400" cy="800100"/>
          </a:xfrm>
        </p:grpSpPr>
        <p:sp>
          <p:nvSpPr>
            <p:cNvPr id="294" name="Google Shape;294;p20"/>
            <p:cNvSpPr/>
            <p:nvPr/>
          </p:nvSpPr>
          <p:spPr>
            <a:xfrm>
              <a:off x="0" y="0"/>
              <a:ext cx="10820400" cy="800100"/>
            </a:xfrm>
            <a:prstGeom prst="roundRect">
              <a:avLst>
                <a:gd fmla="val 14285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20"/>
            <p:cNvSpPr/>
            <p:nvPr/>
          </p:nvSpPr>
          <p:spPr>
            <a:xfrm>
              <a:off x="152400" y="171450"/>
              <a:ext cx="457200" cy="457200"/>
            </a:xfrm>
            <a:prstGeom prst="roundRect">
              <a:avLst>
                <a:gd fmla="val 20833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20"/>
            <p:cNvSpPr txBox="1"/>
            <p:nvPr/>
          </p:nvSpPr>
          <p:spPr>
            <a:xfrm>
              <a:off x="152400" y="171450"/>
              <a:ext cx="457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05</a:t>
              </a:r>
              <a:endParaRPr b="1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20"/>
            <p:cNvSpPr txBox="1"/>
            <p:nvPr/>
          </p:nvSpPr>
          <p:spPr>
            <a:xfrm>
              <a:off x="742950" y="0"/>
              <a:ext cx="14289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PREDICT</a:t>
              </a:r>
              <a:endParaRPr b="1" sz="13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20"/>
            <p:cNvSpPr txBox="1"/>
            <p:nvPr/>
          </p:nvSpPr>
          <p:spPr>
            <a:xfrm>
              <a:off x="2286000" y="0"/>
              <a:ext cx="52389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Standardized features, tuned 4 classifiers (Logistic Regression, SVM, Decision Tree, KNN) via 10-fold CV, and evaluated test accuracy.</a:t>
              </a:r>
              <a:endParaRPr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99" name="Google Shape;299;p20"/>
            <p:cNvGrpSpPr/>
            <p:nvPr/>
          </p:nvGrpSpPr>
          <p:grpSpPr>
            <a:xfrm>
              <a:off x="7715250" y="228600"/>
              <a:ext cx="1428900" cy="342900"/>
              <a:chOff x="0" y="0"/>
              <a:chExt cx="1428900" cy="342900"/>
            </a:xfrm>
          </p:grpSpPr>
          <p:sp>
            <p:nvSpPr>
              <p:cNvPr id="300" name="Google Shape;300;p20">
                <a:hlinkClick r:id="rId44"/>
              </p:cNvPr>
              <p:cNvSpPr/>
              <p:nvPr/>
            </p:nvSpPr>
            <p:spPr>
              <a:xfrm>
                <a:off x="0" y="0"/>
                <a:ext cx="14289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F1F5F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301" name="Google Shape;301;p20">
                <a:hlinkClick r:id="rId45"/>
              </p:cNvPr>
              <p:cNvPicPr preferRelativeResize="0"/>
              <p:nvPr/>
            </p:nvPicPr>
            <p:blipFill rotWithShape="1">
              <a:blip r:embed="rId46">
                <a:alphaModFix/>
              </a:blip>
              <a:srcRect b="1105" l="0" r="0" t="1115"/>
              <a:stretch/>
            </p:blipFill>
            <p:spPr>
              <a:xfrm>
                <a:off x="76200" y="66675"/>
                <a:ext cx="342900" cy="2097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02" name="Google Shape;302;p20">
                <a:hlinkClick r:id="rId47"/>
              </p:cNvPr>
              <p:cNvSpPr txBox="1"/>
              <p:nvPr/>
            </p:nvSpPr>
            <p:spPr>
              <a:xfrm>
                <a:off x="457200" y="0"/>
                <a:ext cx="9048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-US" sz="950" u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scikit-learn</a:t>
                </a:r>
                <a:endParaRPr b="1" i="0" sz="950" u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03" name="Google Shape;303;p20"/>
          <p:cNvSpPr txBox="1"/>
          <p:nvPr/>
        </p:nvSpPr>
        <p:spPr>
          <a:xfrm>
            <a:off x="11125200" y="6305550"/>
            <a:ext cx="381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2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1"/>
          <p:cNvSpPr txBox="1"/>
          <p:nvPr/>
        </p:nvSpPr>
        <p:spPr>
          <a:xfrm>
            <a:off x="685800" y="361950"/>
            <a:ext cx="108204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9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How the Launch Datasets Were Collected</a:t>
            </a:r>
            <a:endParaRPr b="1" sz="259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203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Structured dual-pipeline strategy combining official REST API retrieval and HTML table scraping</a:t>
            </a:r>
            <a:endParaRPr b="0" sz="1203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21"/>
          <p:cNvSpPr/>
          <p:nvPr/>
        </p:nvSpPr>
        <p:spPr>
          <a:xfrm>
            <a:off x="685800" y="1143000"/>
            <a:ext cx="10820400" cy="33813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0" name="Google Shape;310;p21"/>
          <p:cNvPicPr preferRelativeResize="0"/>
          <p:nvPr/>
        </p:nvPicPr>
        <p:blipFill rotWithShape="1">
          <a:blip r:embed="rId4">
            <a:alphaModFix/>
          </a:blip>
          <a:srcRect b="9430" l="0" r="0" t="7782"/>
          <a:stretch/>
        </p:blipFill>
        <p:spPr>
          <a:xfrm>
            <a:off x="762000" y="1190625"/>
            <a:ext cx="10668000" cy="3286200"/>
          </a:xfrm>
          <a:prstGeom prst="roundRect">
            <a:avLst>
              <a:gd fmla="val 2318" name="adj"/>
            </a:avLst>
          </a:prstGeom>
          <a:noFill/>
          <a:ln>
            <a:noFill/>
          </a:ln>
        </p:spPr>
      </p:pic>
      <p:grpSp>
        <p:nvGrpSpPr>
          <p:cNvPr id="311" name="Google Shape;311;p21"/>
          <p:cNvGrpSpPr/>
          <p:nvPr/>
        </p:nvGrpSpPr>
        <p:grpSpPr>
          <a:xfrm>
            <a:off x="685800" y="4686300"/>
            <a:ext cx="5295900" cy="1447800"/>
            <a:chOff x="0" y="0"/>
            <a:chExt cx="5295900" cy="1447800"/>
          </a:xfrm>
        </p:grpSpPr>
        <p:sp>
          <p:nvSpPr>
            <p:cNvPr id="312" name="Google Shape;312;p21"/>
            <p:cNvSpPr/>
            <p:nvPr/>
          </p:nvSpPr>
          <p:spPr>
            <a:xfrm>
              <a:off x="0" y="0"/>
              <a:ext cx="5295900" cy="1447800"/>
            </a:xfrm>
            <a:prstGeom prst="roundRect">
              <a:avLst>
                <a:gd fmla="val 6578" name="adj"/>
              </a:avLst>
            </a:prstGeom>
            <a:solidFill>
              <a:srgbClr val="FFFFFF"/>
            </a:solidFill>
            <a:ln cap="flat" cmpd="sng" w="14300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21"/>
            <p:cNvSpPr/>
            <p:nvPr/>
          </p:nvSpPr>
          <p:spPr>
            <a:xfrm>
              <a:off x="0" y="0"/>
              <a:ext cx="5295900" cy="57300"/>
            </a:xfrm>
            <a:prstGeom prst="roundRect">
              <a:avLst>
                <a:gd fmla="val 50000" name="adj"/>
              </a:avLst>
            </a:prstGeom>
            <a:solidFill>
              <a:srgbClr val="1550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21"/>
            <p:cNvSpPr txBox="1"/>
            <p:nvPr/>
          </p:nvSpPr>
          <p:spPr>
            <a:xfrm>
              <a:off x="190500" y="152400"/>
              <a:ext cx="49149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550C7"/>
                  </a:solidFill>
                  <a:latin typeface="Arial"/>
                  <a:ea typeface="Arial"/>
                  <a:cs typeface="Arial"/>
                  <a:sym typeface="Arial"/>
                </a:rPr>
                <a:t>SPACEX API PIPELINE</a:t>
              </a:r>
              <a:endParaRPr b="1" sz="1100">
                <a:solidFill>
                  <a:srgbClr val="1550C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Notebook: </a:t>
              </a:r>
              <a:r>
                <a:rPr b="1" lang="en-US" sz="1000" u="sng">
                  <a:solidFill>
                    <a:srgbClr val="1550C7"/>
                  </a:solidFill>
                  <a:latin typeface="Arial"/>
                  <a:ea typeface="Arial"/>
                  <a:cs typeface="Arial"/>
                  <a:sym typeface="Arial"/>
                  <a:hlinkClick r:id="rId5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jupyter-labs-spacex-data-collection-api-v2.ipynb</a:t>
              </a:r>
              <a:endParaRPr sz="10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Output File: </a:t>
              </a:r>
              <a:r>
                <a:rPr lang="en-US" sz="1000" u="sng">
                  <a:solidFill>
                    <a:srgbClr val="1550C7"/>
                  </a:solidFill>
                  <a:latin typeface="Arial"/>
                  <a:ea typeface="Arial"/>
                  <a:cs typeface="Arial"/>
                  <a:sym typeface="Arial"/>
                  <a:hlinkClick r:id="rId6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dataset_part_1.csv</a:t>
              </a:r>
              <a:r>
                <a:rPr lang="en-US" sz="10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9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(90 rows × 17 fields)</a:t>
              </a:r>
              <a:endParaRPr sz="10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5" name="Google Shape;315;p21"/>
          <p:cNvGrpSpPr/>
          <p:nvPr/>
        </p:nvGrpSpPr>
        <p:grpSpPr>
          <a:xfrm>
            <a:off x="6210300" y="4686300"/>
            <a:ext cx="5295900" cy="1447800"/>
            <a:chOff x="0" y="0"/>
            <a:chExt cx="5295900" cy="1447800"/>
          </a:xfrm>
        </p:grpSpPr>
        <p:sp>
          <p:nvSpPr>
            <p:cNvPr id="316" name="Google Shape;316;p21"/>
            <p:cNvSpPr/>
            <p:nvPr/>
          </p:nvSpPr>
          <p:spPr>
            <a:xfrm>
              <a:off x="0" y="0"/>
              <a:ext cx="5295900" cy="1447800"/>
            </a:xfrm>
            <a:prstGeom prst="roundRect">
              <a:avLst>
                <a:gd fmla="val 6578" name="adj"/>
              </a:avLst>
            </a:prstGeom>
            <a:solidFill>
              <a:srgbClr val="FFFFFF"/>
            </a:solidFill>
            <a:ln cap="flat" cmpd="sng" w="14300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21"/>
            <p:cNvSpPr/>
            <p:nvPr/>
          </p:nvSpPr>
          <p:spPr>
            <a:xfrm>
              <a:off x="0" y="0"/>
              <a:ext cx="5295900" cy="57300"/>
            </a:xfrm>
            <a:prstGeom prst="roundRect">
              <a:avLst>
                <a:gd fmla="val 50000" name="adj"/>
              </a:avLst>
            </a:prstGeom>
            <a:solidFill>
              <a:srgbClr val="007F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21"/>
            <p:cNvSpPr txBox="1"/>
            <p:nvPr/>
          </p:nvSpPr>
          <p:spPr>
            <a:xfrm>
              <a:off x="190500" y="152400"/>
              <a:ext cx="49149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7F88"/>
                  </a:solidFill>
                  <a:latin typeface="Arial"/>
                  <a:ea typeface="Arial"/>
                  <a:cs typeface="Arial"/>
                  <a:sym typeface="Arial"/>
                </a:rPr>
                <a:t>WEB SCRAPING PIPELINE</a:t>
              </a:r>
              <a:endParaRPr b="1" sz="1100">
                <a:solidFill>
                  <a:srgbClr val="007F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Notebook: </a:t>
              </a:r>
              <a:r>
                <a:rPr b="1" lang="en-US" sz="1000" u="sng">
                  <a:solidFill>
                    <a:srgbClr val="007F88"/>
                  </a:solidFill>
                  <a:latin typeface="Arial"/>
                  <a:ea typeface="Arial"/>
                  <a:cs typeface="Arial"/>
                  <a:sym typeface="Arial"/>
                  <a:hlinkClick r:id="rId7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jupyter-labs-webscraping.ipynb</a:t>
              </a:r>
              <a:endParaRPr sz="10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Output File: </a:t>
              </a:r>
              <a:r>
                <a:rPr lang="en-US" sz="1000" u="sng">
                  <a:solidFill>
                    <a:srgbClr val="007F88"/>
                  </a:solidFill>
                  <a:latin typeface="Arial"/>
                  <a:ea typeface="Arial"/>
                  <a:cs typeface="Arial"/>
                  <a:sym typeface="Arial"/>
                  <a:hlinkClick r:id="rId8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spacex_web_scraped.csv</a:t>
              </a:r>
              <a:r>
                <a:rPr lang="en-US" sz="10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9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(121 rows × 11 fields)</a:t>
              </a:r>
              <a:endParaRPr sz="10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19" name="Google Shape;319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76300" y="5638800"/>
            <a:ext cx="209700" cy="20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00800" y="5638800"/>
            <a:ext cx="209700" cy="20970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21"/>
          <p:cNvSpPr txBox="1"/>
          <p:nvPr>
            <p:ph idx="12" type="sldNum"/>
          </p:nvPr>
        </p:nvSpPr>
        <p:spPr>
          <a:xfrm>
            <a:off x="11125200" y="6305550"/>
            <a:ext cx="381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12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2"/>
          <p:cNvSpPr txBox="1"/>
          <p:nvPr>
            <p:ph idx="12" type="sldNum"/>
          </p:nvPr>
        </p:nvSpPr>
        <p:spPr>
          <a:xfrm>
            <a:off x="8801702" y="6047306"/>
            <a:ext cx="27432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7" name="Google Shape;327;p22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Data Collection – SpaceX API</a:t>
            </a:r>
            <a:endParaRPr b="1" i="0" sz="37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22"/>
          <p:cNvSpPr/>
          <p:nvPr/>
        </p:nvSpPr>
        <p:spPr>
          <a:xfrm>
            <a:off x="850000" y="1382278"/>
            <a:ext cx="5049900" cy="2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2"/>
          <p:cNvSpPr/>
          <p:nvPr/>
        </p:nvSpPr>
        <p:spPr>
          <a:xfrm>
            <a:off x="850000" y="1382278"/>
            <a:ext cx="5049900" cy="51900"/>
          </a:xfrm>
          <a:prstGeom prst="rect">
            <a:avLst/>
          </a:prstGeom>
          <a:solidFill>
            <a:srgbClr val="0B49C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2"/>
          <p:cNvSpPr txBox="1"/>
          <p:nvPr/>
        </p:nvSpPr>
        <p:spPr>
          <a:xfrm>
            <a:off x="1100000" y="1492278"/>
            <a:ext cx="44001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49CB"/>
                </a:solidFill>
              </a:rPr>
              <a:t>KEY PHRASES</a:t>
            </a:r>
            <a:endParaRPr b="1" sz="1200">
              <a:solidFill>
                <a:srgbClr val="0B49CB"/>
              </a:solidFill>
            </a:endParaRPr>
          </a:p>
        </p:txBody>
      </p:sp>
      <p:sp>
        <p:nvSpPr>
          <p:cNvPr id="331" name="Google Shape;331;p22"/>
          <p:cNvSpPr txBox="1"/>
          <p:nvPr/>
        </p:nvSpPr>
        <p:spPr>
          <a:xfrm>
            <a:off x="1100000" y="1792278"/>
            <a:ext cx="43500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B49CB"/>
                </a:solidFill>
              </a:rPr>
              <a:t>PRIMARY CALL</a:t>
            </a:r>
            <a:endParaRPr b="1" sz="1050">
              <a:solidFill>
                <a:srgbClr val="0B49CB"/>
              </a:solidFill>
            </a:endParaRPr>
          </a:p>
        </p:txBody>
      </p:sp>
      <p:sp>
        <p:nvSpPr>
          <p:cNvPr id="332" name="Google Shape;332;p22"/>
          <p:cNvSpPr txBox="1"/>
          <p:nvPr/>
        </p:nvSpPr>
        <p:spPr>
          <a:xfrm>
            <a:off x="1100000" y="1967278"/>
            <a:ext cx="44499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0">
                <a:solidFill>
                  <a:srgbClr val="233247"/>
                </a:solidFill>
              </a:rPr>
              <a:t>GET /v4/launches/past</a:t>
            </a:r>
            <a:endParaRPr sz="1420">
              <a:solidFill>
                <a:srgbClr val="233247"/>
              </a:solidFill>
            </a:endParaRPr>
          </a:p>
        </p:txBody>
      </p:sp>
      <p:sp>
        <p:nvSpPr>
          <p:cNvPr id="333" name="Google Shape;333;p22"/>
          <p:cNvSpPr txBox="1"/>
          <p:nvPr/>
        </p:nvSpPr>
        <p:spPr>
          <a:xfrm>
            <a:off x="1100000" y="2332278"/>
            <a:ext cx="43500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B49CB"/>
                </a:solidFill>
              </a:rPr>
              <a:t>RECORD PREP</a:t>
            </a:r>
            <a:endParaRPr b="1" sz="1050">
              <a:solidFill>
                <a:srgbClr val="0B49CB"/>
              </a:solidFill>
            </a:endParaRPr>
          </a:p>
        </p:txBody>
      </p:sp>
      <p:sp>
        <p:nvSpPr>
          <p:cNvPr id="334" name="Google Shape;334;p22"/>
          <p:cNvSpPr txBox="1"/>
          <p:nvPr/>
        </p:nvSpPr>
        <p:spPr>
          <a:xfrm>
            <a:off x="1100000" y="2507278"/>
            <a:ext cx="44499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0">
                <a:solidFill>
                  <a:srgbClr val="233247"/>
                </a:solidFill>
              </a:rPr>
              <a:t>Normalize JSON; one core and one payload</a:t>
            </a:r>
            <a:endParaRPr sz="1420">
              <a:solidFill>
                <a:srgbClr val="233247"/>
              </a:solidFill>
            </a:endParaRPr>
          </a:p>
        </p:txBody>
      </p:sp>
      <p:sp>
        <p:nvSpPr>
          <p:cNvPr id="335" name="Google Shape;335;p22"/>
          <p:cNvSpPr txBox="1"/>
          <p:nvPr/>
        </p:nvSpPr>
        <p:spPr>
          <a:xfrm>
            <a:off x="1100000" y="2872278"/>
            <a:ext cx="43500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B49CB"/>
                </a:solidFill>
              </a:rPr>
              <a:t>LINKED LOOKUPS</a:t>
            </a:r>
            <a:endParaRPr b="1" sz="1050">
              <a:solidFill>
                <a:srgbClr val="0B49CB"/>
              </a:solidFill>
            </a:endParaRPr>
          </a:p>
        </p:txBody>
      </p:sp>
      <p:sp>
        <p:nvSpPr>
          <p:cNvPr id="336" name="Google Shape;336;p22"/>
          <p:cNvSpPr txBox="1"/>
          <p:nvPr/>
        </p:nvSpPr>
        <p:spPr>
          <a:xfrm>
            <a:off x="1100000" y="3047278"/>
            <a:ext cx="44499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0">
                <a:solidFill>
                  <a:srgbClr val="233247"/>
                </a:solidFill>
              </a:rPr>
              <a:t>Rocket, launchpad, payload, and core IDs</a:t>
            </a:r>
            <a:endParaRPr sz="1420">
              <a:solidFill>
                <a:srgbClr val="233247"/>
              </a:solidFill>
            </a:endParaRPr>
          </a:p>
        </p:txBody>
      </p:sp>
      <p:sp>
        <p:nvSpPr>
          <p:cNvPr id="337" name="Google Shape;337;p22"/>
          <p:cNvSpPr txBox="1"/>
          <p:nvPr/>
        </p:nvSpPr>
        <p:spPr>
          <a:xfrm>
            <a:off x="1100000" y="3412278"/>
            <a:ext cx="43500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B49CB"/>
                </a:solidFill>
              </a:rPr>
              <a:t>TARGET OUTPUT</a:t>
            </a:r>
            <a:endParaRPr b="1" sz="1050">
              <a:solidFill>
                <a:srgbClr val="0B49CB"/>
              </a:solidFill>
            </a:endParaRPr>
          </a:p>
        </p:txBody>
      </p:sp>
      <p:sp>
        <p:nvSpPr>
          <p:cNvPr id="338" name="Google Shape;338;p22"/>
          <p:cNvSpPr txBox="1"/>
          <p:nvPr/>
        </p:nvSpPr>
        <p:spPr>
          <a:xfrm>
            <a:off x="1100000" y="3587278"/>
            <a:ext cx="44499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0">
                <a:solidFill>
                  <a:srgbClr val="233247"/>
                </a:solidFill>
              </a:rPr>
              <a:t>Falcon 9 launch table → dataset_part_1.csv</a:t>
            </a:r>
            <a:endParaRPr sz="1420">
              <a:solidFill>
                <a:srgbClr val="233247"/>
              </a:solidFill>
            </a:endParaRPr>
          </a:p>
        </p:txBody>
      </p:sp>
      <p:sp>
        <p:nvSpPr>
          <p:cNvPr id="339" name="Google Shape;339;p22"/>
          <p:cNvSpPr txBox="1"/>
          <p:nvPr/>
        </p:nvSpPr>
        <p:spPr>
          <a:xfrm>
            <a:off x="1143390" y="4099283"/>
            <a:ext cx="104001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30" u="sng">
                <a:solidFill>
                  <a:srgbClr val="0B49CB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https://github.com/treinart/IBM-Data-Science-Professional-Certificate/blob/main/10_Applied%20Data%20Science%20Capstone/Module%201/jupyter-labs-spacex-data-collection-api-v2.ipynb</a:t>
            </a:r>
            <a:endParaRPr sz="930" u="sng">
              <a:solidFill>
                <a:srgbClr val="0B49CB"/>
              </a:solidFill>
            </a:endParaRPr>
          </a:p>
        </p:txBody>
      </p:sp>
      <p:pic>
        <p:nvPicPr>
          <p:cNvPr id="340" name="Google Shape;340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51659" y="4381882"/>
            <a:ext cx="10396681" cy="18488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97600" y="1338800"/>
            <a:ext cx="3897050" cy="288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22">
            <a:hlinkClick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93540" y="4111087"/>
            <a:ext cx="240000" cy="2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3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8" name="Google Shape;348;p23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Data Collection – Web Scraping</a:t>
            </a:r>
            <a:endParaRPr b="1" i="0" sz="40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23"/>
          <p:cNvSpPr/>
          <p:nvPr/>
        </p:nvSpPr>
        <p:spPr>
          <a:xfrm>
            <a:off x="6250000" y="1380000"/>
            <a:ext cx="5049900" cy="2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23"/>
          <p:cNvSpPr/>
          <p:nvPr/>
        </p:nvSpPr>
        <p:spPr>
          <a:xfrm>
            <a:off x="6250000" y="1380000"/>
            <a:ext cx="5049900" cy="51900"/>
          </a:xfrm>
          <a:prstGeom prst="rect">
            <a:avLst/>
          </a:prstGeom>
          <a:solidFill>
            <a:srgbClr val="007F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23"/>
          <p:cNvSpPr txBox="1"/>
          <p:nvPr/>
        </p:nvSpPr>
        <p:spPr>
          <a:xfrm>
            <a:off x="6500000" y="1490000"/>
            <a:ext cx="44001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7F88"/>
                </a:solidFill>
              </a:rPr>
              <a:t>KEY PHRASES</a:t>
            </a:r>
            <a:endParaRPr b="1" sz="1200">
              <a:solidFill>
                <a:srgbClr val="007F88"/>
              </a:solidFill>
            </a:endParaRPr>
          </a:p>
        </p:txBody>
      </p:sp>
      <p:sp>
        <p:nvSpPr>
          <p:cNvPr id="352" name="Google Shape;352;p23"/>
          <p:cNvSpPr txBox="1"/>
          <p:nvPr/>
        </p:nvSpPr>
        <p:spPr>
          <a:xfrm>
            <a:off x="6500000" y="1790000"/>
            <a:ext cx="43500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07F88"/>
                </a:solidFill>
              </a:rPr>
              <a:t>SOURCE PAGE</a:t>
            </a:r>
            <a:endParaRPr b="1" sz="1050">
              <a:solidFill>
                <a:srgbClr val="007F88"/>
              </a:solidFill>
            </a:endParaRPr>
          </a:p>
        </p:txBody>
      </p:sp>
      <p:sp>
        <p:nvSpPr>
          <p:cNvPr id="353" name="Google Shape;353;p23"/>
          <p:cNvSpPr txBox="1"/>
          <p:nvPr/>
        </p:nvSpPr>
        <p:spPr>
          <a:xfrm>
            <a:off x="6500000" y="1965000"/>
            <a:ext cx="44499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0">
                <a:solidFill>
                  <a:srgbClr val="233247"/>
                </a:solidFill>
              </a:rPr>
              <a:t>Archived Falcon 9 and Falcon Heavy launches</a:t>
            </a:r>
            <a:endParaRPr sz="1420">
              <a:solidFill>
                <a:srgbClr val="233247"/>
              </a:solidFill>
            </a:endParaRPr>
          </a:p>
        </p:txBody>
      </p:sp>
      <p:sp>
        <p:nvSpPr>
          <p:cNvPr id="354" name="Google Shape;354;p23"/>
          <p:cNvSpPr txBox="1"/>
          <p:nvPr/>
        </p:nvSpPr>
        <p:spPr>
          <a:xfrm>
            <a:off x="6500000" y="2330000"/>
            <a:ext cx="43500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07F88"/>
                </a:solidFill>
              </a:rPr>
              <a:t>REQUEST + PARSE</a:t>
            </a:r>
            <a:endParaRPr b="1" sz="1050">
              <a:solidFill>
                <a:srgbClr val="007F88"/>
              </a:solidFill>
            </a:endParaRPr>
          </a:p>
        </p:txBody>
      </p:sp>
      <p:sp>
        <p:nvSpPr>
          <p:cNvPr id="355" name="Google Shape;355;p23"/>
          <p:cNvSpPr txBox="1"/>
          <p:nvPr/>
        </p:nvSpPr>
        <p:spPr>
          <a:xfrm>
            <a:off x="6500000" y="2505000"/>
            <a:ext cx="44499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0">
                <a:solidFill>
                  <a:srgbClr val="233247"/>
                </a:solidFill>
              </a:rPr>
              <a:t>requests.get() and BeautifulSoup</a:t>
            </a:r>
            <a:endParaRPr sz="1420">
              <a:solidFill>
                <a:srgbClr val="233247"/>
              </a:solidFill>
            </a:endParaRPr>
          </a:p>
        </p:txBody>
      </p:sp>
      <p:sp>
        <p:nvSpPr>
          <p:cNvPr id="356" name="Google Shape;356;p23"/>
          <p:cNvSpPr txBox="1"/>
          <p:nvPr/>
        </p:nvSpPr>
        <p:spPr>
          <a:xfrm>
            <a:off x="6500000" y="2870000"/>
            <a:ext cx="43500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07F88"/>
                </a:solidFill>
              </a:rPr>
              <a:t>TABLE EXTRACTION</a:t>
            </a:r>
            <a:endParaRPr b="1" sz="1050">
              <a:solidFill>
                <a:srgbClr val="007F88"/>
              </a:solidFill>
            </a:endParaRPr>
          </a:p>
        </p:txBody>
      </p:sp>
      <p:sp>
        <p:nvSpPr>
          <p:cNvPr id="357" name="Google Shape;357;p23"/>
          <p:cNvSpPr txBox="1"/>
          <p:nvPr/>
        </p:nvSpPr>
        <p:spPr>
          <a:xfrm>
            <a:off x="6500000" y="3045000"/>
            <a:ext cx="44499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0">
                <a:solidFill>
                  <a:srgbClr val="233247"/>
                </a:solidFill>
              </a:rPr>
              <a:t>Read launch table headers and rows</a:t>
            </a:r>
            <a:endParaRPr sz="1420">
              <a:solidFill>
                <a:srgbClr val="233247"/>
              </a:solidFill>
            </a:endParaRPr>
          </a:p>
        </p:txBody>
      </p:sp>
      <p:sp>
        <p:nvSpPr>
          <p:cNvPr id="358" name="Google Shape;358;p23"/>
          <p:cNvSpPr txBox="1"/>
          <p:nvPr/>
        </p:nvSpPr>
        <p:spPr>
          <a:xfrm>
            <a:off x="6500000" y="3410000"/>
            <a:ext cx="43500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07F88"/>
                </a:solidFill>
              </a:rPr>
              <a:t>SAVED RESULT</a:t>
            </a:r>
            <a:endParaRPr b="1" sz="1050">
              <a:solidFill>
                <a:srgbClr val="007F88"/>
              </a:solidFill>
            </a:endParaRPr>
          </a:p>
        </p:txBody>
      </p:sp>
      <p:sp>
        <p:nvSpPr>
          <p:cNvPr id="359" name="Google Shape;359;p23"/>
          <p:cNvSpPr txBox="1"/>
          <p:nvPr/>
        </p:nvSpPr>
        <p:spPr>
          <a:xfrm>
            <a:off x="6500000" y="3585000"/>
            <a:ext cx="44499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0">
                <a:solidFill>
                  <a:srgbClr val="233247"/>
                </a:solidFill>
              </a:rPr>
              <a:t>121 records · 11 fields · CSV export</a:t>
            </a:r>
            <a:endParaRPr sz="1420">
              <a:solidFill>
                <a:srgbClr val="233247"/>
              </a:solidFill>
            </a:endParaRPr>
          </a:p>
        </p:txBody>
      </p:sp>
      <p:sp>
        <p:nvSpPr>
          <p:cNvPr id="360" name="Google Shape;360;p23"/>
          <p:cNvSpPr txBox="1"/>
          <p:nvPr/>
        </p:nvSpPr>
        <p:spPr>
          <a:xfrm>
            <a:off x="1230000" y="4281262"/>
            <a:ext cx="10100100" cy="2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30" u="sng">
                <a:solidFill>
                  <a:srgbClr val="007F88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https://github.com/treinart/IBM-Data-Science-Professional-Certificate/blob/main/10_Applied%20Data%20Science%20Capstone/Module%201/jupyter-labs-webscraping.ipynb</a:t>
            </a:r>
            <a:endParaRPr sz="930" u="sng">
              <a:solidFill>
                <a:srgbClr val="007F88"/>
              </a:solidFill>
            </a:endParaRPr>
          </a:p>
        </p:txBody>
      </p:sp>
      <p:sp>
        <p:nvSpPr>
          <p:cNvPr id="361" name="Google Shape;361;p23"/>
          <p:cNvSpPr txBox="1"/>
          <p:nvPr/>
        </p:nvSpPr>
        <p:spPr>
          <a:xfrm>
            <a:off x="850000" y="4530000"/>
            <a:ext cx="104001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07F88"/>
                </a:solidFill>
              </a:rPr>
              <a:t>NOTEBOOK OUTPUT  ·  FIRST FIVE SCRAPED LAUNCHES</a:t>
            </a:r>
            <a:endParaRPr b="1" sz="1050">
              <a:solidFill>
                <a:srgbClr val="007F88"/>
              </a:solidFill>
            </a:endParaRPr>
          </a:p>
        </p:txBody>
      </p:sp>
      <p:pic>
        <p:nvPicPr>
          <p:cNvPr id="362" name="Google Shape;362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50000" y="4780132"/>
            <a:ext cx="10399999" cy="1467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23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0000" y="4294727"/>
            <a:ext cx="240000" cy="2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2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603127" y="1380000"/>
            <a:ext cx="3991676" cy="2966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4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0" name="Google Shape;370;p24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Data Wrangling</a:t>
            </a:r>
            <a:endParaRPr b="1" i="0" sz="37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4"/>
          <p:cNvSpPr/>
          <p:nvPr/>
        </p:nvSpPr>
        <p:spPr>
          <a:xfrm>
            <a:off x="850000" y="1380000"/>
            <a:ext cx="5049900" cy="2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24"/>
          <p:cNvSpPr/>
          <p:nvPr/>
        </p:nvSpPr>
        <p:spPr>
          <a:xfrm>
            <a:off x="850000" y="1380000"/>
            <a:ext cx="5049900" cy="519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24"/>
          <p:cNvSpPr txBox="1"/>
          <p:nvPr/>
        </p:nvSpPr>
        <p:spPr>
          <a:xfrm>
            <a:off x="1100000" y="1490000"/>
            <a:ext cx="44001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B45309"/>
                </a:solidFill>
              </a:rPr>
              <a:t>KEY PHRASES</a:t>
            </a:r>
            <a:endParaRPr b="1" sz="1200">
              <a:solidFill>
                <a:srgbClr val="B45309"/>
              </a:solidFill>
            </a:endParaRPr>
          </a:p>
        </p:txBody>
      </p:sp>
      <p:sp>
        <p:nvSpPr>
          <p:cNvPr id="374" name="Google Shape;374;p24"/>
          <p:cNvSpPr txBox="1"/>
          <p:nvPr/>
        </p:nvSpPr>
        <p:spPr>
          <a:xfrm>
            <a:off x="1100000" y="1790000"/>
            <a:ext cx="43500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B45309"/>
                </a:solidFill>
              </a:rPr>
              <a:t>INPUT</a:t>
            </a:r>
            <a:endParaRPr b="1" sz="1050">
              <a:solidFill>
                <a:srgbClr val="B45309"/>
              </a:solidFill>
            </a:endParaRPr>
          </a:p>
        </p:txBody>
      </p:sp>
      <p:sp>
        <p:nvSpPr>
          <p:cNvPr id="375" name="Google Shape;375;p24"/>
          <p:cNvSpPr txBox="1"/>
          <p:nvPr/>
        </p:nvSpPr>
        <p:spPr>
          <a:xfrm>
            <a:off x="1100000" y="1965000"/>
            <a:ext cx="44499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0">
                <a:solidFill>
                  <a:srgbClr val="233247"/>
                </a:solidFill>
              </a:rPr>
              <a:t>dataset_part_1.csv · 90 Falcon 9 launches</a:t>
            </a:r>
            <a:endParaRPr sz="1420">
              <a:solidFill>
                <a:srgbClr val="233247"/>
              </a:solidFill>
            </a:endParaRPr>
          </a:p>
        </p:txBody>
      </p:sp>
      <p:sp>
        <p:nvSpPr>
          <p:cNvPr id="376" name="Google Shape;376;p24"/>
          <p:cNvSpPr txBox="1"/>
          <p:nvPr/>
        </p:nvSpPr>
        <p:spPr>
          <a:xfrm>
            <a:off x="1100000" y="2330000"/>
            <a:ext cx="43500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B45309"/>
                </a:solidFill>
              </a:rPr>
              <a:t>DATA CHECKS</a:t>
            </a:r>
            <a:endParaRPr b="1" sz="1050">
              <a:solidFill>
                <a:srgbClr val="B45309"/>
              </a:solidFill>
            </a:endParaRPr>
          </a:p>
        </p:txBody>
      </p:sp>
      <p:sp>
        <p:nvSpPr>
          <p:cNvPr id="377" name="Google Shape;377;p24"/>
          <p:cNvSpPr txBox="1"/>
          <p:nvPr/>
        </p:nvSpPr>
        <p:spPr>
          <a:xfrm>
            <a:off x="1100000" y="2505000"/>
            <a:ext cx="44499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0">
                <a:solidFill>
                  <a:srgbClr val="233247"/>
                </a:solidFill>
              </a:rPr>
              <a:t>Missing values, data types, site and orbit counts</a:t>
            </a:r>
            <a:endParaRPr sz="1420">
              <a:solidFill>
                <a:srgbClr val="233247"/>
              </a:solidFill>
            </a:endParaRPr>
          </a:p>
        </p:txBody>
      </p:sp>
      <p:sp>
        <p:nvSpPr>
          <p:cNvPr id="378" name="Google Shape;378;p24"/>
          <p:cNvSpPr txBox="1"/>
          <p:nvPr/>
        </p:nvSpPr>
        <p:spPr>
          <a:xfrm>
            <a:off x="1100000" y="2870000"/>
            <a:ext cx="43500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B45309"/>
                </a:solidFill>
              </a:rPr>
              <a:t>LANDING TARGET</a:t>
            </a:r>
            <a:endParaRPr b="1" sz="1050">
              <a:solidFill>
                <a:srgbClr val="B45309"/>
              </a:solidFill>
            </a:endParaRPr>
          </a:p>
        </p:txBody>
      </p:sp>
      <p:sp>
        <p:nvSpPr>
          <p:cNvPr id="379" name="Google Shape;379;p24"/>
          <p:cNvSpPr txBox="1"/>
          <p:nvPr/>
        </p:nvSpPr>
        <p:spPr>
          <a:xfrm>
            <a:off x="1100000" y="3045000"/>
            <a:ext cx="44499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0">
                <a:solidFill>
                  <a:srgbClr val="233247"/>
                </a:solidFill>
              </a:rPr>
              <a:t>Outcome → Class: 1 success, 0 otherwise</a:t>
            </a:r>
            <a:endParaRPr sz="1420">
              <a:solidFill>
                <a:srgbClr val="233247"/>
              </a:solidFill>
            </a:endParaRPr>
          </a:p>
        </p:txBody>
      </p:sp>
      <p:sp>
        <p:nvSpPr>
          <p:cNvPr id="380" name="Google Shape;380;p24"/>
          <p:cNvSpPr txBox="1"/>
          <p:nvPr/>
        </p:nvSpPr>
        <p:spPr>
          <a:xfrm>
            <a:off x="1100000" y="3410000"/>
            <a:ext cx="43500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B45309"/>
                </a:solidFill>
              </a:rPr>
              <a:t>OUTPUT</a:t>
            </a:r>
            <a:endParaRPr b="1" sz="1050">
              <a:solidFill>
                <a:srgbClr val="B45309"/>
              </a:solidFill>
            </a:endParaRPr>
          </a:p>
        </p:txBody>
      </p:sp>
      <p:sp>
        <p:nvSpPr>
          <p:cNvPr id="381" name="Google Shape;381;p24"/>
          <p:cNvSpPr txBox="1"/>
          <p:nvPr/>
        </p:nvSpPr>
        <p:spPr>
          <a:xfrm>
            <a:off x="1100000" y="3585000"/>
            <a:ext cx="44499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0">
                <a:solidFill>
                  <a:srgbClr val="233247"/>
                </a:solidFill>
              </a:rPr>
              <a:t>dataset_part_2.csv · 90 rows, 18 fields</a:t>
            </a:r>
            <a:endParaRPr sz="1420">
              <a:solidFill>
                <a:srgbClr val="233247"/>
              </a:solidFill>
            </a:endParaRPr>
          </a:p>
        </p:txBody>
      </p:sp>
      <p:sp>
        <p:nvSpPr>
          <p:cNvPr id="382" name="Google Shape;382;p24"/>
          <p:cNvSpPr txBox="1"/>
          <p:nvPr/>
        </p:nvSpPr>
        <p:spPr>
          <a:xfrm>
            <a:off x="1230000" y="4140000"/>
            <a:ext cx="10342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30" u="sng">
                <a:solidFill>
                  <a:srgbClr val="B4530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https://github.com/treinart/IBM-Data-Science-Professional-Certificate/blob/main/10_Applied%20Data%20Science%20Capstone/Module%201/labs-jupyter-spacex-Data%20wrangling-v2.ipynb</a:t>
            </a:r>
            <a:endParaRPr sz="930" u="sng">
              <a:solidFill>
                <a:srgbClr val="B45309"/>
              </a:solidFill>
            </a:endParaRPr>
          </a:p>
        </p:txBody>
      </p:sp>
      <p:pic>
        <p:nvPicPr>
          <p:cNvPr id="383" name="Google Shape;383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89575" y="4552303"/>
            <a:ext cx="9876451" cy="203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24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0000" y="4110000"/>
            <a:ext cx="240000" cy="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24"/>
          <p:cNvSpPr txBox="1"/>
          <p:nvPr/>
        </p:nvSpPr>
        <p:spPr>
          <a:xfrm>
            <a:off x="850000" y="4302203"/>
            <a:ext cx="104001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B45309"/>
                </a:solidFill>
              </a:rPr>
              <a:t>NOTEBOOK OUTPUT  ·  FIRST TEN WRANGLED LAUNCHES</a:t>
            </a:r>
            <a:endParaRPr b="1" sz="1050">
              <a:solidFill>
                <a:srgbClr val="B45309"/>
              </a:solidFill>
            </a:endParaRPr>
          </a:p>
        </p:txBody>
      </p:sp>
      <p:pic>
        <p:nvPicPr>
          <p:cNvPr id="386" name="Google Shape;386;p24"/>
          <p:cNvPicPr preferRelativeResize="0"/>
          <p:nvPr/>
        </p:nvPicPr>
        <p:blipFill rotWithShape="1">
          <a:blip r:embed="rId8">
            <a:alphaModFix/>
          </a:blip>
          <a:srcRect b="0" l="3119" r="2949" t="0"/>
          <a:stretch/>
        </p:blipFill>
        <p:spPr>
          <a:xfrm>
            <a:off x="6258975" y="1353825"/>
            <a:ext cx="4791024" cy="2870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25"/>
          <p:cNvSpPr txBox="1"/>
          <p:nvPr/>
        </p:nvSpPr>
        <p:spPr>
          <a:xfrm>
            <a:off x="762000" y="400050"/>
            <a:ext cx="10668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EDA with Data Visualization</a:t>
            </a:r>
            <a:endParaRPr b="1" sz="30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2" name="Google Shape;392;p25"/>
          <p:cNvGrpSpPr/>
          <p:nvPr/>
        </p:nvGrpSpPr>
        <p:grpSpPr>
          <a:xfrm>
            <a:off x="762000" y="952500"/>
            <a:ext cx="10668000" cy="2800500"/>
            <a:chOff x="762000" y="952500"/>
            <a:chExt cx="10668000" cy="2800500"/>
          </a:xfrm>
        </p:grpSpPr>
        <p:sp>
          <p:nvSpPr>
            <p:cNvPr id="393" name="Google Shape;393;p25"/>
            <p:cNvSpPr/>
            <p:nvPr/>
          </p:nvSpPr>
          <p:spPr>
            <a:xfrm>
              <a:off x="762000" y="952500"/>
              <a:ext cx="10668000" cy="266700"/>
            </a:xfrm>
            <a:prstGeom prst="roundRect">
              <a:avLst>
                <a:gd fmla="val 14285" name="adj"/>
              </a:avLst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25"/>
            <p:cNvSpPr txBox="1"/>
            <p:nvPr/>
          </p:nvSpPr>
          <p:spPr>
            <a:xfrm>
              <a:off x="914400" y="952500"/>
              <a:ext cx="25719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CHART TITLE</a:t>
              </a:r>
              <a:endParaRPr b="1" sz="8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25"/>
            <p:cNvSpPr txBox="1"/>
            <p:nvPr/>
          </p:nvSpPr>
          <p:spPr>
            <a:xfrm>
              <a:off x="3619500" y="952500"/>
              <a:ext cx="11430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CHART TYPE</a:t>
              </a:r>
              <a:endParaRPr b="1" sz="8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25"/>
            <p:cNvSpPr txBox="1"/>
            <p:nvPr/>
          </p:nvSpPr>
          <p:spPr>
            <a:xfrm>
              <a:off x="4953000" y="952500"/>
              <a:ext cx="62865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REASON FOR USING IT</a:t>
              </a:r>
              <a:endParaRPr b="1" sz="8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97" name="Google Shape;397;p25"/>
            <p:cNvGrpSpPr/>
            <p:nvPr/>
          </p:nvGrpSpPr>
          <p:grpSpPr>
            <a:xfrm>
              <a:off x="762000" y="1257300"/>
              <a:ext cx="10668000" cy="324000"/>
              <a:chOff x="0" y="0"/>
              <a:chExt cx="10668000" cy="324000"/>
            </a:xfrm>
          </p:grpSpPr>
          <p:sp>
            <p:nvSpPr>
              <p:cNvPr id="398" name="Google Shape;398;p25"/>
              <p:cNvSpPr/>
              <p:nvPr/>
            </p:nvSpPr>
            <p:spPr>
              <a:xfrm>
                <a:off x="0" y="0"/>
                <a:ext cx="10668000" cy="324000"/>
              </a:xfrm>
              <a:prstGeom prst="roundRect">
                <a:avLst>
                  <a:gd fmla="val 17647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9" name="Google Shape;399;p25"/>
              <p:cNvSpPr txBox="1"/>
              <p:nvPr/>
            </p:nvSpPr>
            <p:spPr>
              <a:xfrm>
                <a:off x="152400" y="0"/>
                <a:ext cx="25719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0F172A"/>
                    </a:solidFill>
                    <a:latin typeface="Arial"/>
                    <a:ea typeface="Arial"/>
                    <a:cs typeface="Arial"/>
                    <a:sym typeface="Arial"/>
                  </a:rPr>
                  <a:t>Flight Number vs. Payload Mass</a:t>
                </a:r>
                <a:endParaRPr b="1" sz="9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0" name="Google Shape;400;p25"/>
              <p:cNvSpPr/>
              <p:nvPr/>
            </p:nvSpPr>
            <p:spPr>
              <a:xfrm>
                <a:off x="2857500" y="57150"/>
                <a:ext cx="952500" cy="209700"/>
              </a:xfrm>
              <a:prstGeom prst="roundRect">
                <a:avLst>
                  <a:gd fmla="val 50000" name="adj"/>
                </a:avLst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1" name="Google Shape;401;p25"/>
              <p:cNvSpPr txBox="1"/>
              <p:nvPr/>
            </p:nvSpPr>
            <p:spPr>
              <a:xfrm>
                <a:off x="2857500" y="57150"/>
                <a:ext cx="9525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850">
                    <a:solidFill>
                      <a:srgbClr val="1D4ED8"/>
                    </a:solidFill>
                    <a:latin typeface="Arial"/>
                    <a:ea typeface="Arial"/>
                    <a:cs typeface="Arial"/>
                    <a:sym typeface="Arial"/>
                  </a:rPr>
                  <a:t>Scatter plot</a:t>
                </a:r>
                <a:endParaRPr b="1" sz="85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2" name="Google Shape;402;p25"/>
              <p:cNvSpPr txBox="1"/>
              <p:nvPr/>
            </p:nvSpPr>
            <p:spPr>
              <a:xfrm>
                <a:off x="4191000" y="0"/>
                <a:ext cx="6286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Keeps each launch visible across flight order and payload weight; grouping the data would hide individual landing outcomes.</a:t>
                </a:r>
                <a:endParaRPr sz="9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3" name="Google Shape;403;p25"/>
            <p:cNvGrpSpPr/>
            <p:nvPr/>
          </p:nvGrpSpPr>
          <p:grpSpPr>
            <a:xfrm>
              <a:off x="762000" y="1619250"/>
              <a:ext cx="10668000" cy="324000"/>
              <a:chOff x="0" y="0"/>
              <a:chExt cx="10668000" cy="324000"/>
            </a:xfrm>
          </p:grpSpPr>
          <p:sp>
            <p:nvSpPr>
              <p:cNvPr id="404" name="Google Shape;404;p25"/>
              <p:cNvSpPr/>
              <p:nvPr/>
            </p:nvSpPr>
            <p:spPr>
              <a:xfrm>
                <a:off x="0" y="0"/>
                <a:ext cx="10668000" cy="324000"/>
              </a:xfrm>
              <a:prstGeom prst="roundRect">
                <a:avLst>
                  <a:gd fmla="val 17647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5" name="Google Shape;405;p25"/>
              <p:cNvSpPr txBox="1"/>
              <p:nvPr/>
            </p:nvSpPr>
            <p:spPr>
              <a:xfrm>
                <a:off x="152400" y="0"/>
                <a:ext cx="25719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0F172A"/>
                    </a:solidFill>
                    <a:latin typeface="Arial"/>
                    <a:ea typeface="Arial"/>
                    <a:cs typeface="Arial"/>
                    <a:sym typeface="Arial"/>
                  </a:rPr>
                  <a:t>Flight Number by Launch Site</a:t>
                </a:r>
                <a:endParaRPr b="1" sz="9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6" name="Google Shape;406;p25"/>
              <p:cNvSpPr/>
              <p:nvPr/>
            </p:nvSpPr>
            <p:spPr>
              <a:xfrm>
                <a:off x="2857500" y="57150"/>
                <a:ext cx="952500" cy="209700"/>
              </a:xfrm>
              <a:prstGeom prst="roundRect">
                <a:avLst>
                  <a:gd fmla="val 50000" name="adj"/>
                </a:avLst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7" name="Google Shape;407;p25"/>
              <p:cNvSpPr txBox="1"/>
              <p:nvPr/>
            </p:nvSpPr>
            <p:spPr>
              <a:xfrm>
                <a:off x="2857500" y="57150"/>
                <a:ext cx="9525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850">
                    <a:solidFill>
                      <a:srgbClr val="1D4ED8"/>
                    </a:solidFill>
                    <a:latin typeface="Arial"/>
                    <a:ea typeface="Arial"/>
                    <a:cs typeface="Arial"/>
                    <a:sym typeface="Arial"/>
                  </a:rPr>
                  <a:t>Scatter plot</a:t>
                </a:r>
                <a:endParaRPr b="1" sz="85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8" name="Google Shape;408;p25"/>
              <p:cNvSpPr txBox="1"/>
              <p:nvPr/>
            </p:nvSpPr>
            <p:spPr>
              <a:xfrm>
                <a:off x="4191000" y="0"/>
                <a:ext cx="6286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Separates each site’s flight history so the overall trend does not stand in for every site.</a:t>
                </a:r>
                <a:endParaRPr sz="9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9" name="Google Shape;409;p25"/>
            <p:cNvGrpSpPr/>
            <p:nvPr/>
          </p:nvGrpSpPr>
          <p:grpSpPr>
            <a:xfrm>
              <a:off x="762000" y="1981200"/>
              <a:ext cx="10668000" cy="324000"/>
              <a:chOff x="0" y="0"/>
              <a:chExt cx="10668000" cy="324000"/>
            </a:xfrm>
          </p:grpSpPr>
          <p:sp>
            <p:nvSpPr>
              <p:cNvPr id="410" name="Google Shape;410;p25"/>
              <p:cNvSpPr/>
              <p:nvPr/>
            </p:nvSpPr>
            <p:spPr>
              <a:xfrm>
                <a:off x="0" y="0"/>
                <a:ext cx="10668000" cy="324000"/>
              </a:xfrm>
              <a:prstGeom prst="roundRect">
                <a:avLst>
                  <a:gd fmla="val 17647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1" name="Google Shape;411;p25"/>
              <p:cNvSpPr txBox="1"/>
              <p:nvPr/>
            </p:nvSpPr>
            <p:spPr>
              <a:xfrm>
                <a:off x="152400" y="0"/>
                <a:ext cx="25719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0F172A"/>
                    </a:solidFill>
                    <a:latin typeface="Arial"/>
                    <a:ea typeface="Arial"/>
                    <a:cs typeface="Arial"/>
                    <a:sym typeface="Arial"/>
                  </a:rPr>
                  <a:t>Payload Mass by Launch Site</a:t>
                </a:r>
                <a:endParaRPr b="1" sz="9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2" name="Google Shape;412;p25"/>
              <p:cNvSpPr/>
              <p:nvPr/>
            </p:nvSpPr>
            <p:spPr>
              <a:xfrm>
                <a:off x="2857500" y="57150"/>
                <a:ext cx="952500" cy="209700"/>
              </a:xfrm>
              <a:prstGeom prst="roundRect">
                <a:avLst>
                  <a:gd fmla="val 50000" name="adj"/>
                </a:avLst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3" name="Google Shape;413;p25"/>
              <p:cNvSpPr txBox="1"/>
              <p:nvPr/>
            </p:nvSpPr>
            <p:spPr>
              <a:xfrm>
                <a:off x="2857500" y="57150"/>
                <a:ext cx="9525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850">
                    <a:solidFill>
                      <a:srgbClr val="1D4ED8"/>
                    </a:solidFill>
                    <a:latin typeface="Arial"/>
                    <a:ea typeface="Arial"/>
                    <a:cs typeface="Arial"/>
                    <a:sym typeface="Arial"/>
                  </a:rPr>
                  <a:t>Scatter plot</a:t>
                </a:r>
                <a:endParaRPr b="1" sz="85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4" name="Google Shape;414;p25"/>
              <p:cNvSpPr txBox="1"/>
              <p:nvPr/>
            </p:nvSpPr>
            <p:spPr>
              <a:xfrm>
                <a:off x="4191000" y="0"/>
                <a:ext cx="6286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Shows the payload range at each site; an average would conceal which weights were never flown there.</a:t>
                </a:r>
                <a:endParaRPr sz="9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15" name="Google Shape;415;p25"/>
            <p:cNvGrpSpPr/>
            <p:nvPr/>
          </p:nvGrpSpPr>
          <p:grpSpPr>
            <a:xfrm>
              <a:off x="762000" y="2343150"/>
              <a:ext cx="10668000" cy="324000"/>
              <a:chOff x="0" y="0"/>
              <a:chExt cx="10668000" cy="324000"/>
            </a:xfrm>
          </p:grpSpPr>
          <p:sp>
            <p:nvSpPr>
              <p:cNvPr id="416" name="Google Shape;416;p25"/>
              <p:cNvSpPr/>
              <p:nvPr/>
            </p:nvSpPr>
            <p:spPr>
              <a:xfrm>
                <a:off x="0" y="0"/>
                <a:ext cx="10668000" cy="324000"/>
              </a:xfrm>
              <a:prstGeom prst="roundRect">
                <a:avLst>
                  <a:gd fmla="val 17647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7" name="Google Shape;417;p25"/>
              <p:cNvSpPr txBox="1"/>
              <p:nvPr/>
            </p:nvSpPr>
            <p:spPr>
              <a:xfrm>
                <a:off x="152400" y="0"/>
                <a:ext cx="25719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0F172A"/>
                    </a:solidFill>
                    <a:latin typeface="Arial"/>
                    <a:ea typeface="Arial"/>
                    <a:cs typeface="Arial"/>
                    <a:sym typeface="Arial"/>
                  </a:rPr>
                  <a:t>Average Landing Success Rate by Orbit</a:t>
                </a:r>
                <a:endParaRPr b="1" sz="9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8" name="Google Shape;418;p25"/>
              <p:cNvSpPr/>
              <p:nvPr/>
            </p:nvSpPr>
            <p:spPr>
              <a:xfrm>
                <a:off x="2857500" y="57150"/>
                <a:ext cx="952500" cy="209700"/>
              </a:xfrm>
              <a:prstGeom prst="roundRect">
                <a:avLst>
                  <a:gd fmla="val 50000" name="adj"/>
                </a:avLst>
              </a:prstGeom>
              <a:solidFill>
                <a:srgbClr val="ECFDF5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9" name="Google Shape;419;p25"/>
              <p:cNvSpPr txBox="1"/>
              <p:nvPr/>
            </p:nvSpPr>
            <p:spPr>
              <a:xfrm>
                <a:off x="2857500" y="57150"/>
                <a:ext cx="9525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850">
                    <a:solidFill>
                      <a:srgbClr val="059669"/>
                    </a:solidFill>
                    <a:latin typeface="Arial"/>
                    <a:ea typeface="Arial"/>
                    <a:cs typeface="Arial"/>
                    <a:sym typeface="Arial"/>
                  </a:rPr>
                  <a:t>Bar chart</a:t>
                </a:r>
                <a:endParaRPr b="1" sz="850">
                  <a:solidFill>
                    <a:srgbClr val="059669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25"/>
              <p:cNvSpPr txBox="1"/>
              <p:nvPr/>
            </p:nvSpPr>
            <p:spPr>
              <a:xfrm>
                <a:off x="4191000" y="0"/>
                <a:ext cx="6286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Orbit types are separate categories, so bars put their success rates on a common scale.</a:t>
                </a:r>
                <a:endParaRPr sz="9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25"/>
            <p:cNvGrpSpPr/>
            <p:nvPr/>
          </p:nvGrpSpPr>
          <p:grpSpPr>
            <a:xfrm>
              <a:off x="762000" y="2705100"/>
              <a:ext cx="10668000" cy="324000"/>
              <a:chOff x="0" y="0"/>
              <a:chExt cx="10668000" cy="324000"/>
            </a:xfrm>
          </p:grpSpPr>
          <p:sp>
            <p:nvSpPr>
              <p:cNvPr id="422" name="Google Shape;422;p25"/>
              <p:cNvSpPr/>
              <p:nvPr/>
            </p:nvSpPr>
            <p:spPr>
              <a:xfrm>
                <a:off x="0" y="0"/>
                <a:ext cx="10668000" cy="324000"/>
              </a:xfrm>
              <a:prstGeom prst="roundRect">
                <a:avLst>
                  <a:gd fmla="val 17647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3" name="Google Shape;423;p25"/>
              <p:cNvSpPr txBox="1"/>
              <p:nvPr/>
            </p:nvSpPr>
            <p:spPr>
              <a:xfrm>
                <a:off x="152400" y="0"/>
                <a:ext cx="25719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0F172A"/>
                    </a:solidFill>
                    <a:latin typeface="Arial"/>
                    <a:ea typeface="Arial"/>
                    <a:cs typeface="Arial"/>
                    <a:sym typeface="Arial"/>
                  </a:rPr>
                  <a:t>Flight Number by Orbit Type</a:t>
                </a:r>
                <a:endParaRPr b="1" sz="9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25"/>
              <p:cNvSpPr/>
              <p:nvPr/>
            </p:nvSpPr>
            <p:spPr>
              <a:xfrm>
                <a:off x="2857500" y="57150"/>
                <a:ext cx="952500" cy="209700"/>
              </a:xfrm>
              <a:prstGeom prst="roundRect">
                <a:avLst>
                  <a:gd fmla="val 50000" name="adj"/>
                </a:avLst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5" name="Google Shape;425;p25"/>
              <p:cNvSpPr txBox="1"/>
              <p:nvPr/>
            </p:nvSpPr>
            <p:spPr>
              <a:xfrm>
                <a:off x="2857500" y="57150"/>
                <a:ext cx="9525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850">
                    <a:solidFill>
                      <a:srgbClr val="1D4ED8"/>
                    </a:solidFill>
                    <a:latin typeface="Arial"/>
                    <a:ea typeface="Arial"/>
                    <a:cs typeface="Arial"/>
                    <a:sym typeface="Arial"/>
                  </a:rPr>
                  <a:t>Scatter plot</a:t>
                </a:r>
                <a:endParaRPr b="1" sz="85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6" name="Google Shape;426;p25"/>
              <p:cNvSpPr txBox="1"/>
              <p:nvPr/>
            </p:nvSpPr>
            <p:spPr>
              <a:xfrm>
                <a:off x="4191000" y="0"/>
                <a:ext cx="6286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Shows whether the pattern across later flights holds within each orbit type.</a:t>
                </a:r>
                <a:endParaRPr sz="9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7" name="Google Shape;427;p25"/>
            <p:cNvGrpSpPr/>
            <p:nvPr/>
          </p:nvGrpSpPr>
          <p:grpSpPr>
            <a:xfrm>
              <a:off x="762000" y="3067050"/>
              <a:ext cx="10668000" cy="324000"/>
              <a:chOff x="0" y="0"/>
              <a:chExt cx="10668000" cy="324000"/>
            </a:xfrm>
          </p:grpSpPr>
          <p:sp>
            <p:nvSpPr>
              <p:cNvPr id="428" name="Google Shape;428;p25"/>
              <p:cNvSpPr/>
              <p:nvPr/>
            </p:nvSpPr>
            <p:spPr>
              <a:xfrm>
                <a:off x="0" y="0"/>
                <a:ext cx="10668000" cy="324000"/>
              </a:xfrm>
              <a:prstGeom prst="roundRect">
                <a:avLst>
                  <a:gd fmla="val 17647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9" name="Google Shape;429;p25"/>
              <p:cNvSpPr txBox="1"/>
              <p:nvPr/>
            </p:nvSpPr>
            <p:spPr>
              <a:xfrm>
                <a:off x="152400" y="0"/>
                <a:ext cx="25719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0F172A"/>
                    </a:solidFill>
                    <a:latin typeface="Arial"/>
                    <a:ea typeface="Arial"/>
                    <a:cs typeface="Arial"/>
                    <a:sym typeface="Arial"/>
                  </a:rPr>
                  <a:t>Payload Mass by Orbit Type</a:t>
                </a:r>
                <a:endParaRPr b="1" sz="9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0" name="Google Shape;430;p25"/>
              <p:cNvSpPr/>
              <p:nvPr/>
            </p:nvSpPr>
            <p:spPr>
              <a:xfrm>
                <a:off x="2857500" y="57150"/>
                <a:ext cx="952500" cy="209700"/>
              </a:xfrm>
              <a:prstGeom prst="roundRect">
                <a:avLst>
                  <a:gd fmla="val 50000" name="adj"/>
                </a:avLst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" name="Google Shape;431;p25"/>
              <p:cNvSpPr txBox="1"/>
              <p:nvPr/>
            </p:nvSpPr>
            <p:spPr>
              <a:xfrm>
                <a:off x="2857500" y="57150"/>
                <a:ext cx="9525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850">
                    <a:solidFill>
                      <a:srgbClr val="1D4ED8"/>
                    </a:solidFill>
                    <a:latin typeface="Arial"/>
                    <a:ea typeface="Arial"/>
                    <a:cs typeface="Arial"/>
                    <a:sym typeface="Arial"/>
                  </a:rPr>
                  <a:t>Scatter plot</a:t>
                </a:r>
                <a:endParaRPr b="1" sz="85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25"/>
              <p:cNvSpPr txBox="1"/>
              <p:nvPr/>
            </p:nvSpPr>
            <p:spPr>
              <a:xfrm>
                <a:off x="4191000" y="0"/>
                <a:ext cx="6286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Keeps the payload ranges of different orbit types separate when reading landing outcomes.</a:t>
                </a:r>
                <a:endParaRPr sz="9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25"/>
            <p:cNvGrpSpPr/>
            <p:nvPr/>
          </p:nvGrpSpPr>
          <p:grpSpPr>
            <a:xfrm>
              <a:off x="762000" y="3429000"/>
              <a:ext cx="10668000" cy="324000"/>
              <a:chOff x="0" y="0"/>
              <a:chExt cx="10668000" cy="324000"/>
            </a:xfrm>
          </p:grpSpPr>
          <p:sp>
            <p:nvSpPr>
              <p:cNvPr id="434" name="Google Shape;434;p25"/>
              <p:cNvSpPr/>
              <p:nvPr/>
            </p:nvSpPr>
            <p:spPr>
              <a:xfrm>
                <a:off x="0" y="0"/>
                <a:ext cx="10668000" cy="324000"/>
              </a:xfrm>
              <a:prstGeom prst="roundRect">
                <a:avLst>
                  <a:gd fmla="val 17647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5" name="Google Shape;435;p25"/>
              <p:cNvSpPr txBox="1"/>
              <p:nvPr/>
            </p:nvSpPr>
            <p:spPr>
              <a:xfrm>
                <a:off x="152400" y="0"/>
                <a:ext cx="25719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0F172A"/>
                    </a:solidFill>
                    <a:latin typeface="Arial"/>
                    <a:ea typeface="Arial"/>
                    <a:cs typeface="Arial"/>
                    <a:sym typeface="Arial"/>
                  </a:rPr>
                  <a:t>Average Landing Success Rate by Year</a:t>
                </a:r>
                <a:endParaRPr b="1" sz="9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25"/>
              <p:cNvSpPr/>
              <p:nvPr/>
            </p:nvSpPr>
            <p:spPr>
              <a:xfrm>
                <a:off x="2857500" y="57150"/>
                <a:ext cx="952500" cy="209700"/>
              </a:xfrm>
              <a:prstGeom prst="roundRect">
                <a:avLst>
                  <a:gd fmla="val 50000" name="adj"/>
                </a:avLst>
              </a:prstGeom>
              <a:solidFill>
                <a:srgbClr val="F5F3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7" name="Google Shape;437;p25"/>
              <p:cNvSpPr txBox="1"/>
              <p:nvPr/>
            </p:nvSpPr>
            <p:spPr>
              <a:xfrm>
                <a:off x="2857500" y="57150"/>
                <a:ext cx="9525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850">
                    <a:solidFill>
                      <a:srgbClr val="7C3AED"/>
                    </a:solidFill>
                    <a:latin typeface="Arial"/>
                    <a:ea typeface="Arial"/>
                    <a:cs typeface="Arial"/>
                    <a:sym typeface="Arial"/>
                  </a:rPr>
                  <a:t>Line chart</a:t>
                </a:r>
                <a:endParaRPr b="1" sz="850">
                  <a:solidFill>
                    <a:srgbClr val="7C3AE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8" name="Google Shape;438;p25"/>
              <p:cNvSpPr txBox="1"/>
              <p:nvPr/>
            </p:nvSpPr>
            <p:spPr>
              <a:xfrm>
                <a:off x="4191000" y="0"/>
                <a:ext cx="6286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Years have an order; the line shows changes and reversals in the annual rate.</a:t>
                </a:r>
                <a:endParaRPr sz="9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39" name="Google Shape;439;p25"/>
          <p:cNvGrpSpPr/>
          <p:nvPr/>
        </p:nvGrpSpPr>
        <p:grpSpPr>
          <a:xfrm>
            <a:off x="762000" y="3886200"/>
            <a:ext cx="10668000" cy="2305200"/>
            <a:chOff x="0" y="0"/>
            <a:chExt cx="10668000" cy="2305200"/>
          </a:xfrm>
        </p:grpSpPr>
        <p:sp>
          <p:nvSpPr>
            <p:cNvPr id="440" name="Google Shape;440;p25"/>
            <p:cNvSpPr/>
            <p:nvPr/>
          </p:nvSpPr>
          <p:spPr>
            <a:xfrm>
              <a:off x="0" y="0"/>
              <a:ext cx="10668000" cy="2305200"/>
            </a:xfrm>
            <a:prstGeom prst="roundRect">
              <a:avLst>
                <a:gd fmla="val 3305" name="adj"/>
              </a:avLst>
            </a:prstGeom>
            <a:solidFill>
              <a:srgbClr val="FFFFFF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25"/>
            <p:cNvSpPr txBox="1"/>
            <p:nvPr/>
          </p:nvSpPr>
          <p:spPr>
            <a:xfrm>
              <a:off x="152400" y="76200"/>
              <a:ext cx="476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SAMPLE OUTPUT · FLIGHT NUMBER VS. PAYLOAD MASS</a:t>
              </a:r>
              <a:endParaRPr b="1" sz="8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42" name="Google Shape;442;p25"/>
          <p:cNvPicPr preferRelativeResize="0"/>
          <p:nvPr/>
        </p:nvPicPr>
        <p:blipFill rotWithShape="1">
          <a:blip r:embed="rId4">
            <a:alphaModFix/>
          </a:blip>
          <a:srcRect b="1437" l="0" r="0" t="1447"/>
          <a:stretch/>
        </p:blipFill>
        <p:spPr>
          <a:xfrm>
            <a:off x="838200" y="4114800"/>
            <a:ext cx="10515600" cy="200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3" name="Google Shape;443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6343650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25"/>
          <p:cNvSpPr txBox="1"/>
          <p:nvPr/>
        </p:nvSpPr>
        <p:spPr>
          <a:xfrm>
            <a:off x="952500" y="6362700"/>
            <a:ext cx="10515600" cy="19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u="sng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https://github.com/treinart/IBM-Data-Science-Professional-Certificate/blob/main/10_Applied%20Data%20Science%20Capstone/Module%202/jupyter-labs-eda-dataviz-v2.ipynb</a:t>
            </a:r>
            <a:endParaRPr sz="100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25"/>
          <p:cNvSpPr txBox="1"/>
          <p:nvPr/>
        </p:nvSpPr>
        <p:spPr>
          <a:xfrm>
            <a:off x="11049000" y="6286500"/>
            <a:ext cx="381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1" sz="130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26"/>
          <p:cNvSpPr txBox="1"/>
          <p:nvPr/>
        </p:nvSpPr>
        <p:spPr>
          <a:xfrm>
            <a:off x="762000" y="457200"/>
            <a:ext cx="106680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6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EDA with SQL</a:t>
            </a:r>
            <a:endParaRPr b="1" sz="296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51" name="Google Shape;451;p26"/>
          <p:cNvGrpSpPr/>
          <p:nvPr/>
        </p:nvGrpSpPr>
        <p:grpSpPr>
          <a:xfrm>
            <a:off x="762000" y="1095375"/>
            <a:ext cx="10668000" cy="4381500"/>
            <a:chOff x="762000" y="1095375"/>
            <a:chExt cx="10668000" cy="4381500"/>
          </a:xfrm>
        </p:grpSpPr>
        <p:grpSp>
          <p:nvGrpSpPr>
            <p:cNvPr id="452" name="Google Shape;452;p26"/>
            <p:cNvGrpSpPr/>
            <p:nvPr/>
          </p:nvGrpSpPr>
          <p:grpSpPr>
            <a:xfrm>
              <a:off x="762000" y="1095375"/>
              <a:ext cx="5143500" cy="4381500"/>
              <a:chOff x="0" y="0"/>
              <a:chExt cx="5143500" cy="4381500"/>
            </a:xfrm>
          </p:grpSpPr>
          <p:sp>
            <p:nvSpPr>
              <p:cNvPr id="453" name="Google Shape;453;p26"/>
              <p:cNvSpPr/>
              <p:nvPr/>
            </p:nvSpPr>
            <p:spPr>
              <a:xfrm>
                <a:off x="0" y="0"/>
                <a:ext cx="5143500" cy="362100"/>
              </a:xfrm>
              <a:prstGeom prst="roundRect">
                <a:avLst>
                  <a:gd fmla="val 15789" name="adj"/>
                </a:avLst>
              </a:prstGeom>
              <a:solidFill>
                <a:srgbClr val="1E40A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4" name="Google Shape;454;p26"/>
              <p:cNvSpPr txBox="1"/>
              <p:nvPr/>
            </p:nvSpPr>
            <p:spPr>
              <a:xfrm>
                <a:off x="152400" y="0"/>
                <a:ext cx="4838700" cy="36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QUERIES 1–5</a:t>
                </a:r>
                <a:endParaRPr b="1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455" name="Google Shape;455;p26"/>
              <p:cNvGrpSpPr/>
              <p:nvPr/>
            </p:nvGrpSpPr>
            <p:grpSpPr>
              <a:xfrm>
                <a:off x="0" y="457200"/>
                <a:ext cx="5143500" cy="723900"/>
                <a:chOff x="0" y="0"/>
                <a:chExt cx="5143500" cy="723900"/>
              </a:xfrm>
            </p:grpSpPr>
            <p:sp>
              <p:nvSpPr>
                <p:cNvPr id="456" name="Google Shape;456;p26"/>
                <p:cNvSpPr/>
                <p:nvPr/>
              </p:nvSpPr>
              <p:spPr>
                <a:xfrm>
                  <a:off x="0" y="0"/>
                  <a:ext cx="5143500" cy="723900"/>
                </a:xfrm>
                <a:prstGeom prst="roundRect">
                  <a:avLst>
                    <a:gd fmla="val 10526" name="adj"/>
                  </a:avLst>
                </a:prstGeom>
                <a:solidFill>
                  <a:srgbClr val="FFFFFF"/>
                </a:solidFill>
                <a:ln cap="flat" cmpd="sng" w="14300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7" name="Google Shape;457;p26"/>
                <p:cNvSpPr/>
                <p:nvPr/>
              </p:nvSpPr>
              <p:spPr>
                <a:xfrm>
                  <a:off x="190500" y="209550"/>
                  <a:ext cx="304800" cy="304800"/>
                </a:xfrm>
                <a:prstGeom prst="ellipse">
                  <a:avLst/>
                </a:prstGeom>
                <a:solidFill>
                  <a:srgbClr val="EFF6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8" name="Google Shape;458;p26"/>
                <p:cNvSpPr txBox="1"/>
                <p:nvPr/>
              </p:nvSpPr>
              <p:spPr>
                <a:xfrm>
                  <a:off x="190500" y="209550"/>
                  <a:ext cx="3048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1100">
                      <a:solidFill>
                        <a:srgbClr val="1E40AF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01</a:t>
                  </a:r>
                  <a:endParaRPr b="1" sz="1100">
                    <a:solidFill>
                      <a:srgbClr val="1E40AF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9" name="Google Shape;459;p26"/>
                <p:cNvSpPr txBox="1"/>
                <p:nvPr/>
              </p:nvSpPr>
              <p:spPr>
                <a:xfrm>
                  <a:off x="647700" y="95250"/>
                  <a:ext cx="4343400" cy="533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List distinct launch sites with </a:t>
                  </a:r>
                  <a:r>
                    <a:rPr b="1" lang="en-US" sz="1150">
                      <a:solidFill>
                        <a:srgbClr val="1E40AF"/>
                      </a:solidFill>
                      <a:highlight>
                        <a:srgbClr val="EFF6FF"/>
                      </a:highlight>
                      <a:latin typeface="Courier New"/>
                      <a:ea typeface="Courier New"/>
                      <a:cs typeface="Courier New"/>
                      <a:sym typeface="Courier New"/>
                    </a:rPr>
                    <a:t>SELECT DISTINCT</a:t>
                  </a: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.</a:t>
                  </a:r>
                  <a:endParaRPr sz="11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0" name="Google Shape;460;p26"/>
              <p:cNvGrpSpPr/>
              <p:nvPr/>
            </p:nvGrpSpPr>
            <p:grpSpPr>
              <a:xfrm>
                <a:off x="0" y="1257300"/>
                <a:ext cx="5143500" cy="723900"/>
                <a:chOff x="0" y="0"/>
                <a:chExt cx="5143500" cy="723900"/>
              </a:xfrm>
            </p:grpSpPr>
            <p:sp>
              <p:nvSpPr>
                <p:cNvPr id="461" name="Google Shape;461;p26"/>
                <p:cNvSpPr/>
                <p:nvPr/>
              </p:nvSpPr>
              <p:spPr>
                <a:xfrm>
                  <a:off x="0" y="0"/>
                  <a:ext cx="5143500" cy="723900"/>
                </a:xfrm>
                <a:prstGeom prst="roundRect">
                  <a:avLst>
                    <a:gd fmla="val 10526" name="adj"/>
                  </a:avLst>
                </a:prstGeom>
                <a:solidFill>
                  <a:srgbClr val="FFFFFF"/>
                </a:solidFill>
                <a:ln cap="flat" cmpd="sng" w="14300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2" name="Google Shape;462;p26"/>
                <p:cNvSpPr/>
                <p:nvPr/>
              </p:nvSpPr>
              <p:spPr>
                <a:xfrm>
                  <a:off x="190500" y="209550"/>
                  <a:ext cx="304800" cy="304800"/>
                </a:xfrm>
                <a:prstGeom prst="ellipse">
                  <a:avLst/>
                </a:prstGeom>
                <a:solidFill>
                  <a:srgbClr val="EFF6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3" name="Google Shape;463;p26"/>
                <p:cNvSpPr txBox="1"/>
                <p:nvPr/>
              </p:nvSpPr>
              <p:spPr>
                <a:xfrm>
                  <a:off x="190500" y="209550"/>
                  <a:ext cx="3048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1100">
                      <a:solidFill>
                        <a:srgbClr val="1E40AF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02</a:t>
                  </a:r>
                  <a:endParaRPr b="1" sz="1100">
                    <a:solidFill>
                      <a:srgbClr val="1E40AF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26"/>
                <p:cNvSpPr txBox="1"/>
                <p:nvPr/>
              </p:nvSpPr>
              <p:spPr>
                <a:xfrm>
                  <a:off x="647700" y="95250"/>
                  <a:ext cx="4343400" cy="533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Return five launch records from sites beginning CCA with </a:t>
                  </a:r>
                  <a:r>
                    <a:rPr b="1" lang="en-US" sz="1150">
                      <a:solidFill>
                        <a:srgbClr val="1E40AF"/>
                      </a:solidFill>
                      <a:highlight>
                        <a:srgbClr val="EFF6FF"/>
                      </a:highlight>
                      <a:latin typeface="Courier New"/>
                      <a:ea typeface="Courier New"/>
                      <a:cs typeface="Courier New"/>
                      <a:sym typeface="Courier New"/>
                    </a:rPr>
                    <a:t>LIKE</a:t>
                  </a: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 and </a:t>
                  </a:r>
                  <a:r>
                    <a:rPr b="1" lang="en-US" sz="1150">
                      <a:solidFill>
                        <a:srgbClr val="1E40AF"/>
                      </a:solidFill>
                      <a:highlight>
                        <a:srgbClr val="EFF6FF"/>
                      </a:highlight>
                      <a:latin typeface="Courier New"/>
                      <a:ea typeface="Courier New"/>
                      <a:cs typeface="Courier New"/>
                      <a:sym typeface="Courier New"/>
                    </a:rPr>
                    <a:t>LIMIT</a:t>
                  </a: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.</a:t>
                  </a:r>
                  <a:endParaRPr sz="11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5" name="Google Shape;465;p26"/>
              <p:cNvGrpSpPr/>
              <p:nvPr/>
            </p:nvGrpSpPr>
            <p:grpSpPr>
              <a:xfrm>
                <a:off x="0" y="2057400"/>
                <a:ext cx="5143500" cy="723900"/>
                <a:chOff x="0" y="0"/>
                <a:chExt cx="5143500" cy="723900"/>
              </a:xfrm>
            </p:grpSpPr>
            <p:sp>
              <p:nvSpPr>
                <p:cNvPr id="466" name="Google Shape;466;p26"/>
                <p:cNvSpPr/>
                <p:nvPr/>
              </p:nvSpPr>
              <p:spPr>
                <a:xfrm>
                  <a:off x="0" y="0"/>
                  <a:ext cx="5143500" cy="723900"/>
                </a:xfrm>
                <a:prstGeom prst="roundRect">
                  <a:avLst>
                    <a:gd fmla="val 10526" name="adj"/>
                  </a:avLst>
                </a:prstGeom>
                <a:solidFill>
                  <a:srgbClr val="FFFFFF"/>
                </a:solidFill>
                <a:ln cap="flat" cmpd="sng" w="14300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7" name="Google Shape;467;p26"/>
                <p:cNvSpPr/>
                <p:nvPr/>
              </p:nvSpPr>
              <p:spPr>
                <a:xfrm>
                  <a:off x="190500" y="209550"/>
                  <a:ext cx="304800" cy="304800"/>
                </a:xfrm>
                <a:prstGeom prst="ellipse">
                  <a:avLst/>
                </a:prstGeom>
                <a:solidFill>
                  <a:srgbClr val="EFF6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8" name="Google Shape;468;p26"/>
                <p:cNvSpPr txBox="1"/>
                <p:nvPr/>
              </p:nvSpPr>
              <p:spPr>
                <a:xfrm>
                  <a:off x="190500" y="209550"/>
                  <a:ext cx="3048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1100">
                      <a:solidFill>
                        <a:srgbClr val="1E40AF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03</a:t>
                  </a:r>
                  <a:endParaRPr b="1" sz="1100">
                    <a:solidFill>
                      <a:srgbClr val="1E40AF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9" name="Google Shape;469;p26"/>
                <p:cNvSpPr txBox="1"/>
                <p:nvPr/>
              </p:nvSpPr>
              <p:spPr>
                <a:xfrm>
                  <a:off x="647700" y="95250"/>
                  <a:ext cx="4343400" cy="533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Total NASA (CRS) payload mass with </a:t>
                  </a:r>
                  <a:r>
                    <a:rPr b="1" lang="en-US" sz="1150">
                      <a:solidFill>
                        <a:srgbClr val="1E40AF"/>
                      </a:solidFill>
                      <a:highlight>
                        <a:srgbClr val="EFF6FF"/>
                      </a:highlight>
                      <a:latin typeface="Courier New"/>
                      <a:ea typeface="Courier New"/>
                      <a:cs typeface="Courier New"/>
                      <a:sym typeface="Courier New"/>
                    </a:rPr>
                    <a:t>SUM</a:t>
                  </a: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.</a:t>
                  </a:r>
                  <a:endParaRPr sz="11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70" name="Google Shape;470;p26"/>
              <p:cNvGrpSpPr/>
              <p:nvPr/>
            </p:nvGrpSpPr>
            <p:grpSpPr>
              <a:xfrm>
                <a:off x="0" y="2857500"/>
                <a:ext cx="5143500" cy="723900"/>
                <a:chOff x="0" y="0"/>
                <a:chExt cx="5143500" cy="723900"/>
              </a:xfrm>
            </p:grpSpPr>
            <p:sp>
              <p:nvSpPr>
                <p:cNvPr id="471" name="Google Shape;471;p26"/>
                <p:cNvSpPr/>
                <p:nvPr/>
              </p:nvSpPr>
              <p:spPr>
                <a:xfrm>
                  <a:off x="0" y="0"/>
                  <a:ext cx="5143500" cy="723900"/>
                </a:xfrm>
                <a:prstGeom prst="roundRect">
                  <a:avLst>
                    <a:gd fmla="val 10526" name="adj"/>
                  </a:avLst>
                </a:prstGeom>
                <a:solidFill>
                  <a:srgbClr val="FFFFFF"/>
                </a:solidFill>
                <a:ln cap="flat" cmpd="sng" w="14300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2" name="Google Shape;472;p26"/>
                <p:cNvSpPr/>
                <p:nvPr/>
              </p:nvSpPr>
              <p:spPr>
                <a:xfrm>
                  <a:off x="190500" y="209550"/>
                  <a:ext cx="304800" cy="304800"/>
                </a:xfrm>
                <a:prstGeom prst="ellipse">
                  <a:avLst/>
                </a:prstGeom>
                <a:solidFill>
                  <a:srgbClr val="EFF6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3" name="Google Shape;473;p26"/>
                <p:cNvSpPr txBox="1"/>
                <p:nvPr/>
              </p:nvSpPr>
              <p:spPr>
                <a:xfrm>
                  <a:off x="190500" y="209550"/>
                  <a:ext cx="3048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1100">
                      <a:solidFill>
                        <a:srgbClr val="1E40AF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04</a:t>
                  </a:r>
                  <a:endParaRPr b="1" sz="1100">
                    <a:solidFill>
                      <a:srgbClr val="1E40AF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4" name="Google Shape;474;p26"/>
                <p:cNvSpPr txBox="1"/>
                <p:nvPr/>
              </p:nvSpPr>
              <p:spPr>
                <a:xfrm>
                  <a:off x="647700" y="95250"/>
                  <a:ext cx="4343400" cy="533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Calculate average F9 v1.1 payload mass with </a:t>
                  </a:r>
                  <a:r>
                    <a:rPr b="1" lang="en-US" sz="1150">
                      <a:solidFill>
                        <a:srgbClr val="1E40AF"/>
                      </a:solidFill>
                      <a:highlight>
                        <a:srgbClr val="EFF6FF"/>
                      </a:highlight>
                      <a:latin typeface="Courier New"/>
                      <a:ea typeface="Courier New"/>
                      <a:cs typeface="Courier New"/>
                      <a:sym typeface="Courier New"/>
                    </a:rPr>
                    <a:t>AVG</a:t>
                  </a: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.</a:t>
                  </a:r>
                  <a:endParaRPr sz="11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75" name="Google Shape;475;p26"/>
              <p:cNvGrpSpPr/>
              <p:nvPr/>
            </p:nvGrpSpPr>
            <p:grpSpPr>
              <a:xfrm>
                <a:off x="0" y="3657600"/>
                <a:ext cx="5143500" cy="723900"/>
                <a:chOff x="0" y="0"/>
                <a:chExt cx="5143500" cy="723900"/>
              </a:xfrm>
            </p:grpSpPr>
            <p:sp>
              <p:nvSpPr>
                <p:cNvPr id="476" name="Google Shape;476;p26"/>
                <p:cNvSpPr/>
                <p:nvPr/>
              </p:nvSpPr>
              <p:spPr>
                <a:xfrm>
                  <a:off x="0" y="0"/>
                  <a:ext cx="5143500" cy="723900"/>
                </a:xfrm>
                <a:prstGeom prst="roundRect">
                  <a:avLst>
                    <a:gd fmla="val 10526" name="adj"/>
                  </a:avLst>
                </a:prstGeom>
                <a:solidFill>
                  <a:srgbClr val="FFFFFF"/>
                </a:solidFill>
                <a:ln cap="flat" cmpd="sng" w="14300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7" name="Google Shape;477;p26"/>
                <p:cNvSpPr/>
                <p:nvPr/>
              </p:nvSpPr>
              <p:spPr>
                <a:xfrm>
                  <a:off x="190500" y="209550"/>
                  <a:ext cx="304800" cy="304800"/>
                </a:xfrm>
                <a:prstGeom prst="ellipse">
                  <a:avLst/>
                </a:prstGeom>
                <a:solidFill>
                  <a:srgbClr val="EFF6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8" name="Google Shape;478;p26"/>
                <p:cNvSpPr txBox="1"/>
                <p:nvPr/>
              </p:nvSpPr>
              <p:spPr>
                <a:xfrm>
                  <a:off x="190500" y="209550"/>
                  <a:ext cx="3048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1100">
                      <a:solidFill>
                        <a:srgbClr val="1E40AF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05</a:t>
                  </a:r>
                  <a:endParaRPr b="1" sz="1100">
                    <a:solidFill>
                      <a:srgbClr val="1E40AF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9" name="Google Shape;479;p26"/>
                <p:cNvSpPr txBox="1"/>
                <p:nvPr/>
              </p:nvSpPr>
              <p:spPr>
                <a:xfrm>
                  <a:off x="647700" y="95250"/>
                  <a:ext cx="4343400" cy="533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Find the first successful ground-pad landing date with </a:t>
                  </a:r>
                  <a:r>
                    <a:rPr b="1" lang="en-US" sz="1150">
                      <a:solidFill>
                        <a:srgbClr val="1E40AF"/>
                      </a:solidFill>
                      <a:highlight>
                        <a:srgbClr val="EFF6FF"/>
                      </a:highlight>
                      <a:latin typeface="Courier New"/>
                      <a:ea typeface="Courier New"/>
                      <a:cs typeface="Courier New"/>
                      <a:sym typeface="Courier New"/>
                    </a:rPr>
                    <a:t>MIN</a:t>
                  </a: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.</a:t>
                  </a:r>
                  <a:endParaRPr sz="11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480" name="Google Shape;480;p26"/>
            <p:cNvGrpSpPr/>
            <p:nvPr/>
          </p:nvGrpSpPr>
          <p:grpSpPr>
            <a:xfrm>
              <a:off x="6286500" y="1095375"/>
              <a:ext cx="5143500" cy="4381500"/>
              <a:chOff x="0" y="0"/>
              <a:chExt cx="5143500" cy="4381500"/>
            </a:xfrm>
          </p:grpSpPr>
          <p:sp>
            <p:nvSpPr>
              <p:cNvPr id="481" name="Google Shape;481;p26"/>
              <p:cNvSpPr/>
              <p:nvPr/>
            </p:nvSpPr>
            <p:spPr>
              <a:xfrm>
                <a:off x="0" y="0"/>
                <a:ext cx="5143500" cy="362100"/>
              </a:xfrm>
              <a:prstGeom prst="roundRect">
                <a:avLst>
                  <a:gd fmla="val 15789" name="adj"/>
                </a:avLst>
              </a:prstGeom>
              <a:solidFill>
                <a:srgbClr val="0D948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2" name="Google Shape;482;p26"/>
              <p:cNvSpPr txBox="1"/>
              <p:nvPr/>
            </p:nvSpPr>
            <p:spPr>
              <a:xfrm>
                <a:off x="152400" y="0"/>
                <a:ext cx="4838700" cy="36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QUERIES 6–10</a:t>
                </a:r>
                <a:endParaRPr b="1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483" name="Google Shape;483;p26"/>
              <p:cNvGrpSpPr/>
              <p:nvPr/>
            </p:nvGrpSpPr>
            <p:grpSpPr>
              <a:xfrm>
                <a:off x="0" y="457200"/>
                <a:ext cx="5143500" cy="723900"/>
                <a:chOff x="0" y="0"/>
                <a:chExt cx="5143500" cy="723900"/>
              </a:xfrm>
            </p:grpSpPr>
            <p:sp>
              <p:nvSpPr>
                <p:cNvPr id="484" name="Google Shape;484;p26"/>
                <p:cNvSpPr/>
                <p:nvPr/>
              </p:nvSpPr>
              <p:spPr>
                <a:xfrm>
                  <a:off x="0" y="0"/>
                  <a:ext cx="5143500" cy="723900"/>
                </a:xfrm>
                <a:prstGeom prst="roundRect">
                  <a:avLst>
                    <a:gd fmla="val 10526" name="adj"/>
                  </a:avLst>
                </a:prstGeom>
                <a:solidFill>
                  <a:srgbClr val="FFFFFF"/>
                </a:solidFill>
                <a:ln cap="flat" cmpd="sng" w="14300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5" name="Google Shape;485;p26"/>
                <p:cNvSpPr/>
                <p:nvPr/>
              </p:nvSpPr>
              <p:spPr>
                <a:xfrm>
                  <a:off x="190500" y="209550"/>
                  <a:ext cx="304800" cy="304800"/>
                </a:xfrm>
                <a:prstGeom prst="ellipse">
                  <a:avLst/>
                </a:prstGeom>
                <a:solidFill>
                  <a:srgbClr val="CCFBF1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6" name="Google Shape;486;p26"/>
                <p:cNvSpPr txBox="1"/>
                <p:nvPr/>
              </p:nvSpPr>
              <p:spPr>
                <a:xfrm>
                  <a:off x="190500" y="209550"/>
                  <a:ext cx="3048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1100">
                      <a:solidFill>
                        <a:srgbClr val="0F766E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06</a:t>
                  </a:r>
                  <a:endParaRPr b="1" sz="1100">
                    <a:solidFill>
                      <a:srgbClr val="0F766E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7" name="Google Shape;487;p26"/>
                <p:cNvSpPr txBox="1"/>
                <p:nvPr/>
              </p:nvSpPr>
              <p:spPr>
                <a:xfrm>
                  <a:off x="647700" y="95250"/>
                  <a:ext cx="4343400" cy="533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List boosters that landed on a drone ship with payloads above 4,000 and below 6,000 kg.</a:t>
                  </a:r>
                  <a:endParaRPr sz="11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8" name="Google Shape;488;p26"/>
              <p:cNvGrpSpPr/>
              <p:nvPr/>
            </p:nvGrpSpPr>
            <p:grpSpPr>
              <a:xfrm>
                <a:off x="0" y="1257300"/>
                <a:ext cx="5143500" cy="723900"/>
                <a:chOff x="0" y="0"/>
                <a:chExt cx="5143500" cy="723900"/>
              </a:xfrm>
            </p:grpSpPr>
            <p:sp>
              <p:nvSpPr>
                <p:cNvPr id="489" name="Google Shape;489;p26"/>
                <p:cNvSpPr/>
                <p:nvPr/>
              </p:nvSpPr>
              <p:spPr>
                <a:xfrm>
                  <a:off x="0" y="0"/>
                  <a:ext cx="5143500" cy="723900"/>
                </a:xfrm>
                <a:prstGeom prst="roundRect">
                  <a:avLst>
                    <a:gd fmla="val 10526" name="adj"/>
                  </a:avLst>
                </a:prstGeom>
                <a:solidFill>
                  <a:srgbClr val="FFFFFF"/>
                </a:solidFill>
                <a:ln cap="flat" cmpd="sng" w="14300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0" name="Google Shape;490;p26"/>
                <p:cNvSpPr/>
                <p:nvPr/>
              </p:nvSpPr>
              <p:spPr>
                <a:xfrm>
                  <a:off x="190500" y="209550"/>
                  <a:ext cx="304800" cy="304800"/>
                </a:xfrm>
                <a:prstGeom prst="ellipse">
                  <a:avLst/>
                </a:prstGeom>
                <a:solidFill>
                  <a:srgbClr val="CCFBF1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1" name="Google Shape;491;p26"/>
                <p:cNvSpPr txBox="1"/>
                <p:nvPr/>
              </p:nvSpPr>
              <p:spPr>
                <a:xfrm>
                  <a:off x="190500" y="209550"/>
                  <a:ext cx="3048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1100">
                      <a:solidFill>
                        <a:srgbClr val="0F766E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07</a:t>
                  </a:r>
                  <a:endParaRPr b="1" sz="1100">
                    <a:solidFill>
                      <a:srgbClr val="0F766E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92" name="Google Shape;492;p26"/>
                <p:cNvSpPr txBox="1"/>
                <p:nvPr/>
              </p:nvSpPr>
              <p:spPr>
                <a:xfrm>
                  <a:off x="647700" y="95250"/>
                  <a:ext cx="4343400" cy="533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Count each mission outcome with </a:t>
                  </a:r>
                  <a:r>
                    <a:rPr b="1" lang="en-US" sz="1150">
                      <a:solidFill>
                        <a:srgbClr val="0F766E"/>
                      </a:solidFill>
                      <a:highlight>
                        <a:srgbClr val="CCFBF1"/>
                      </a:highlight>
                      <a:latin typeface="Courier New"/>
                      <a:ea typeface="Courier New"/>
                      <a:cs typeface="Courier New"/>
                      <a:sym typeface="Courier New"/>
                    </a:rPr>
                    <a:t>GROUP BY</a:t>
                  </a: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 and </a:t>
                  </a:r>
                  <a:r>
                    <a:rPr b="1" lang="en-US" sz="1150">
                      <a:solidFill>
                        <a:srgbClr val="0F766E"/>
                      </a:solidFill>
                      <a:highlight>
                        <a:srgbClr val="CCFBF1"/>
                      </a:highlight>
                      <a:latin typeface="Courier New"/>
                      <a:ea typeface="Courier New"/>
                      <a:cs typeface="Courier New"/>
                      <a:sym typeface="Courier New"/>
                    </a:rPr>
                    <a:t>COUNT</a:t>
                  </a: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.</a:t>
                  </a:r>
                  <a:endParaRPr sz="11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93" name="Google Shape;493;p26"/>
              <p:cNvGrpSpPr/>
              <p:nvPr/>
            </p:nvGrpSpPr>
            <p:grpSpPr>
              <a:xfrm>
                <a:off x="0" y="2057400"/>
                <a:ext cx="5143500" cy="723900"/>
                <a:chOff x="0" y="0"/>
                <a:chExt cx="5143500" cy="723900"/>
              </a:xfrm>
            </p:grpSpPr>
            <p:sp>
              <p:nvSpPr>
                <p:cNvPr id="494" name="Google Shape;494;p26"/>
                <p:cNvSpPr/>
                <p:nvPr/>
              </p:nvSpPr>
              <p:spPr>
                <a:xfrm>
                  <a:off x="0" y="0"/>
                  <a:ext cx="5143500" cy="723900"/>
                </a:xfrm>
                <a:prstGeom prst="roundRect">
                  <a:avLst>
                    <a:gd fmla="val 10526" name="adj"/>
                  </a:avLst>
                </a:prstGeom>
                <a:solidFill>
                  <a:srgbClr val="FFFFFF"/>
                </a:solidFill>
                <a:ln cap="flat" cmpd="sng" w="14300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5" name="Google Shape;495;p26"/>
                <p:cNvSpPr/>
                <p:nvPr/>
              </p:nvSpPr>
              <p:spPr>
                <a:xfrm>
                  <a:off x="190500" y="209550"/>
                  <a:ext cx="304800" cy="304800"/>
                </a:xfrm>
                <a:prstGeom prst="ellipse">
                  <a:avLst/>
                </a:prstGeom>
                <a:solidFill>
                  <a:srgbClr val="CCFBF1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6" name="Google Shape;496;p26"/>
                <p:cNvSpPr txBox="1"/>
                <p:nvPr/>
              </p:nvSpPr>
              <p:spPr>
                <a:xfrm>
                  <a:off x="190500" y="209550"/>
                  <a:ext cx="3048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1100">
                      <a:solidFill>
                        <a:srgbClr val="0F766E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08</a:t>
                  </a:r>
                  <a:endParaRPr b="1" sz="1100">
                    <a:solidFill>
                      <a:srgbClr val="0F766E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97" name="Google Shape;497;p26"/>
                <p:cNvSpPr txBox="1"/>
                <p:nvPr/>
              </p:nvSpPr>
              <p:spPr>
                <a:xfrm>
                  <a:off x="647700" y="95250"/>
                  <a:ext cx="4343400" cy="533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Find every booster tied for the maximum payload mass with </a:t>
                  </a:r>
                  <a:r>
                    <a:rPr b="1" lang="en-US" sz="1150">
                      <a:solidFill>
                        <a:srgbClr val="0F766E"/>
                      </a:solidFill>
                      <a:highlight>
                        <a:srgbClr val="CCFBF1"/>
                      </a:highlight>
                      <a:latin typeface="Courier New"/>
                      <a:ea typeface="Courier New"/>
                      <a:cs typeface="Courier New"/>
                      <a:sym typeface="Courier New"/>
                    </a:rPr>
                    <a:t>MAX</a:t>
                  </a: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.</a:t>
                  </a:r>
                  <a:endParaRPr sz="11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98" name="Google Shape;498;p26"/>
              <p:cNvGrpSpPr/>
              <p:nvPr/>
            </p:nvGrpSpPr>
            <p:grpSpPr>
              <a:xfrm>
                <a:off x="0" y="2857500"/>
                <a:ext cx="5143500" cy="723900"/>
                <a:chOff x="0" y="0"/>
                <a:chExt cx="5143500" cy="723900"/>
              </a:xfrm>
            </p:grpSpPr>
            <p:sp>
              <p:nvSpPr>
                <p:cNvPr id="499" name="Google Shape;499;p26"/>
                <p:cNvSpPr/>
                <p:nvPr/>
              </p:nvSpPr>
              <p:spPr>
                <a:xfrm>
                  <a:off x="0" y="0"/>
                  <a:ext cx="5143500" cy="723900"/>
                </a:xfrm>
                <a:prstGeom prst="roundRect">
                  <a:avLst>
                    <a:gd fmla="val 10526" name="adj"/>
                  </a:avLst>
                </a:prstGeom>
                <a:solidFill>
                  <a:srgbClr val="FFFFFF"/>
                </a:solidFill>
                <a:ln cap="flat" cmpd="sng" w="14300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0" name="Google Shape;500;p26"/>
                <p:cNvSpPr/>
                <p:nvPr/>
              </p:nvSpPr>
              <p:spPr>
                <a:xfrm>
                  <a:off x="190500" y="209550"/>
                  <a:ext cx="304800" cy="304800"/>
                </a:xfrm>
                <a:prstGeom prst="ellipse">
                  <a:avLst/>
                </a:prstGeom>
                <a:solidFill>
                  <a:srgbClr val="CCFBF1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1" name="Google Shape;501;p26"/>
                <p:cNvSpPr txBox="1"/>
                <p:nvPr/>
              </p:nvSpPr>
              <p:spPr>
                <a:xfrm>
                  <a:off x="190500" y="209550"/>
                  <a:ext cx="3048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1100">
                      <a:solidFill>
                        <a:srgbClr val="0F766E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09</a:t>
                  </a:r>
                  <a:endParaRPr b="1" sz="1100">
                    <a:solidFill>
                      <a:srgbClr val="0F766E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02" name="Google Shape;502;p26"/>
                <p:cNvSpPr txBox="1"/>
                <p:nvPr/>
              </p:nvSpPr>
              <p:spPr>
                <a:xfrm>
                  <a:off x="647700" y="95250"/>
                  <a:ext cx="4343400" cy="533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Extract the month, booster and launch site for 2015 drone-ship landing failures.</a:t>
                  </a:r>
                  <a:endParaRPr sz="11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3" name="Google Shape;503;p26"/>
              <p:cNvGrpSpPr/>
              <p:nvPr/>
            </p:nvGrpSpPr>
            <p:grpSpPr>
              <a:xfrm>
                <a:off x="0" y="3657600"/>
                <a:ext cx="5143500" cy="723900"/>
                <a:chOff x="0" y="0"/>
                <a:chExt cx="5143500" cy="723900"/>
              </a:xfrm>
            </p:grpSpPr>
            <p:sp>
              <p:nvSpPr>
                <p:cNvPr id="504" name="Google Shape;504;p26"/>
                <p:cNvSpPr/>
                <p:nvPr/>
              </p:nvSpPr>
              <p:spPr>
                <a:xfrm>
                  <a:off x="0" y="0"/>
                  <a:ext cx="5143500" cy="723900"/>
                </a:xfrm>
                <a:prstGeom prst="roundRect">
                  <a:avLst>
                    <a:gd fmla="val 10526" name="adj"/>
                  </a:avLst>
                </a:prstGeom>
                <a:solidFill>
                  <a:srgbClr val="FFFFFF"/>
                </a:solidFill>
                <a:ln cap="flat" cmpd="sng" w="14300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5" name="Google Shape;505;p26"/>
                <p:cNvSpPr/>
                <p:nvPr/>
              </p:nvSpPr>
              <p:spPr>
                <a:xfrm>
                  <a:off x="190500" y="209550"/>
                  <a:ext cx="304800" cy="304800"/>
                </a:xfrm>
                <a:prstGeom prst="ellipse">
                  <a:avLst/>
                </a:prstGeom>
                <a:solidFill>
                  <a:srgbClr val="CCFBF1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6" name="Google Shape;506;p26"/>
                <p:cNvSpPr txBox="1"/>
                <p:nvPr/>
              </p:nvSpPr>
              <p:spPr>
                <a:xfrm>
                  <a:off x="190500" y="209550"/>
                  <a:ext cx="304800" cy="304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1100">
                      <a:solidFill>
                        <a:srgbClr val="0F766E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10</a:t>
                  </a:r>
                  <a:endParaRPr b="1" sz="1100">
                    <a:solidFill>
                      <a:srgbClr val="0F766E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07" name="Google Shape;507;p26"/>
                <p:cNvSpPr txBox="1"/>
                <p:nvPr/>
              </p:nvSpPr>
              <p:spPr>
                <a:xfrm>
                  <a:off x="647700" y="95250"/>
                  <a:ext cx="4343400" cy="533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Count and rank landing outcomes from June 4, 2010 through March 20, 2017 with </a:t>
                  </a:r>
                  <a:r>
                    <a:rPr b="1" lang="en-US" sz="1150">
                      <a:solidFill>
                        <a:srgbClr val="0F766E"/>
                      </a:solidFill>
                      <a:highlight>
                        <a:srgbClr val="CCFBF1"/>
                      </a:highlight>
                      <a:latin typeface="Courier New"/>
                      <a:ea typeface="Courier New"/>
                      <a:cs typeface="Courier New"/>
                      <a:sym typeface="Courier New"/>
                    </a:rPr>
                    <a:t>RANK()</a:t>
                  </a:r>
                  <a:r>
                    <a:rPr lang="en-US" sz="1150">
                      <a:solidFill>
                        <a:srgbClr val="334155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.</a:t>
                  </a:r>
                  <a:endParaRPr sz="11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pic>
        <p:nvPicPr>
          <p:cNvPr id="508" name="Google Shape;508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5465" y="5892223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p26"/>
          <p:cNvSpPr txBox="1"/>
          <p:nvPr/>
        </p:nvSpPr>
        <p:spPr>
          <a:xfrm>
            <a:off x="1039550" y="5913955"/>
            <a:ext cx="1039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9" u="sng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https://github.com/treinart/IBM-Data-Science-Professional-Certificate/blob/main/10_Applied%20Data%20Science%20Capstone/Module%202/jupyter-labs-eda-sql-coursera_sqllite.ipynb</a:t>
            </a:r>
            <a:endParaRPr sz="979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26"/>
          <p:cNvSpPr txBox="1"/>
          <p:nvPr>
            <p:ph idx="12" type="sldNum"/>
          </p:nvPr>
        </p:nvSpPr>
        <p:spPr>
          <a:xfrm>
            <a:off x="10953750" y="5962650"/>
            <a:ext cx="4764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1" sz="1400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27"/>
          <p:cNvSpPr txBox="1"/>
          <p:nvPr>
            <p:ph idx="12" type="sldNum"/>
          </p:nvPr>
        </p:nvSpPr>
        <p:spPr>
          <a:xfrm>
            <a:off x="11049000" y="6286500"/>
            <a:ext cx="381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5" u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1" i="0" sz="1105" u="none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27"/>
          <p:cNvSpPr txBox="1"/>
          <p:nvPr/>
        </p:nvSpPr>
        <p:spPr>
          <a:xfrm>
            <a:off x="762000" y="400050"/>
            <a:ext cx="106680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Build an Interactive Map with Folium</a:t>
            </a:r>
            <a:endParaRPr b="1" i="0" sz="30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27"/>
          <p:cNvSpPr txBox="1"/>
          <p:nvPr/>
        </p:nvSpPr>
        <p:spPr>
          <a:xfrm>
            <a:off x="1009650" y="6315075"/>
            <a:ext cx="105630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5" u="sng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https://github.com/treinart/IBM-Data-Science-Professional-Certificate/blob/main/10_Applied%20Data%20Science%20Capstone/Module%203/lab-jupyter-launch-site-location-v2.ipynb</a:t>
            </a:r>
            <a:endParaRPr b="0" i="0" sz="965" u="sng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  <a:hlinkClick r:id="rId5">
                <a:extLst>
                  <a:ext uri="{A12FA001-AC4F-418D-AE19-62706E023703}">
                    <ahyp:hlinkClr val="tx"/>
                  </a:ext>
                </a:extLst>
              </a:hlinkClick>
            </a:endParaRPr>
          </a:p>
        </p:txBody>
      </p:sp>
      <p:pic>
        <p:nvPicPr>
          <p:cNvPr id="518" name="Google Shape;518;p27">
            <a:hlinkClick r:id="rId6"/>
          </p:cNvPr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62000" y="6343650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27"/>
          <p:cNvSpPr/>
          <p:nvPr/>
        </p:nvSpPr>
        <p:spPr>
          <a:xfrm>
            <a:off x="762000" y="933450"/>
            <a:ext cx="10668000" cy="266700"/>
          </a:xfrm>
          <a:prstGeom prst="roundRect">
            <a:avLst>
              <a:gd fmla="val 14285" name="adj"/>
            </a:avLst>
          </a:prstGeom>
          <a:solidFill>
            <a:srgbClr val="E2E8F0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27"/>
          <p:cNvSpPr txBox="1"/>
          <p:nvPr/>
        </p:nvSpPr>
        <p:spPr>
          <a:xfrm>
            <a:off x="914400" y="933450"/>
            <a:ext cx="2095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FOLIUM FEATURE</a:t>
            </a:r>
            <a:endParaRPr b="1" sz="850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27"/>
          <p:cNvSpPr txBox="1"/>
          <p:nvPr/>
        </p:nvSpPr>
        <p:spPr>
          <a:xfrm>
            <a:off x="3143250" y="933450"/>
            <a:ext cx="14289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COMPONENT TYPE</a:t>
            </a:r>
            <a:endParaRPr b="1" sz="850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27"/>
          <p:cNvSpPr txBox="1"/>
          <p:nvPr/>
        </p:nvSpPr>
        <p:spPr>
          <a:xfrm>
            <a:off x="4762500" y="933450"/>
            <a:ext cx="6477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IMPLEMENTATION &amp; REASON</a:t>
            </a:r>
            <a:endParaRPr b="1" sz="850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27"/>
          <p:cNvSpPr/>
          <p:nvPr/>
        </p:nvSpPr>
        <p:spPr>
          <a:xfrm>
            <a:off x="762000" y="1238250"/>
            <a:ext cx="10668000" cy="314400"/>
          </a:xfrm>
          <a:prstGeom prst="roundRect">
            <a:avLst>
              <a:gd fmla="val 1818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27"/>
          <p:cNvSpPr txBox="1"/>
          <p:nvPr/>
        </p:nvSpPr>
        <p:spPr>
          <a:xfrm>
            <a:off x="914400" y="1238250"/>
            <a:ext cx="20955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Circles and popups</a:t>
            </a:r>
            <a:endParaRPr b="1" sz="95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27"/>
          <p:cNvSpPr/>
          <p:nvPr/>
        </p:nvSpPr>
        <p:spPr>
          <a:xfrm>
            <a:off x="3238500" y="1290638"/>
            <a:ext cx="1238400" cy="209700"/>
          </a:xfrm>
          <a:prstGeom prst="roundRect">
            <a:avLst>
              <a:gd fmla="val 50000" name="adj"/>
            </a:avLst>
          </a:prstGeom>
          <a:solidFill>
            <a:srgbClr val="EFF6F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27"/>
          <p:cNvSpPr txBox="1"/>
          <p:nvPr/>
        </p:nvSpPr>
        <p:spPr>
          <a:xfrm>
            <a:off x="3238500" y="1290638"/>
            <a:ext cx="12384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rPr>
              <a:t>CircleMarker</a:t>
            </a:r>
            <a:endParaRPr b="1" sz="850">
              <a:solidFill>
                <a:srgbClr val="1D4E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27"/>
          <p:cNvSpPr txBox="1"/>
          <p:nvPr/>
        </p:nvSpPr>
        <p:spPr>
          <a:xfrm>
            <a:off x="4762500" y="1238250"/>
            <a:ext cx="64770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Mark four pads with 1 km circles and show each site name on click.</a:t>
            </a:r>
            <a:endParaRPr sz="90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27"/>
          <p:cNvSpPr/>
          <p:nvPr/>
        </p:nvSpPr>
        <p:spPr>
          <a:xfrm>
            <a:off x="762000" y="1590675"/>
            <a:ext cx="10668000" cy="314400"/>
          </a:xfrm>
          <a:prstGeom prst="roundRect">
            <a:avLst>
              <a:gd fmla="val 18181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27"/>
          <p:cNvSpPr txBox="1"/>
          <p:nvPr/>
        </p:nvSpPr>
        <p:spPr>
          <a:xfrm>
            <a:off x="914400" y="1590675"/>
            <a:ext cx="20955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Offset DivIcon labels</a:t>
            </a:r>
            <a:endParaRPr b="1" sz="95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27"/>
          <p:cNvSpPr/>
          <p:nvPr/>
        </p:nvSpPr>
        <p:spPr>
          <a:xfrm>
            <a:off x="3238500" y="1643063"/>
            <a:ext cx="1238400" cy="209700"/>
          </a:xfrm>
          <a:prstGeom prst="roundRect">
            <a:avLst>
              <a:gd fmla="val 50000" name="adj"/>
            </a:avLst>
          </a:prstGeom>
          <a:solidFill>
            <a:srgbClr val="F5F3F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27"/>
          <p:cNvSpPr txBox="1"/>
          <p:nvPr/>
        </p:nvSpPr>
        <p:spPr>
          <a:xfrm>
            <a:off x="3238500" y="1643063"/>
            <a:ext cx="12384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7C3AED"/>
                </a:solidFill>
                <a:latin typeface="Arial"/>
                <a:ea typeface="Arial"/>
                <a:cs typeface="Arial"/>
                <a:sym typeface="Arial"/>
              </a:rPr>
              <a:t>DivIcon</a:t>
            </a:r>
            <a:endParaRPr b="1" sz="850">
              <a:solidFill>
                <a:srgbClr val="7C3A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27"/>
          <p:cNvSpPr txBox="1"/>
          <p:nvPr/>
        </p:nvSpPr>
        <p:spPr>
          <a:xfrm>
            <a:off x="4762500" y="1590675"/>
            <a:ext cx="64770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Keep pad names visible where Florida sites sit close.</a:t>
            </a:r>
            <a:endParaRPr sz="90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27"/>
          <p:cNvSpPr/>
          <p:nvPr/>
        </p:nvSpPr>
        <p:spPr>
          <a:xfrm>
            <a:off x="762000" y="1943100"/>
            <a:ext cx="10668000" cy="314400"/>
          </a:xfrm>
          <a:prstGeom prst="roundRect">
            <a:avLst>
              <a:gd fmla="val 1818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p27"/>
          <p:cNvSpPr txBox="1"/>
          <p:nvPr/>
        </p:nvSpPr>
        <p:spPr>
          <a:xfrm>
            <a:off x="914400" y="1943100"/>
            <a:ext cx="20955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MarkerCluster</a:t>
            </a:r>
            <a:endParaRPr b="1" sz="95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27"/>
          <p:cNvSpPr/>
          <p:nvPr/>
        </p:nvSpPr>
        <p:spPr>
          <a:xfrm>
            <a:off x="3238500" y="1995488"/>
            <a:ext cx="1238400" cy="209700"/>
          </a:xfrm>
          <a:prstGeom prst="roundRect">
            <a:avLst>
              <a:gd fmla="val 50000" name="adj"/>
            </a:avLst>
          </a:prstGeom>
          <a:solidFill>
            <a:srgbClr val="ECFDF5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27"/>
          <p:cNvSpPr txBox="1"/>
          <p:nvPr/>
        </p:nvSpPr>
        <p:spPr>
          <a:xfrm>
            <a:off x="3238500" y="1995488"/>
            <a:ext cx="12384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059669"/>
                </a:solidFill>
                <a:latin typeface="Arial"/>
                <a:ea typeface="Arial"/>
                <a:cs typeface="Arial"/>
                <a:sym typeface="Arial"/>
              </a:rPr>
              <a:t>FastMarkerCluster</a:t>
            </a:r>
            <a:endParaRPr b="1" sz="850">
              <a:solidFill>
                <a:srgbClr val="0596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27"/>
          <p:cNvSpPr txBox="1"/>
          <p:nvPr/>
        </p:nvSpPr>
        <p:spPr>
          <a:xfrm>
            <a:off x="4762500" y="1943100"/>
            <a:ext cx="64770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Group launches that share pad coordinates so markers remain accessible.</a:t>
            </a:r>
            <a:endParaRPr sz="90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27"/>
          <p:cNvSpPr/>
          <p:nvPr/>
        </p:nvSpPr>
        <p:spPr>
          <a:xfrm>
            <a:off x="762000" y="2295525"/>
            <a:ext cx="10668000" cy="314400"/>
          </a:xfrm>
          <a:prstGeom prst="roundRect">
            <a:avLst>
              <a:gd fmla="val 18181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27"/>
          <p:cNvSpPr txBox="1"/>
          <p:nvPr/>
        </p:nvSpPr>
        <p:spPr>
          <a:xfrm>
            <a:off x="914400" y="2295525"/>
            <a:ext cx="20955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Launch markers and popups</a:t>
            </a:r>
            <a:endParaRPr b="1" sz="95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27"/>
          <p:cNvSpPr/>
          <p:nvPr/>
        </p:nvSpPr>
        <p:spPr>
          <a:xfrm>
            <a:off x="3238500" y="2347913"/>
            <a:ext cx="1238400" cy="209700"/>
          </a:xfrm>
          <a:prstGeom prst="roundRect">
            <a:avLst>
              <a:gd fmla="val 50000" name="adj"/>
            </a:avLst>
          </a:prstGeom>
          <a:solidFill>
            <a:srgbClr val="EFF6F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27"/>
          <p:cNvSpPr txBox="1"/>
          <p:nvPr/>
        </p:nvSpPr>
        <p:spPr>
          <a:xfrm>
            <a:off x="3238500" y="2347913"/>
            <a:ext cx="12384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rPr>
              <a:t>Outcome Marker</a:t>
            </a:r>
            <a:endParaRPr b="1" sz="850">
              <a:solidFill>
                <a:srgbClr val="1D4E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27"/>
          <p:cNvSpPr txBox="1"/>
          <p:nvPr/>
        </p:nvSpPr>
        <p:spPr>
          <a:xfrm>
            <a:off x="4762500" y="2295525"/>
            <a:ext cx="64770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Show each landing outcome with a green/red icon and identify the launch on click.</a:t>
            </a:r>
            <a:endParaRPr sz="90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27"/>
          <p:cNvSpPr/>
          <p:nvPr/>
        </p:nvSpPr>
        <p:spPr>
          <a:xfrm>
            <a:off x="762000" y="2647950"/>
            <a:ext cx="10668000" cy="314400"/>
          </a:xfrm>
          <a:prstGeom prst="roundRect">
            <a:avLst>
              <a:gd fmla="val 1818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27"/>
          <p:cNvSpPr txBox="1"/>
          <p:nvPr/>
        </p:nvSpPr>
        <p:spPr>
          <a:xfrm>
            <a:off x="914400" y="2647950"/>
            <a:ext cx="20955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MousePosition</a:t>
            </a:r>
            <a:endParaRPr b="1" sz="95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27"/>
          <p:cNvSpPr/>
          <p:nvPr/>
        </p:nvSpPr>
        <p:spPr>
          <a:xfrm>
            <a:off x="3238500" y="2700338"/>
            <a:ext cx="1238400" cy="209700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27"/>
          <p:cNvSpPr txBox="1"/>
          <p:nvPr/>
        </p:nvSpPr>
        <p:spPr>
          <a:xfrm>
            <a:off x="3238500" y="2700338"/>
            <a:ext cx="12384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Coordinate Plugin</a:t>
            </a:r>
            <a:endParaRPr b="1" sz="850">
              <a:solidFill>
                <a:srgbClr val="15803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27"/>
          <p:cNvSpPr txBox="1"/>
          <p:nvPr/>
        </p:nvSpPr>
        <p:spPr>
          <a:xfrm>
            <a:off x="4762500" y="2647950"/>
            <a:ext cx="64770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Read coordinates for selected coastline, railway, highway and city points.</a:t>
            </a:r>
            <a:endParaRPr sz="90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27"/>
          <p:cNvSpPr/>
          <p:nvPr/>
        </p:nvSpPr>
        <p:spPr>
          <a:xfrm>
            <a:off x="762000" y="3000375"/>
            <a:ext cx="10668000" cy="314400"/>
          </a:xfrm>
          <a:prstGeom prst="roundRect">
            <a:avLst>
              <a:gd fmla="val 18181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27"/>
          <p:cNvSpPr txBox="1"/>
          <p:nvPr/>
        </p:nvSpPr>
        <p:spPr>
          <a:xfrm>
            <a:off x="914400" y="3000375"/>
            <a:ext cx="20955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Distance labels and PolyLine</a:t>
            </a:r>
            <a:endParaRPr b="1" sz="95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27"/>
          <p:cNvSpPr/>
          <p:nvPr/>
        </p:nvSpPr>
        <p:spPr>
          <a:xfrm>
            <a:off x="3238500" y="3052763"/>
            <a:ext cx="1238400" cy="209700"/>
          </a:xfrm>
          <a:prstGeom prst="roundRect">
            <a:avLst>
              <a:gd fmla="val 50000" name="adj"/>
            </a:avLst>
          </a:prstGeom>
          <a:solidFill>
            <a:srgbClr val="EFF6F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27"/>
          <p:cNvSpPr txBox="1"/>
          <p:nvPr/>
        </p:nvSpPr>
        <p:spPr>
          <a:xfrm>
            <a:off x="3238500" y="3052763"/>
            <a:ext cx="12384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rPr>
              <a:t>PolyLine &amp; Text</a:t>
            </a:r>
            <a:endParaRPr b="1" sz="850">
              <a:solidFill>
                <a:srgbClr val="1D4E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27"/>
          <p:cNvSpPr txBox="1"/>
          <p:nvPr/>
        </p:nvSpPr>
        <p:spPr>
          <a:xfrm>
            <a:off x="4762500" y="3000375"/>
            <a:ext cx="6477000" cy="3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Display calculated kilometres and connect each measured point to its launch pad.</a:t>
            </a:r>
            <a:endParaRPr sz="90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3" name="Google Shape;55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45599" y="3352792"/>
            <a:ext cx="7691100" cy="305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28"/>
          <p:cNvSpPr txBox="1"/>
          <p:nvPr>
            <p:ph idx="12" type="sldNum"/>
          </p:nvPr>
        </p:nvSpPr>
        <p:spPr>
          <a:xfrm>
            <a:off x="10953750" y="6191250"/>
            <a:ext cx="476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38100" spcFirstLastPara="1" rIns="38100" wrap="square" tIns="1905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1" i="0" sz="1200" u="none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28"/>
          <p:cNvSpPr txBox="1"/>
          <p:nvPr/>
        </p:nvSpPr>
        <p:spPr>
          <a:xfrm>
            <a:off x="762000" y="400050"/>
            <a:ext cx="106680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Build a Dashboard with Plotly Dash</a:t>
            </a:r>
            <a:endParaRPr b="1" i="0" sz="255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28"/>
          <p:cNvSpPr/>
          <p:nvPr/>
        </p:nvSpPr>
        <p:spPr>
          <a:xfrm>
            <a:off x="6238875" y="1000125"/>
            <a:ext cx="5191200" cy="50292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28"/>
          <p:cNvSpPr txBox="1"/>
          <p:nvPr/>
        </p:nvSpPr>
        <p:spPr>
          <a:xfrm>
            <a:off x="1009650" y="6257925"/>
            <a:ext cx="10193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9050" lIns="38100" spcFirstLastPara="1" rIns="3810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sng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https://github.com/treinart/IBM-Data-Science-Professional-Certificate/blob/main/10_Applied%20Data%20Science%20Capstone/Module%203/spacex-dash-app.py</a:t>
            </a:r>
            <a:endParaRPr b="0" i="0" sz="1050" u="sng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  <a:hlinkClick r:id="rId5">
                <a:extLst>
                  <a:ext uri="{A12FA001-AC4F-418D-AE19-62706E023703}">
                    <ahyp:hlinkClr val="tx"/>
                  </a:ext>
                </a:extLst>
              </a:hlinkClick>
            </a:endParaRPr>
          </a:p>
        </p:txBody>
      </p:sp>
      <p:pic>
        <p:nvPicPr>
          <p:cNvPr id="562" name="Google Shape;562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57938" y="1112520"/>
            <a:ext cx="4953000" cy="480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" name="Google Shape;563;p28">
            <a:hlinkClick r:id="rId7"/>
          </p:cNvPr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6286500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4" name="Google Shape;564;p28"/>
          <p:cNvSpPr txBox="1"/>
          <p:nvPr/>
        </p:nvSpPr>
        <p:spPr>
          <a:xfrm>
            <a:off x="762000" y="914400"/>
            <a:ext cx="52389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19050" lIns="38100" spcFirstLastPara="1" rIns="3810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sng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  <a:hlinkClick r:id="rId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Live dashboard: https://spacex-launch-analytics.netlify.app/</a:t>
            </a:r>
            <a:endParaRPr b="1" i="0" sz="1050" u="sng" strike="noStrike">
              <a:solidFill>
                <a:srgbClr val="0D9488"/>
              </a:solidFill>
              <a:latin typeface="Arial"/>
              <a:ea typeface="Arial"/>
              <a:cs typeface="Arial"/>
              <a:sym typeface="Arial"/>
              <a:hlinkClick r:id="rId10">
                <a:extLst>
                  <a:ext uri="{A12FA001-AC4F-418D-AE19-62706E023703}">
                    <ahyp:hlinkClr val="tx"/>
                  </a:ext>
                </a:extLst>
              </a:hlinkClick>
            </a:endParaRPr>
          </a:p>
        </p:txBody>
      </p:sp>
      <p:sp>
        <p:nvSpPr>
          <p:cNvPr id="565" name="Google Shape;565;p28"/>
          <p:cNvSpPr/>
          <p:nvPr/>
        </p:nvSpPr>
        <p:spPr>
          <a:xfrm>
            <a:off x="762000" y="1257300"/>
            <a:ext cx="5238900" cy="8574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28"/>
          <p:cNvSpPr/>
          <p:nvPr/>
        </p:nvSpPr>
        <p:spPr>
          <a:xfrm>
            <a:off x="762000" y="1257300"/>
            <a:ext cx="57300" cy="857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28"/>
          <p:cNvSpPr txBox="1"/>
          <p:nvPr/>
        </p:nvSpPr>
        <p:spPr>
          <a:xfrm>
            <a:off x="933450" y="1304925"/>
            <a:ext cx="49722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38100" spcFirstLastPara="1" rIns="3810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strike="noStrike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rPr>
              <a:t>Successful launches by site pie chart</a:t>
            </a:r>
            <a:endParaRPr b="1" i="0" sz="1150" u="none" strike="noStrike">
              <a:solidFill>
                <a:srgbClr val="1E40A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28"/>
          <p:cNvSpPr txBox="1"/>
          <p:nvPr/>
        </p:nvSpPr>
        <p:spPr>
          <a:xfrm>
            <a:off x="933450" y="1543050"/>
            <a:ext cx="4972200" cy="52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38100" spcFirstLastPara="1" rIns="38100" wrap="square" tIns="190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Counts successes at each pad to identify which site has the most.</a:t>
            </a:r>
            <a:endParaRPr b="0" i="0" sz="1000" u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28"/>
          <p:cNvSpPr/>
          <p:nvPr/>
        </p:nvSpPr>
        <p:spPr>
          <a:xfrm>
            <a:off x="762000" y="2190750"/>
            <a:ext cx="5238900" cy="857400"/>
          </a:xfrm>
          <a:prstGeom prst="rect">
            <a:avLst/>
          </a:prstGeom>
          <a:solidFill>
            <a:srgbClr val="F8FAFC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28"/>
          <p:cNvSpPr/>
          <p:nvPr/>
        </p:nvSpPr>
        <p:spPr>
          <a:xfrm>
            <a:off x="762000" y="2190750"/>
            <a:ext cx="57300" cy="857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28"/>
          <p:cNvSpPr txBox="1"/>
          <p:nvPr/>
        </p:nvSpPr>
        <p:spPr>
          <a:xfrm>
            <a:off x="933450" y="2238375"/>
            <a:ext cx="49722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38100" spcFirstLastPara="1" rIns="3810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strike="noStrike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rPr>
              <a:t>Selected-site outcome pie chart</a:t>
            </a:r>
            <a:endParaRPr b="1" i="0" sz="1150" u="none" strike="noStrike">
              <a:solidFill>
                <a:srgbClr val="1E40A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28"/>
          <p:cNvSpPr txBox="1"/>
          <p:nvPr/>
        </p:nvSpPr>
        <p:spPr>
          <a:xfrm>
            <a:off x="933450" y="2476500"/>
            <a:ext cx="4972200" cy="52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38100" spcFirstLastPara="1" rIns="38100" wrap="square" tIns="190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Shows success versus failure at one pad so its success rate can be assessed.</a:t>
            </a:r>
            <a:endParaRPr b="0" i="0" sz="1000" u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28"/>
          <p:cNvSpPr/>
          <p:nvPr/>
        </p:nvSpPr>
        <p:spPr>
          <a:xfrm>
            <a:off x="762000" y="3124200"/>
            <a:ext cx="5238900" cy="8574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28"/>
          <p:cNvSpPr/>
          <p:nvPr/>
        </p:nvSpPr>
        <p:spPr>
          <a:xfrm>
            <a:off x="762000" y="3124200"/>
            <a:ext cx="57300" cy="857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28"/>
          <p:cNvSpPr txBox="1"/>
          <p:nvPr/>
        </p:nvSpPr>
        <p:spPr>
          <a:xfrm>
            <a:off x="933450" y="3171825"/>
            <a:ext cx="49722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38100" spcFirstLastPara="1" rIns="3810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strike="noStrike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rPr>
              <a:t>Payload and outcome scatter plot</a:t>
            </a:r>
            <a:endParaRPr b="1" i="0" sz="1150" u="none" strike="noStrike">
              <a:solidFill>
                <a:srgbClr val="1E40A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28"/>
          <p:cNvSpPr txBox="1"/>
          <p:nvPr/>
        </p:nvSpPr>
        <p:spPr>
          <a:xfrm>
            <a:off x="933450" y="3409950"/>
            <a:ext cx="4972200" cy="52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38100" spcFirstLastPara="1" rIns="38100" wrap="square" tIns="190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Plots payload mass against success or failure, with color showing booster category, to inspect how outcomes vary across payloads and boosters.</a:t>
            </a:r>
            <a:endParaRPr b="0" i="0" sz="1000" u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28"/>
          <p:cNvSpPr/>
          <p:nvPr/>
        </p:nvSpPr>
        <p:spPr>
          <a:xfrm>
            <a:off x="762000" y="4057650"/>
            <a:ext cx="5238900" cy="857400"/>
          </a:xfrm>
          <a:prstGeom prst="rect">
            <a:avLst/>
          </a:prstGeom>
          <a:solidFill>
            <a:srgbClr val="F8FAFC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28"/>
          <p:cNvSpPr/>
          <p:nvPr/>
        </p:nvSpPr>
        <p:spPr>
          <a:xfrm>
            <a:off x="762000" y="4057650"/>
            <a:ext cx="57300" cy="8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p28"/>
          <p:cNvSpPr txBox="1"/>
          <p:nvPr/>
        </p:nvSpPr>
        <p:spPr>
          <a:xfrm>
            <a:off x="933450" y="4105275"/>
            <a:ext cx="49722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38100" spcFirstLastPara="1" rIns="3810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Launch-site dropdown</a:t>
            </a:r>
            <a:endParaRPr b="1" i="0" sz="1150" u="none" strike="noStrike">
              <a:solidFill>
                <a:srgbClr val="0D94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28"/>
          <p:cNvSpPr txBox="1"/>
          <p:nvPr/>
        </p:nvSpPr>
        <p:spPr>
          <a:xfrm>
            <a:off x="933450" y="4343400"/>
            <a:ext cx="4972200" cy="52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38100" spcFirstLastPara="1" rIns="38100" wrap="square" tIns="190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Switches the pie chart between all sites and one site, and filters the scatter plot for that site.</a:t>
            </a:r>
            <a:endParaRPr b="0" i="0" sz="1000" u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28"/>
          <p:cNvSpPr/>
          <p:nvPr/>
        </p:nvSpPr>
        <p:spPr>
          <a:xfrm>
            <a:off x="762000" y="4991100"/>
            <a:ext cx="5238900" cy="8574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28"/>
          <p:cNvSpPr/>
          <p:nvPr/>
        </p:nvSpPr>
        <p:spPr>
          <a:xfrm>
            <a:off x="762000" y="4991100"/>
            <a:ext cx="57300" cy="8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28"/>
          <p:cNvSpPr txBox="1"/>
          <p:nvPr/>
        </p:nvSpPr>
        <p:spPr>
          <a:xfrm>
            <a:off x="933450" y="5038725"/>
            <a:ext cx="49722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38100" spcFirstLastPara="1" rIns="38100" wrap="square" tIns="190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Payload slider and point hover</a:t>
            </a:r>
            <a:endParaRPr b="1" i="0" sz="1150" u="none" strike="noStrike">
              <a:solidFill>
                <a:srgbClr val="0D94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28"/>
          <p:cNvSpPr txBox="1"/>
          <p:nvPr/>
        </p:nvSpPr>
        <p:spPr>
          <a:xfrm>
            <a:off x="933450" y="5276850"/>
            <a:ext cx="4972200" cy="52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38100" spcFirstLastPara="1" rIns="38100" wrap="square" tIns="190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Narrows the scatter plot to a mass range; hovering identifies the launch site and booster version behind a point.</a:t>
            </a:r>
            <a:endParaRPr b="0" i="0" sz="1000" u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29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0" name="Google Shape;590;p29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Predictive Analysis (Classification)</a:t>
            </a:r>
            <a:endParaRPr b="1" i="0" sz="37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29"/>
          <p:cNvSpPr txBox="1"/>
          <p:nvPr/>
        </p:nvSpPr>
        <p:spPr>
          <a:xfrm>
            <a:off x="1260000" y="5890345"/>
            <a:ext cx="106152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https://github.com/treinart/IBM-Data-Science-Professional-Certificate/blob/main/10_Applied%20Data%20Science%20Capstone/Module%204/SpaceX-Machine-Learning-Prediction-Part-5-v1.ipynb</a:t>
            </a:r>
            <a:endParaRPr sz="900" u="sng">
              <a:solidFill>
                <a:srgbClr val="0D50CE"/>
              </a:solidFill>
            </a:endParaRPr>
          </a:p>
        </p:txBody>
      </p:sp>
      <p:pic>
        <p:nvPicPr>
          <p:cNvPr id="592" name="Google Shape;592;p29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60000" y="59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93" name="Google Shape;593;p29"/>
          <p:cNvSpPr txBox="1"/>
          <p:nvPr/>
        </p:nvSpPr>
        <p:spPr>
          <a:xfrm>
            <a:off x="950000" y="1510000"/>
            <a:ext cx="35400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0D50CE"/>
                </a:solidFill>
              </a:rPr>
              <a:t>TASK 6  |  SVM GRID SEARCH</a:t>
            </a:r>
            <a:endParaRPr b="1" sz="1150">
              <a:solidFill>
                <a:srgbClr val="0D50CE"/>
              </a:solidFill>
            </a:endParaRPr>
          </a:p>
        </p:txBody>
      </p:sp>
      <p:pic>
        <p:nvPicPr>
          <p:cNvPr id="594" name="Google Shape;594;p2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50000" y="1814646"/>
            <a:ext cx="3550000" cy="3522266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29"/>
          <p:cNvSpPr txBox="1"/>
          <p:nvPr/>
        </p:nvSpPr>
        <p:spPr>
          <a:xfrm>
            <a:off x="950000" y="5380000"/>
            <a:ext cx="3549900" cy="249900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lt1"/>
                </a:solidFill>
              </a:rPr>
              <a:t>84.82% mean cross-validation accuracy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id="596" name="Google Shape;596;p29"/>
          <p:cNvPicPr preferRelativeResize="0"/>
          <p:nvPr/>
        </p:nvPicPr>
        <p:blipFill rotWithShape="1">
          <a:blip r:embed="rId8">
            <a:alphaModFix/>
          </a:blip>
          <a:srcRect b="2864" l="0" r="0" t="2295"/>
          <a:stretch/>
        </p:blipFill>
        <p:spPr>
          <a:xfrm>
            <a:off x="4713100" y="1416100"/>
            <a:ext cx="6290499" cy="4474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30"/>
          <p:cNvSpPr txBox="1"/>
          <p:nvPr/>
        </p:nvSpPr>
        <p:spPr>
          <a:xfrm>
            <a:off x="762000" y="400050"/>
            <a:ext cx="106680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b="1" i="0" sz="255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30"/>
          <p:cNvSpPr txBox="1"/>
          <p:nvPr/>
        </p:nvSpPr>
        <p:spPr>
          <a:xfrm>
            <a:off x="10953750" y="6238875"/>
            <a:ext cx="4764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40" u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1" i="0" sz="840" u="none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30"/>
          <p:cNvSpPr/>
          <p:nvPr/>
        </p:nvSpPr>
        <p:spPr>
          <a:xfrm>
            <a:off x="762000" y="990600"/>
            <a:ext cx="5191200" cy="24765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30"/>
          <p:cNvSpPr/>
          <p:nvPr/>
        </p:nvSpPr>
        <p:spPr>
          <a:xfrm>
            <a:off x="6238875" y="990600"/>
            <a:ext cx="5191200" cy="24765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30"/>
          <p:cNvSpPr/>
          <p:nvPr/>
        </p:nvSpPr>
        <p:spPr>
          <a:xfrm>
            <a:off x="762000" y="3562350"/>
            <a:ext cx="5191200" cy="2476500"/>
          </a:xfrm>
          <a:prstGeom prst="roundRect">
            <a:avLst>
              <a:gd fmla="val 0" name="adj"/>
            </a:avLst>
          </a:prstGeom>
          <a:solidFill>
            <a:srgbClr val="F8FAFC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" name="Google Shape;607;p30"/>
          <p:cNvSpPr txBox="1"/>
          <p:nvPr/>
        </p:nvSpPr>
        <p:spPr>
          <a:xfrm>
            <a:off x="933450" y="1066800"/>
            <a:ext cx="4905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5" u="none" strike="noStrike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rPr>
              <a:t>EXPLORATORY ANALYSIS  |  BOOSTER REUSE</a:t>
            </a:r>
            <a:endParaRPr b="1" i="0" sz="735" u="none" strike="noStrike">
              <a:solidFill>
                <a:srgbClr val="1E40A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30"/>
          <p:cNvSpPr txBox="1"/>
          <p:nvPr/>
        </p:nvSpPr>
        <p:spPr>
          <a:xfrm>
            <a:off x="933450" y="1216789"/>
            <a:ext cx="4905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1" u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29/37 reused landed (78.4%); 31/53 not reused (58.5%).</a:t>
            </a:r>
            <a:endParaRPr b="0" i="0" sz="891" u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30"/>
          <p:cNvSpPr txBox="1"/>
          <p:nvPr/>
        </p:nvSpPr>
        <p:spPr>
          <a:xfrm>
            <a:off x="933450" y="3638550"/>
            <a:ext cx="4905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5" u="none" strike="noStrike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rPr>
              <a:t>PREDICTIVE ANALYSIS  |  MODEL VALIDATION</a:t>
            </a:r>
            <a:endParaRPr b="1" i="0" sz="735" u="none" strike="noStrike">
              <a:solidFill>
                <a:srgbClr val="1E40A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30"/>
          <p:cNvSpPr txBox="1"/>
          <p:nvPr/>
        </p:nvSpPr>
        <p:spPr>
          <a:xfrm>
            <a:off x="933450" y="3799405"/>
            <a:ext cx="4905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1" u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3 models tied at 83.3% test; Decision Tree: 83.4% CV → 72.2% test.</a:t>
            </a:r>
            <a:endParaRPr b="0" i="0" sz="891" u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30"/>
          <p:cNvSpPr/>
          <p:nvPr/>
        </p:nvSpPr>
        <p:spPr>
          <a:xfrm>
            <a:off x="6238875" y="3562350"/>
            <a:ext cx="5191200" cy="2476500"/>
          </a:xfrm>
          <a:prstGeom prst="roundRect">
            <a:avLst>
              <a:gd fmla="val 0" name="adj"/>
            </a:avLst>
          </a:prstGeom>
          <a:solidFill>
            <a:srgbClr val="F8FAFC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30"/>
          <p:cNvSpPr txBox="1"/>
          <p:nvPr/>
        </p:nvSpPr>
        <p:spPr>
          <a:xfrm>
            <a:off x="1571625" y="6267450"/>
            <a:ext cx="10479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9" u="sng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EDA notebook</a:t>
            </a:r>
            <a:endParaRPr b="0" i="0" sz="879" u="sng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  <a:hlinkClick r:id="rId5">
                <a:extLst>
                  <a:ext uri="{A12FA001-AC4F-418D-AE19-62706E023703}">
                    <ahyp:hlinkClr val="tx"/>
                  </a:ext>
                </a:extLst>
              </a:hlinkClick>
            </a:endParaRPr>
          </a:p>
        </p:txBody>
      </p:sp>
      <p:sp>
        <p:nvSpPr>
          <p:cNvPr id="613" name="Google Shape;613;p30"/>
          <p:cNvSpPr txBox="1"/>
          <p:nvPr/>
        </p:nvSpPr>
        <p:spPr>
          <a:xfrm>
            <a:off x="2762250" y="6267450"/>
            <a:ext cx="9525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9" u="sng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Dash Python</a:t>
            </a:r>
            <a:endParaRPr b="0" i="0" sz="879" u="sng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  <a:hlinkClick r:id="rId7">
                <a:extLst>
                  <a:ext uri="{A12FA001-AC4F-418D-AE19-62706E023703}">
                    <ahyp:hlinkClr val="tx"/>
                  </a:ext>
                </a:extLst>
              </a:hlinkClick>
            </a:endParaRPr>
          </a:p>
        </p:txBody>
      </p:sp>
      <p:sp>
        <p:nvSpPr>
          <p:cNvPr id="614" name="Google Shape;614;p30"/>
          <p:cNvSpPr txBox="1"/>
          <p:nvPr/>
        </p:nvSpPr>
        <p:spPr>
          <a:xfrm>
            <a:off x="3857625" y="6267450"/>
            <a:ext cx="1095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9" u="sng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Live dashboard</a:t>
            </a:r>
            <a:endParaRPr b="0" i="0" sz="879" u="sng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  <a:hlinkClick r:id="rId9">
                <a:extLst>
                  <a:ext uri="{A12FA001-AC4F-418D-AE19-62706E023703}">
                    <ahyp:hlinkClr val="tx"/>
                  </a:ext>
                </a:extLst>
              </a:hlinkClick>
            </a:endParaRPr>
          </a:p>
        </p:txBody>
      </p:sp>
      <p:sp>
        <p:nvSpPr>
          <p:cNvPr id="615" name="Google Shape;615;p30"/>
          <p:cNvSpPr txBox="1"/>
          <p:nvPr/>
        </p:nvSpPr>
        <p:spPr>
          <a:xfrm>
            <a:off x="5095875" y="6267450"/>
            <a:ext cx="10479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9" u="sng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  <a:hlinkClick r:id="rId1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ML notebook</a:t>
            </a:r>
            <a:endParaRPr b="0" i="0" sz="879" u="sng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  <a:hlinkClick r:id="rId11">
                <a:extLst>
                  <a:ext uri="{A12FA001-AC4F-418D-AE19-62706E023703}">
                    <ahyp:hlinkClr val="tx"/>
                  </a:ext>
                </a:extLst>
              </a:hlinkClick>
            </a:endParaRPr>
          </a:p>
        </p:txBody>
      </p:sp>
      <p:sp>
        <p:nvSpPr>
          <p:cNvPr id="616" name="Google Shape;616;p30"/>
          <p:cNvSpPr txBox="1"/>
          <p:nvPr/>
        </p:nvSpPr>
        <p:spPr>
          <a:xfrm>
            <a:off x="6400800" y="3701609"/>
            <a:ext cx="4905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1" u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2,000–6,500 kg filter; hover identifies a launch.</a:t>
            </a:r>
            <a:endParaRPr b="0" i="0" sz="891" u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30"/>
          <p:cNvSpPr txBox="1"/>
          <p:nvPr/>
        </p:nvSpPr>
        <p:spPr>
          <a:xfrm>
            <a:off x="6400800" y="1066800"/>
            <a:ext cx="4905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5" u="none" strike="noStrike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rPr>
              <a:t>INTERACTIVE DASHBOARD  |  CCAFS SLC-40</a:t>
            </a:r>
            <a:endParaRPr b="1" i="0" sz="735" u="none" strike="noStrike">
              <a:solidFill>
                <a:srgbClr val="1E40A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30"/>
          <p:cNvSpPr txBox="1"/>
          <p:nvPr/>
        </p:nvSpPr>
        <p:spPr>
          <a:xfrm>
            <a:off x="6400800" y="1227655"/>
            <a:ext cx="4905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1" u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3 of 7 launches had successful landings.</a:t>
            </a:r>
            <a:endParaRPr b="0" i="0" sz="891" u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30"/>
          <p:cNvSpPr/>
          <p:nvPr/>
        </p:nvSpPr>
        <p:spPr>
          <a:xfrm>
            <a:off x="762000" y="990600"/>
            <a:ext cx="57300" cy="2476500"/>
          </a:xfrm>
          <a:prstGeom prst="roundRect">
            <a:avLst>
              <a:gd fmla="val 0" name="adj"/>
            </a:avLst>
          </a:prstGeom>
          <a:solidFill>
            <a:srgbClr val="1E40A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30"/>
          <p:cNvSpPr/>
          <p:nvPr/>
        </p:nvSpPr>
        <p:spPr>
          <a:xfrm>
            <a:off x="6238875" y="990600"/>
            <a:ext cx="57300" cy="2476500"/>
          </a:xfrm>
          <a:prstGeom prst="roundRect">
            <a:avLst>
              <a:gd fmla="val 0" name="adj"/>
            </a:avLst>
          </a:prstGeom>
          <a:solidFill>
            <a:srgbClr val="1E40A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30"/>
          <p:cNvSpPr/>
          <p:nvPr/>
        </p:nvSpPr>
        <p:spPr>
          <a:xfrm>
            <a:off x="762000" y="6172200"/>
            <a:ext cx="10668000" cy="14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30"/>
          <p:cNvSpPr/>
          <p:nvPr/>
        </p:nvSpPr>
        <p:spPr>
          <a:xfrm>
            <a:off x="762000" y="3562350"/>
            <a:ext cx="57300" cy="2476500"/>
          </a:xfrm>
          <a:prstGeom prst="roundRect">
            <a:avLst>
              <a:gd fmla="val 0" name="adj"/>
            </a:avLst>
          </a:prstGeom>
          <a:solidFill>
            <a:srgbClr val="1E40A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30"/>
          <p:cNvSpPr/>
          <p:nvPr/>
        </p:nvSpPr>
        <p:spPr>
          <a:xfrm>
            <a:off x="6238875" y="3562350"/>
            <a:ext cx="57300" cy="2476500"/>
          </a:xfrm>
          <a:prstGeom prst="roundRect">
            <a:avLst>
              <a:gd fmla="val 0" name="adj"/>
            </a:avLst>
          </a:prstGeom>
          <a:solidFill>
            <a:srgbClr val="1E40A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24" name="Google Shape;624;p30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045649" y="1438340"/>
            <a:ext cx="46239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5" name="Google Shape;625;p30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138345" y="4052978"/>
            <a:ext cx="4200300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6" name="Google Shape;626;p30"/>
          <p:cNvSpPr txBox="1"/>
          <p:nvPr/>
        </p:nvSpPr>
        <p:spPr>
          <a:xfrm>
            <a:off x="6400800" y="3638550"/>
            <a:ext cx="4905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5" u="none" strike="noStrike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rPr>
              <a:t>INTERACTIVE DASHBOARD  |  PAYLOAD &amp; SUCCESS</a:t>
            </a:r>
            <a:endParaRPr b="1" i="0" sz="735" u="none" strike="noStrike">
              <a:solidFill>
                <a:srgbClr val="1E40A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7" name="Google Shape;627;p30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930873" y="3943350"/>
            <a:ext cx="4043176" cy="1942200"/>
          </a:xfrm>
          <a:prstGeom prst="rect">
            <a:avLst/>
          </a:prstGeom>
          <a:solidFill>
            <a:srgbClr val="F8FAFC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28" name="Google Shape;628;p30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6930875" y="1515825"/>
            <a:ext cx="3845150" cy="1902299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29" name="Google Shape;629;p30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1284534" y="6309084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31"/>
          <p:cNvSpPr txBox="1"/>
          <p:nvPr/>
        </p:nvSpPr>
        <p:spPr>
          <a:xfrm>
            <a:off x="666750" y="438150"/>
            <a:ext cx="10858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Results | EDA and SQL</a:t>
            </a:r>
            <a:endParaRPr b="1" i="0" sz="32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36" name="Google Shape;636;p31"/>
          <p:cNvGrpSpPr/>
          <p:nvPr/>
        </p:nvGrpSpPr>
        <p:grpSpPr>
          <a:xfrm>
            <a:off x="7572375" y="1238250"/>
            <a:ext cx="3952800" cy="1428900"/>
            <a:chOff x="0" y="0"/>
            <a:chExt cx="3952800" cy="1428900"/>
          </a:xfrm>
        </p:grpSpPr>
        <p:sp>
          <p:nvSpPr>
            <p:cNvPr id="637" name="Google Shape;637;p31"/>
            <p:cNvSpPr/>
            <p:nvPr/>
          </p:nvSpPr>
          <p:spPr>
            <a:xfrm>
              <a:off x="0" y="0"/>
              <a:ext cx="3952800" cy="1428900"/>
            </a:xfrm>
            <a:prstGeom prst="roundRect">
              <a:avLst>
                <a:gd fmla="val 8000" name="adj"/>
              </a:avLst>
            </a:prstGeom>
            <a:solidFill>
              <a:srgbClr val="0D5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31"/>
            <p:cNvSpPr txBox="1"/>
            <p:nvPr/>
          </p:nvSpPr>
          <p:spPr>
            <a:xfrm>
              <a:off x="228600" y="190500"/>
              <a:ext cx="34956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93C5FD"/>
                  </a:solidFill>
                  <a:latin typeface="Arial"/>
                  <a:ea typeface="Arial"/>
                  <a:cs typeface="Arial"/>
                  <a:sym typeface="Arial"/>
                </a:rPr>
                <a:t>SQL NOTEBOOK MILESTONE</a:t>
              </a:r>
              <a:endParaRPr b="1" sz="1100">
                <a:solidFill>
                  <a:srgbClr val="93C5F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December 22, 2015</a:t>
              </a:r>
              <a:endParaRPr b="1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0E7FF"/>
                  </a:solidFill>
                  <a:latin typeface="Arial"/>
                  <a:ea typeface="Arial"/>
                  <a:cs typeface="Arial"/>
                  <a:sym typeface="Arial"/>
                </a:rPr>
                <a:t>First successful ground-pad landing</a:t>
              </a:r>
              <a:endParaRPr b="0" sz="1300">
                <a:solidFill>
                  <a:srgbClr val="E0E7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39" name="Google Shape;639;p31"/>
          <p:cNvSpPr txBox="1"/>
          <p:nvPr/>
        </p:nvSpPr>
        <p:spPr>
          <a:xfrm>
            <a:off x="7572375" y="2905125"/>
            <a:ext cx="39528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MISSION OUTCOMES </a:t>
            </a:r>
            <a:r>
              <a:rPr b="0" lang="en-US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(101-ROW SAMPLE)</a:t>
            </a:r>
            <a:endParaRPr b="1" sz="1100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31"/>
          <p:cNvSpPr txBox="1"/>
          <p:nvPr/>
        </p:nvSpPr>
        <p:spPr>
          <a:xfrm>
            <a:off x="323000" y="1642500"/>
            <a:ext cx="62103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D50CE"/>
                </a:solidFill>
                <a:latin typeface="Arial"/>
                <a:ea typeface="Arial"/>
                <a:cs typeface="Arial"/>
                <a:sym typeface="Arial"/>
              </a:rPr>
              <a:t>EXPLORATORY DATA ANALYSIS</a:t>
            </a:r>
            <a:endParaRPr b="1" sz="1100">
              <a:solidFill>
                <a:srgbClr val="0D50C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1" name="Google Shape;641;p31"/>
          <p:cNvGrpSpPr/>
          <p:nvPr/>
        </p:nvGrpSpPr>
        <p:grpSpPr>
          <a:xfrm>
            <a:off x="7572375" y="3238500"/>
            <a:ext cx="3952800" cy="809700"/>
            <a:chOff x="0" y="0"/>
            <a:chExt cx="3952800" cy="809700"/>
          </a:xfrm>
        </p:grpSpPr>
        <p:sp>
          <p:nvSpPr>
            <p:cNvPr id="642" name="Google Shape;642;p31"/>
            <p:cNvSpPr/>
            <p:nvPr/>
          </p:nvSpPr>
          <p:spPr>
            <a:xfrm>
              <a:off x="0" y="0"/>
              <a:ext cx="3952800" cy="809700"/>
            </a:xfrm>
            <a:prstGeom prst="roundRect">
              <a:avLst>
                <a:gd fmla="val 11764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31"/>
            <p:cNvSpPr/>
            <p:nvPr/>
          </p:nvSpPr>
          <p:spPr>
            <a:xfrm>
              <a:off x="0" y="0"/>
              <a:ext cx="57300" cy="809700"/>
            </a:xfrm>
            <a:prstGeom prst="roundRect">
              <a:avLst>
                <a:gd fmla="val 50000" name="adj"/>
              </a:avLst>
            </a:prstGeom>
            <a:solidFill>
              <a:srgbClr val="16A3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31"/>
            <p:cNvSpPr txBox="1"/>
            <p:nvPr/>
          </p:nvSpPr>
          <p:spPr>
            <a:xfrm>
              <a:off x="228600" y="0"/>
              <a:ext cx="7620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99</a:t>
              </a:r>
              <a:endParaRPr b="1" sz="3000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" name="Google Shape;645;p31"/>
            <p:cNvSpPr txBox="1"/>
            <p:nvPr/>
          </p:nvSpPr>
          <p:spPr>
            <a:xfrm>
              <a:off x="1047750" y="0"/>
              <a:ext cx="27147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Success</a:t>
              </a:r>
              <a:endParaRPr b="1" sz="15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Primary mission objective achieved</a:t>
              </a:r>
              <a:endParaRPr b="0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46" name="Google Shape;646;p31"/>
          <p:cNvGrpSpPr/>
          <p:nvPr/>
        </p:nvGrpSpPr>
        <p:grpSpPr>
          <a:xfrm>
            <a:off x="7572375" y="4191000"/>
            <a:ext cx="3952800" cy="809700"/>
            <a:chOff x="0" y="0"/>
            <a:chExt cx="3952800" cy="809700"/>
          </a:xfrm>
        </p:grpSpPr>
        <p:sp>
          <p:nvSpPr>
            <p:cNvPr id="647" name="Google Shape;647;p31"/>
            <p:cNvSpPr/>
            <p:nvPr/>
          </p:nvSpPr>
          <p:spPr>
            <a:xfrm>
              <a:off x="0" y="0"/>
              <a:ext cx="3952800" cy="809700"/>
            </a:xfrm>
            <a:prstGeom prst="roundRect">
              <a:avLst>
                <a:gd fmla="val 11764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" name="Google Shape;648;p31"/>
            <p:cNvSpPr/>
            <p:nvPr/>
          </p:nvSpPr>
          <p:spPr>
            <a:xfrm>
              <a:off x="0" y="0"/>
              <a:ext cx="57300" cy="809700"/>
            </a:xfrm>
            <a:prstGeom prst="roundRect">
              <a:avLst>
                <a:gd fmla="val 50000" name="adj"/>
              </a:avLst>
            </a:prstGeom>
            <a:solidFill>
              <a:srgbClr val="DC262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31"/>
            <p:cNvSpPr txBox="1"/>
            <p:nvPr/>
          </p:nvSpPr>
          <p:spPr>
            <a:xfrm>
              <a:off x="228600" y="0"/>
              <a:ext cx="7620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DC2626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sz="3000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" name="Google Shape;650;p31"/>
            <p:cNvSpPr txBox="1"/>
            <p:nvPr/>
          </p:nvSpPr>
          <p:spPr>
            <a:xfrm>
              <a:off x="1047750" y="0"/>
              <a:ext cx="27147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Failure </a:t>
              </a:r>
              <a:r>
                <a:rPr b="0" lang="en-US" sz="12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(in flight)</a:t>
              </a:r>
              <a:endParaRPr b="1" sz="15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Loss during ascent phase</a:t>
              </a:r>
              <a:endParaRPr b="0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51" name="Google Shape;651;p31"/>
          <p:cNvGrpSpPr/>
          <p:nvPr/>
        </p:nvGrpSpPr>
        <p:grpSpPr>
          <a:xfrm>
            <a:off x="7572375" y="5143500"/>
            <a:ext cx="3952800" cy="809700"/>
            <a:chOff x="0" y="0"/>
            <a:chExt cx="3952800" cy="809700"/>
          </a:xfrm>
        </p:grpSpPr>
        <p:sp>
          <p:nvSpPr>
            <p:cNvPr id="652" name="Google Shape;652;p31"/>
            <p:cNvSpPr/>
            <p:nvPr/>
          </p:nvSpPr>
          <p:spPr>
            <a:xfrm>
              <a:off x="0" y="0"/>
              <a:ext cx="3952800" cy="809700"/>
            </a:xfrm>
            <a:prstGeom prst="roundRect">
              <a:avLst>
                <a:gd fmla="val 11764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31"/>
            <p:cNvSpPr/>
            <p:nvPr/>
          </p:nvSpPr>
          <p:spPr>
            <a:xfrm>
              <a:off x="0" y="0"/>
              <a:ext cx="57300" cy="809700"/>
            </a:xfrm>
            <a:prstGeom prst="roundRect">
              <a:avLst>
                <a:gd fmla="val 50000" name="adj"/>
              </a:avLst>
            </a:prstGeom>
            <a:solidFill>
              <a:srgbClr val="D9770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31"/>
            <p:cNvSpPr txBox="1"/>
            <p:nvPr/>
          </p:nvSpPr>
          <p:spPr>
            <a:xfrm>
              <a:off x="228600" y="0"/>
              <a:ext cx="7620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sz="3000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" name="Google Shape;655;p31"/>
            <p:cNvSpPr txBox="1"/>
            <p:nvPr/>
          </p:nvSpPr>
          <p:spPr>
            <a:xfrm>
              <a:off x="1047750" y="0"/>
              <a:ext cx="27147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Success </a:t>
              </a:r>
              <a:r>
                <a:rPr b="0"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(payload status unclear)</a:t>
              </a:r>
              <a:endParaRPr b="1" sz="14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Orbit reached, payload unverified</a:t>
              </a:r>
              <a:endParaRPr b="0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56" name="Google Shape;656;p31"/>
          <p:cNvSpPr txBox="1"/>
          <p:nvPr/>
        </p:nvSpPr>
        <p:spPr>
          <a:xfrm>
            <a:off x="10858500" y="6210300"/>
            <a:ext cx="6669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sz="13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7" name="Google Shape;657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0000" y="633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31"/>
          <p:cNvSpPr txBox="1"/>
          <p:nvPr/>
        </p:nvSpPr>
        <p:spPr>
          <a:xfrm>
            <a:off x="1260000" y="6260000"/>
            <a:ext cx="99999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https://github.com/treinart/IBM-Data-Science-Professional-Certificate/blob/main/10_Applied%20Data%20Science%20Capstone/Module%202/jupyter-labs-eda-dataviz-v2.ipynb</a:t>
            </a:r>
            <a:endParaRPr sz="900" u="sng">
              <a:solidFill>
                <a:srgbClr val="0D50CE"/>
              </a:solidFill>
            </a:endParaRPr>
          </a:p>
        </p:txBody>
      </p:sp>
      <p:sp>
        <p:nvSpPr>
          <p:cNvPr id="659" name="Google Shape;659;p31"/>
          <p:cNvSpPr txBox="1"/>
          <p:nvPr/>
        </p:nvSpPr>
        <p:spPr>
          <a:xfrm>
            <a:off x="1260000" y="6470000"/>
            <a:ext cx="99999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https://github.com/treinart/IBM-Data-Science-Professional-Certificate/blob/main/10_Applied%20Data%20Science%20Capstone/Module%202/jupyter-labs-eda-sql-coursera_sqllite.ipynb</a:t>
            </a:r>
            <a:endParaRPr sz="900" u="sng">
              <a:solidFill>
                <a:srgbClr val="0D50CE"/>
              </a:solidFill>
            </a:endParaRPr>
          </a:p>
        </p:txBody>
      </p:sp>
      <p:pic>
        <p:nvPicPr>
          <p:cNvPr id="660" name="Google Shape;660;p3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3001" y="2023500"/>
            <a:ext cx="7087549" cy="38543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32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Results | Folium Map</a:t>
            </a:r>
            <a:endParaRPr b="1" i="0" sz="37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32"/>
          <p:cNvSpPr txBox="1"/>
          <p:nvPr/>
        </p:nvSpPr>
        <p:spPr>
          <a:xfrm>
            <a:off x="10880000" y="6090000"/>
            <a:ext cx="600000" cy="4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D50CE"/>
                </a:solidFill>
              </a:rPr>
              <a:t>18</a:t>
            </a:r>
            <a:endParaRPr>
              <a:solidFill>
                <a:srgbClr val="0D50CE"/>
              </a:solidFill>
            </a:endParaRPr>
          </a:p>
        </p:txBody>
      </p:sp>
      <p:sp>
        <p:nvSpPr>
          <p:cNvPr id="668" name="Google Shape;668;p32"/>
          <p:cNvSpPr txBox="1"/>
          <p:nvPr/>
        </p:nvSpPr>
        <p:spPr>
          <a:xfrm>
            <a:off x="800000" y="1590000"/>
            <a:ext cx="56499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D50CE"/>
                </a:solidFill>
              </a:rPr>
              <a:t>LANDING OUTCOMES AT CCAFS LC-40</a:t>
            </a:r>
            <a:endParaRPr b="1" sz="1600">
              <a:solidFill>
                <a:srgbClr val="0D50CE"/>
              </a:solidFill>
            </a:endParaRPr>
          </a:p>
        </p:txBody>
      </p:sp>
      <p:sp>
        <p:nvSpPr>
          <p:cNvPr id="669" name="Google Shape;669;p32"/>
          <p:cNvSpPr txBox="1"/>
          <p:nvPr/>
        </p:nvSpPr>
        <p:spPr>
          <a:xfrm>
            <a:off x="6860000" y="1590000"/>
            <a:ext cx="45999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D50CE"/>
                </a:solidFill>
              </a:rPr>
              <a:t>NEARBY FEATURES (KM)</a:t>
            </a:r>
            <a:endParaRPr b="1" sz="1600">
              <a:solidFill>
                <a:srgbClr val="0D50CE"/>
              </a:solidFill>
            </a:endParaRPr>
          </a:p>
        </p:txBody>
      </p:sp>
      <p:sp>
        <p:nvSpPr>
          <p:cNvPr id="670" name="Google Shape;670;p32"/>
          <p:cNvSpPr txBox="1"/>
          <p:nvPr/>
        </p:nvSpPr>
        <p:spPr>
          <a:xfrm>
            <a:off x="800000" y="5820000"/>
            <a:ext cx="5600100" cy="4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243652"/>
                </a:solidFill>
              </a:rPr>
              <a:t>Green: landing success    Red: landing failure</a:t>
            </a:r>
            <a:endParaRPr sz="1700">
              <a:solidFill>
                <a:srgbClr val="243652"/>
              </a:solidFill>
            </a:endParaRPr>
          </a:p>
        </p:txBody>
      </p:sp>
      <p:sp>
        <p:nvSpPr>
          <p:cNvPr id="671" name="Google Shape;671;p32"/>
          <p:cNvSpPr txBox="1"/>
          <p:nvPr/>
        </p:nvSpPr>
        <p:spPr>
          <a:xfrm>
            <a:off x="6860000" y="4450000"/>
            <a:ext cx="4749900" cy="10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43652"/>
                </a:solidFill>
              </a:rPr>
              <a:t>The selected coast and highway points are less than 1 km from both CCAFS sites.</a:t>
            </a:r>
            <a:endParaRPr b="1" sz="2000">
              <a:solidFill>
                <a:srgbClr val="243652"/>
              </a:solidFill>
            </a:endParaRPr>
          </a:p>
        </p:txBody>
      </p:sp>
      <p:pic>
        <p:nvPicPr>
          <p:cNvPr id="672" name="Google Shape;672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000" y="2120000"/>
            <a:ext cx="5820000" cy="3668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73" name="Google Shape;673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60000" y="2110000"/>
            <a:ext cx="4750000" cy="2003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674" name="Google Shape;674;p3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675" name="Google Shape;675;p32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https://github.com/treinart/IBM-Data-Science-Professional-Certificate/blob/main/10_Applied%20Data%20Science%20Capstone/Module%203/lab-jupyter-launch-site-location-v2.ipynb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33"/>
          <p:cNvSpPr txBox="1"/>
          <p:nvPr/>
        </p:nvSpPr>
        <p:spPr>
          <a:xfrm>
            <a:off x="666750" y="381000"/>
            <a:ext cx="10858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6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Results | Interactive Analytics</a:t>
            </a:r>
            <a:endParaRPr b="1" i="0" sz="296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33"/>
          <p:cNvSpPr txBox="1"/>
          <p:nvPr/>
        </p:nvSpPr>
        <p:spPr>
          <a:xfrm>
            <a:off x="666750" y="904875"/>
            <a:ext cx="10858500" cy="333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243652"/>
                </a:solidFill>
                <a:latin typeface="Arial"/>
                <a:ea typeface="Arial"/>
                <a:cs typeface="Arial"/>
                <a:sym typeface="Arial"/>
              </a:rPr>
              <a:t>Changing the site filter changes the landing outcome view.</a:t>
            </a:r>
            <a:endParaRPr b="1" i="0" sz="1800">
              <a:solidFill>
                <a:srgbClr val="24365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83" name="Google Shape;683;p33"/>
          <p:cNvGrpSpPr/>
          <p:nvPr/>
        </p:nvGrpSpPr>
        <p:grpSpPr>
          <a:xfrm>
            <a:off x="666750" y="1381125"/>
            <a:ext cx="5238900" cy="4905300"/>
            <a:chOff x="0" y="0"/>
            <a:chExt cx="5238900" cy="4905300"/>
          </a:xfrm>
        </p:grpSpPr>
        <p:sp>
          <p:nvSpPr>
            <p:cNvPr id="684" name="Google Shape;684;p33"/>
            <p:cNvSpPr/>
            <p:nvPr/>
          </p:nvSpPr>
          <p:spPr>
            <a:xfrm>
              <a:off x="0" y="0"/>
              <a:ext cx="5238900" cy="4905300"/>
            </a:xfrm>
            <a:prstGeom prst="roundRect">
              <a:avLst>
                <a:gd fmla="val 233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33"/>
            <p:cNvSpPr/>
            <p:nvPr/>
          </p:nvSpPr>
          <p:spPr>
            <a:xfrm>
              <a:off x="190500" y="190500"/>
              <a:ext cx="4857900" cy="400200"/>
            </a:xfrm>
            <a:prstGeom prst="roundRect">
              <a:avLst>
                <a:gd fmla="val 14285" name="adj"/>
              </a:avLst>
            </a:prstGeom>
            <a:solidFill>
              <a:srgbClr val="0D5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33"/>
            <p:cNvSpPr txBox="1"/>
            <p:nvPr/>
          </p:nvSpPr>
          <p:spPr>
            <a:xfrm>
              <a:off x="190500" y="190500"/>
              <a:ext cx="4857900" cy="400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ALL SITES</a:t>
              </a:r>
              <a:endParaRPr b="1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33"/>
            <p:cNvSpPr/>
            <p:nvPr/>
          </p:nvSpPr>
          <p:spPr>
            <a:xfrm>
              <a:off x="190500" y="3667125"/>
              <a:ext cx="48579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33"/>
            <p:cNvSpPr/>
            <p:nvPr/>
          </p:nvSpPr>
          <p:spPr>
            <a:xfrm>
              <a:off x="190500" y="3667125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0D5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" name="Google Shape;689;p33"/>
            <p:cNvSpPr txBox="1"/>
            <p:nvPr/>
          </p:nvSpPr>
          <p:spPr>
            <a:xfrm>
              <a:off x="381000" y="3667125"/>
              <a:ext cx="44769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0D50CE"/>
                  </a:solidFill>
                  <a:latin typeface="Arial"/>
                  <a:ea typeface="Arial"/>
                  <a:cs typeface="Arial"/>
                  <a:sym typeface="Arial"/>
                </a:rPr>
                <a:t>41.7%</a:t>
              </a:r>
              <a:endParaRPr b="1" sz="2200">
                <a:solidFill>
                  <a:srgbClr val="0D50CE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KSC LC-39A accounts for 41.7% of successful landings.</a:t>
              </a:r>
              <a:endParaRPr b="0" sz="13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90" name="Google Shape;690;p33"/>
          <p:cNvGrpSpPr/>
          <p:nvPr/>
        </p:nvGrpSpPr>
        <p:grpSpPr>
          <a:xfrm>
            <a:off x="6286500" y="1381125"/>
            <a:ext cx="5238900" cy="4905300"/>
            <a:chOff x="0" y="0"/>
            <a:chExt cx="5238900" cy="4905300"/>
          </a:xfrm>
        </p:grpSpPr>
        <p:sp>
          <p:nvSpPr>
            <p:cNvPr id="691" name="Google Shape;691;p33"/>
            <p:cNvSpPr/>
            <p:nvPr/>
          </p:nvSpPr>
          <p:spPr>
            <a:xfrm>
              <a:off x="0" y="0"/>
              <a:ext cx="5238900" cy="4905300"/>
            </a:xfrm>
            <a:prstGeom prst="roundRect">
              <a:avLst>
                <a:gd fmla="val 233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33"/>
            <p:cNvSpPr/>
            <p:nvPr/>
          </p:nvSpPr>
          <p:spPr>
            <a:xfrm>
              <a:off x="190500" y="190500"/>
              <a:ext cx="4857900" cy="400200"/>
            </a:xfrm>
            <a:prstGeom prst="roundRect">
              <a:avLst>
                <a:gd fmla="val 14285" name="adj"/>
              </a:avLst>
            </a:prstGeom>
            <a:solidFill>
              <a:srgbClr val="0D5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33"/>
            <p:cNvSpPr txBox="1"/>
            <p:nvPr/>
          </p:nvSpPr>
          <p:spPr>
            <a:xfrm>
              <a:off x="190500" y="190500"/>
              <a:ext cx="4857900" cy="400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CCAFS LC-40</a:t>
              </a:r>
              <a:endParaRPr b="1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33"/>
            <p:cNvSpPr/>
            <p:nvPr/>
          </p:nvSpPr>
          <p:spPr>
            <a:xfrm>
              <a:off x="190500" y="3667125"/>
              <a:ext cx="48579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33"/>
            <p:cNvSpPr/>
            <p:nvPr/>
          </p:nvSpPr>
          <p:spPr>
            <a:xfrm>
              <a:off x="190500" y="3667125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0D5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33"/>
            <p:cNvSpPr txBox="1"/>
            <p:nvPr/>
          </p:nvSpPr>
          <p:spPr>
            <a:xfrm>
              <a:off x="381000" y="3667125"/>
              <a:ext cx="44769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0D50CE"/>
                  </a:solidFill>
                  <a:latin typeface="Arial"/>
                  <a:ea typeface="Arial"/>
                  <a:cs typeface="Arial"/>
                  <a:sym typeface="Arial"/>
                </a:rPr>
                <a:t>26.9%</a:t>
              </a:r>
              <a:endParaRPr b="1" sz="2200">
                <a:solidFill>
                  <a:srgbClr val="0D50CE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At CCAFS LC-40, 26.9% of launches landed successfully.</a:t>
              </a:r>
              <a:endParaRPr b="0" sz="13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97" name="Google Shape;697;p33"/>
          <p:cNvSpPr txBox="1"/>
          <p:nvPr/>
        </p:nvSpPr>
        <p:spPr>
          <a:xfrm>
            <a:off x="10858500" y="6334125"/>
            <a:ext cx="6669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sz="13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8" name="Google Shape;698;p33"/>
          <p:cNvPicPr preferRelativeResize="0"/>
          <p:nvPr/>
        </p:nvPicPr>
        <p:blipFill rotWithShape="1">
          <a:blip r:embed="rId4">
            <a:alphaModFix/>
          </a:blip>
          <a:srcRect b="199" l="0" r="0" t="189"/>
          <a:stretch/>
        </p:blipFill>
        <p:spPr>
          <a:xfrm>
            <a:off x="857250" y="2114550"/>
            <a:ext cx="4857900" cy="276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33"/>
          <p:cNvPicPr preferRelativeResize="0"/>
          <p:nvPr/>
        </p:nvPicPr>
        <p:blipFill rotWithShape="1">
          <a:blip r:embed="rId5">
            <a:alphaModFix/>
          </a:blip>
          <a:srcRect b="0" l="583" r="573" t="0"/>
          <a:stretch/>
        </p:blipFill>
        <p:spPr>
          <a:xfrm>
            <a:off x="6477000" y="2114550"/>
            <a:ext cx="4857900" cy="276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00" name="Google Shape;700;p33"/>
          <p:cNvSpPr txBox="1"/>
          <p:nvPr/>
        </p:nvSpPr>
        <p:spPr>
          <a:xfrm>
            <a:off x="800000" y="6380000"/>
            <a:ext cx="32001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https://spacex-launch-analytics.netlify.app/</a:t>
            </a:r>
            <a:endParaRPr sz="900" u="sng">
              <a:solidFill>
                <a:srgbClr val="0D50CE"/>
              </a:solidFill>
            </a:endParaRPr>
          </a:p>
        </p:txBody>
      </p:sp>
      <p:sp>
        <p:nvSpPr>
          <p:cNvPr id="701" name="Google Shape;701;p33"/>
          <p:cNvSpPr txBox="1"/>
          <p:nvPr/>
        </p:nvSpPr>
        <p:spPr>
          <a:xfrm>
            <a:off x="4200000" y="6380000"/>
            <a:ext cx="27000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01-all-sites-dashboard.png</a:t>
            </a:r>
            <a:endParaRPr sz="900" u="sng">
              <a:solidFill>
                <a:srgbClr val="0D50CE"/>
              </a:solidFill>
            </a:endParaRPr>
          </a:p>
        </p:txBody>
      </p:sp>
      <p:sp>
        <p:nvSpPr>
          <p:cNvPr id="702" name="Google Shape;702;p33"/>
          <p:cNvSpPr txBox="1"/>
          <p:nvPr/>
        </p:nvSpPr>
        <p:spPr>
          <a:xfrm>
            <a:off x="7300000" y="6380000"/>
            <a:ext cx="33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02-selected-site-dashboard.png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34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Results | Predictive Models</a:t>
            </a:r>
            <a:endParaRPr b="1" i="0" sz="37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34"/>
          <p:cNvSpPr txBox="1"/>
          <p:nvPr/>
        </p:nvSpPr>
        <p:spPr>
          <a:xfrm>
            <a:off x="1350000" y="1490000"/>
            <a:ext cx="9300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43652"/>
                </a:solidFill>
              </a:rPr>
              <a:t>Three models reached 83.3% test accuracy.</a:t>
            </a:r>
            <a:endParaRPr b="1" sz="2400">
              <a:solidFill>
                <a:srgbClr val="243652"/>
              </a:solidFill>
            </a:endParaRPr>
          </a:p>
        </p:txBody>
      </p:sp>
      <p:sp>
        <p:nvSpPr>
          <p:cNvPr id="710" name="Google Shape;710;p34"/>
          <p:cNvSpPr txBox="1"/>
          <p:nvPr/>
        </p:nvSpPr>
        <p:spPr>
          <a:xfrm>
            <a:off x="1070000" y="2140000"/>
            <a:ext cx="4149900" cy="3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MODEL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711" name="Google Shape;711;p34"/>
          <p:cNvSpPr txBox="1"/>
          <p:nvPr/>
        </p:nvSpPr>
        <p:spPr>
          <a:xfrm>
            <a:off x="4900000" y="2140000"/>
            <a:ext cx="1749900" cy="3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ACCURACY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712" name="Google Shape;712;p34"/>
          <p:cNvSpPr txBox="1"/>
          <p:nvPr/>
        </p:nvSpPr>
        <p:spPr>
          <a:xfrm>
            <a:off x="1070000" y="2660000"/>
            <a:ext cx="42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43652"/>
                </a:solidFill>
              </a:rPr>
              <a:t>Logistic Regression</a:t>
            </a:r>
            <a:endParaRPr sz="2000">
              <a:solidFill>
                <a:srgbClr val="243652"/>
              </a:solidFill>
            </a:endParaRPr>
          </a:p>
        </p:txBody>
      </p:sp>
      <p:sp>
        <p:nvSpPr>
          <p:cNvPr id="713" name="Google Shape;713;p34"/>
          <p:cNvSpPr txBox="1"/>
          <p:nvPr/>
        </p:nvSpPr>
        <p:spPr>
          <a:xfrm>
            <a:off x="4900000" y="2660000"/>
            <a:ext cx="174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0D50CE"/>
                </a:solidFill>
              </a:rPr>
              <a:t>83.3%</a:t>
            </a:r>
            <a:endParaRPr b="1" sz="2100">
              <a:solidFill>
                <a:srgbClr val="0D50CE"/>
              </a:solidFill>
            </a:endParaRPr>
          </a:p>
        </p:txBody>
      </p:sp>
      <p:sp>
        <p:nvSpPr>
          <p:cNvPr id="714" name="Google Shape;714;p34"/>
          <p:cNvSpPr txBox="1"/>
          <p:nvPr/>
        </p:nvSpPr>
        <p:spPr>
          <a:xfrm>
            <a:off x="1070000" y="3270000"/>
            <a:ext cx="42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43652"/>
                </a:solidFill>
              </a:rPr>
              <a:t>Support Vector Machine</a:t>
            </a:r>
            <a:endParaRPr sz="2000">
              <a:solidFill>
                <a:srgbClr val="243652"/>
              </a:solidFill>
            </a:endParaRPr>
          </a:p>
        </p:txBody>
      </p:sp>
      <p:sp>
        <p:nvSpPr>
          <p:cNvPr id="715" name="Google Shape;715;p34"/>
          <p:cNvSpPr txBox="1"/>
          <p:nvPr/>
        </p:nvSpPr>
        <p:spPr>
          <a:xfrm>
            <a:off x="4900000" y="3270000"/>
            <a:ext cx="174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0D50CE"/>
                </a:solidFill>
              </a:rPr>
              <a:t>83.3%</a:t>
            </a:r>
            <a:endParaRPr b="1" sz="2100">
              <a:solidFill>
                <a:srgbClr val="0D50CE"/>
              </a:solidFill>
            </a:endParaRPr>
          </a:p>
        </p:txBody>
      </p:sp>
      <p:sp>
        <p:nvSpPr>
          <p:cNvPr id="716" name="Google Shape;716;p34"/>
          <p:cNvSpPr txBox="1"/>
          <p:nvPr/>
        </p:nvSpPr>
        <p:spPr>
          <a:xfrm>
            <a:off x="1070000" y="3880000"/>
            <a:ext cx="42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43652"/>
                </a:solidFill>
              </a:rPr>
              <a:t>K-Nearest Neighbors</a:t>
            </a:r>
            <a:endParaRPr sz="2000">
              <a:solidFill>
                <a:srgbClr val="243652"/>
              </a:solidFill>
            </a:endParaRPr>
          </a:p>
        </p:txBody>
      </p:sp>
      <p:sp>
        <p:nvSpPr>
          <p:cNvPr id="717" name="Google Shape;717;p34"/>
          <p:cNvSpPr txBox="1"/>
          <p:nvPr/>
        </p:nvSpPr>
        <p:spPr>
          <a:xfrm>
            <a:off x="4900000" y="3880000"/>
            <a:ext cx="174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0D50CE"/>
                </a:solidFill>
              </a:rPr>
              <a:t>83.3%</a:t>
            </a:r>
            <a:endParaRPr b="1" sz="2100">
              <a:solidFill>
                <a:srgbClr val="0D50CE"/>
              </a:solidFill>
            </a:endParaRPr>
          </a:p>
        </p:txBody>
      </p:sp>
      <p:sp>
        <p:nvSpPr>
          <p:cNvPr id="718" name="Google Shape;718;p34"/>
          <p:cNvSpPr txBox="1"/>
          <p:nvPr/>
        </p:nvSpPr>
        <p:spPr>
          <a:xfrm>
            <a:off x="1070000" y="4490000"/>
            <a:ext cx="42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43652"/>
                </a:solidFill>
              </a:rPr>
              <a:t>Decision Tree</a:t>
            </a:r>
            <a:endParaRPr sz="2000">
              <a:solidFill>
                <a:srgbClr val="243652"/>
              </a:solidFill>
            </a:endParaRPr>
          </a:p>
        </p:txBody>
      </p:sp>
      <p:sp>
        <p:nvSpPr>
          <p:cNvPr id="719" name="Google Shape;719;p34"/>
          <p:cNvSpPr txBox="1"/>
          <p:nvPr/>
        </p:nvSpPr>
        <p:spPr>
          <a:xfrm>
            <a:off x="4900000" y="4490000"/>
            <a:ext cx="174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0D50CE"/>
                </a:solidFill>
              </a:rPr>
              <a:t>72.2%</a:t>
            </a:r>
            <a:endParaRPr b="1" sz="2100">
              <a:solidFill>
                <a:srgbClr val="0D50CE"/>
              </a:solidFill>
            </a:endParaRPr>
          </a:p>
        </p:txBody>
      </p:sp>
      <p:sp>
        <p:nvSpPr>
          <p:cNvPr id="720" name="Google Shape;720;p34"/>
          <p:cNvSpPr txBox="1"/>
          <p:nvPr/>
        </p:nvSpPr>
        <p:spPr>
          <a:xfrm>
            <a:off x="1070000" y="5550000"/>
            <a:ext cx="10299900" cy="59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43652"/>
                </a:solidFill>
              </a:rPr>
              <a:t>The selected SVM found all 12 successes, but missed 3 of 6 failures.</a:t>
            </a:r>
            <a:endParaRPr b="1" sz="2000">
              <a:solidFill>
                <a:srgbClr val="243652"/>
              </a:solidFill>
            </a:endParaRPr>
          </a:p>
        </p:txBody>
      </p:sp>
      <p:sp>
        <p:nvSpPr>
          <p:cNvPr id="721" name="Google Shape;721;p34"/>
          <p:cNvSpPr txBox="1"/>
          <p:nvPr/>
        </p:nvSpPr>
        <p:spPr>
          <a:xfrm>
            <a:off x="10880000" y="6090000"/>
            <a:ext cx="600000" cy="4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D50CE"/>
                </a:solidFill>
              </a:rPr>
              <a:t>20</a:t>
            </a:r>
            <a:endParaRPr>
              <a:solidFill>
                <a:srgbClr val="0D50CE"/>
              </a:solidFill>
            </a:endParaRPr>
          </a:p>
        </p:txBody>
      </p:sp>
      <p:pic>
        <p:nvPicPr>
          <p:cNvPr id="722" name="Google Shape;722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00000" y="2120000"/>
            <a:ext cx="3750000" cy="3206215"/>
          </a:xfrm>
          <a:prstGeom prst="rect">
            <a:avLst/>
          </a:prstGeom>
          <a:noFill/>
          <a:ln>
            <a:noFill/>
          </a:ln>
        </p:spPr>
      </p:pic>
      <p:pic>
        <p:nvPicPr>
          <p:cNvPr id="723" name="Google Shape;723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24" name="Google Shape;724;p34"/>
          <p:cNvSpPr txBox="1"/>
          <p:nvPr/>
        </p:nvSpPr>
        <p:spPr>
          <a:xfrm>
            <a:off x="1260000" y="6380000"/>
            <a:ext cx="10220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https://github.com/treinart/IBM-Data-Science-Professional-Certificate/blob/main/10_Applied%20Data%20Science%20Capstone/Module%204/SpaceX-Machine-Learning-Prediction-Part-5-v1.ipynb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35"/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Section 2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p36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5" name="Google Shape;735;p36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Flight Number vs. Launch Site</a:t>
            </a:r>
            <a:endParaRPr b="1" i="0" sz="37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36"/>
          <p:cNvSpPr txBox="1"/>
          <p:nvPr/>
        </p:nvSpPr>
        <p:spPr>
          <a:xfrm>
            <a:off x="9240000" y="2190000"/>
            <a:ext cx="2300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LATER FLIGHTS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737" name="Google Shape;737;p36"/>
          <p:cNvSpPr txBox="1"/>
          <p:nvPr/>
        </p:nvSpPr>
        <p:spPr>
          <a:xfrm>
            <a:off x="9240000" y="2670000"/>
            <a:ext cx="2450100" cy="20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243652"/>
                </a:solidFill>
              </a:rPr>
              <a:t>Successful landings appear more often as flight number rises.</a:t>
            </a:r>
            <a:endParaRPr b="1" sz="2200">
              <a:solidFill>
                <a:srgbClr val="243652"/>
              </a:solidFill>
            </a:endParaRPr>
          </a:p>
        </p:txBody>
      </p:sp>
      <p:sp>
        <p:nvSpPr>
          <p:cNvPr id="738" name="Google Shape;738;p36"/>
          <p:cNvSpPr txBox="1"/>
          <p:nvPr/>
        </p:nvSpPr>
        <p:spPr>
          <a:xfrm>
            <a:off x="9240000" y="5350000"/>
            <a:ext cx="23001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43652"/>
                </a:solidFill>
              </a:rPr>
              <a:t>Orange (Class 1) marks a successful landing.</a:t>
            </a:r>
            <a:endParaRPr sz="1500">
              <a:solidFill>
                <a:srgbClr val="243652"/>
              </a:solidFill>
            </a:endParaRPr>
          </a:p>
        </p:txBody>
      </p:sp>
      <p:pic>
        <p:nvPicPr>
          <p:cNvPr id="739" name="Google Shape;739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58195" y="1890000"/>
            <a:ext cx="7813609" cy="4249217"/>
          </a:xfrm>
          <a:prstGeom prst="rect">
            <a:avLst/>
          </a:prstGeom>
          <a:noFill/>
          <a:ln>
            <a:noFill/>
          </a:ln>
        </p:spPr>
      </p:pic>
      <p:pic>
        <p:nvPicPr>
          <p:cNvPr id="740" name="Google Shape;740;p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41" name="Google Shape;741;p36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https://github.com/treinart/IBM-Data-Science-Professional-Certificate/blob/main/10_Applied%20Data%20Science%20Capstone/Module%202/jupyter-labs-eda-dataviz-v2.ipynb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37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7" name="Google Shape;747;p37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Payload Mass vs. Launch Site</a:t>
            </a:r>
            <a:endParaRPr b="1" i="0" sz="37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37"/>
          <p:cNvSpPr txBox="1"/>
          <p:nvPr/>
        </p:nvSpPr>
        <p:spPr>
          <a:xfrm>
            <a:off x="9240000" y="2190000"/>
            <a:ext cx="2450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0D50CE"/>
                </a:solidFill>
              </a:rPr>
              <a:t>9,600 KG</a:t>
            </a:r>
            <a:endParaRPr b="1" sz="2900">
              <a:solidFill>
                <a:srgbClr val="0D50CE"/>
              </a:solidFill>
            </a:endParaRPr>
          </a:p>
        </p:txBody>
      </p:sp>
      <p:sp>
        <p:nvSpPr>
          <p:cNvPr id="749" name="Google Shape;749;p37"/>
          <p:cNvSpPr txBox="1"/>
          <p:nvPr/>
        </p:nvSpPr>
        <p:spPr>
          <a:xfrm>
            <a:off x="9240000" y="2780000"/>
            <a:ext cx="2460000" cy="20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243652"/>
                </a:solidFill>
              </a:rPr>
              <a:t>The heaviest VAFB payload in this sample is 9,600 kg.</a:t>
            </a:r>
            <a:endParaRPr b="1" sz="2100">
              <a:solidFill>
                <a:srgbClr val="243652"/>
              </a:solidFill>
            </a:endParaRPr>
          </a:p>
        </p:txBody>
      </p:sp>
      <p:sp>
        <p:nvSpPr>
          <p:cNvPr id="750" name="Google Shape;750;p37"/>
          <p:cNvSpPr txBox="1"/>
          <p:nvPr/>
        </p:nvSpPr>
        <p:spPr>
          <a:xfrm>
            <a:off x="9240000" y="5320000"/>
            <a:ext cx="23301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43652"/>
                </a:solidFill>
              </a:rPr>
              <a:t>Payload mass alone does not separate landing outcomes.</a:t>
            </a:r>
            <a:endParaRPr sz="1500">
              <a:solidFill>
                <a:srgbClr val="243652"/>
              </a:solidFill>
            </a:endParaRPr>
          </a:p>
        </p:txBody>
      </p:sp>
      <p:pic>
        <p:nvPicPr>
          <p:cNvPr id="751" name="Google Shape;751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58195" y="1890000"/>
            <a:ext cx="7813609" cy="4249217"/>
          </a:xfrm>
          <a:prstGeom prst="rect">
            <a:avLst/>
          </a:prstGeom>
          <a:noFill/>
          <a:ln>
            <a:noFill/>
          </a:ln>
        </p:spPr>
      </p:pic>
      <p:pic>
        <p:nvPicPr>
          <p:cNvPr id="752" name="Google Shape;752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53" name="Google Shape;753;p37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https://github.com/treinart/IBM-Data-Science-Professional-Certificate/blob/main/10_Applied%20Data%20Science%20Capstone/Module%202/jupyter-labs-eda-dataviz-v2.ipynb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38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59" name="Google Shape;759;p38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Landing Success Rate by Orbit</a:t>
            </a:r>
            <a:endParaRPr b="1" i="0" sz="37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38"/>
          <p:cNvSpPr txBox="1"/>
          <p:nvPr/>
        </p:nvSpPr>
        <p:spPr>
          <a:xfrm>
            <a:off x="9240000" y="2190000"/>
            <a:ext cx="2450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0D50CE"/>
                </a:solidFill>
              </a:rPr>
              <a:t>86% VS. 52%</a:t>
            </a:r>
            <a:endParaRPr b="1" sz="2700">
              <a:solidFill>
                <a:srgbClr val="0D50CE"/>
              </a:solidFill>
            </a:endParaRPr>
          </a:p>
        </p:txBody>
      </p:sp>
      <p:sp>
        <p:nvSpPr>
          <p:cNvPr id="761" name="Google Shape;761;p38"/>
          <p:cNvSpPr txBox="1"/>
          <p:nvPr/>
        </p:nvSpPr>
        <p:spPr>
          <a:xfrm>
            <a:off x="9240000" y="2780000"/>
            <a:ext cx="2460000" cy="20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243652"/>
                </a:solidFill>
              </a:rPr>
              <a:t>VLEO: 12 of 14 landed.</a:t>
            </a:r>
            <a:endParaRPr b="1" sz="2100">
              <a:solidFill>
                <a:srgbClr val="24365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243652"/>
                </a:solidFill>
              </a:rPr>
              <a:t>GTO: 14 of 27 landed.</a:t>
            </a:r>
            <a:endParaRPr b="1" sz="2100">
              <a:solidFill>
                <a:srgbClr val="243652"/>
              </a:solidFill>
            </a:endParaRPr>
          </a:p>
        </p:txBody>
      </p:sp>
      <p:sp>
        <p:nvSpPr>
          <p:cNvPr id="762" name="Google Shape;762;p38"/>
          <p:cNvSpPr txBox="1"/>
          <p:nvPr/>
        </p:nvSpPr>
        <p:spPr>
          <a:xfrm>
            <a:off x="9240000" y="5320000"/>
            <a:ext cx="23301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43652"/>
                </a:solidFill>
              </a:rPr>
              <a:t>Three 100% orbit bars each represent one flight.</a:t>
            </a:r>
            <a:endParaRPr sz="1500">
              <a:solidFill>
                <a:srgbClr val="243652"/>
              </a:solidFill>
            </a:endParaRPr>
          </a:p>
        </p:txBody>
      </p:sp>
      <p:pic>
        <p:nvPicPr>
          <p:cNvPr id="763" name="Google Shape;763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000" y="2040581"/>
            <a:ext cx="8149999" cy="4033838"/>
          </a:xfrm>
          <a:prstGeom prst="rect">
            <a:avLst/>
          </a:prstGeom>
          <a:noFill/>
          <a:ln>
            <a:noFill/>
          </a:ln>
        </p:spPr>
      </p:pic>
      <p:pic>
        <p:nvPicPr>
          <p:cNvPr id="764" name="Google Shape;764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5" name="Google Shape;765;p38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https://github.com/treinart/IBM-Data-Science-Professional-Certificate/blob/main/10_Applied%20Data%20Science%20Capstone/Module%202/jupyter-labs-eda-dataviz-v2.ipynb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39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1" name="Google Shape;771;p39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Flight Number vs. Orbit Type</a:t>
            </a:r>
            <a:endParaRPr b="1" i="0" sz="37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39"/>
          <p:cNvSpPr txBox="1"/>
          <p:nvPr/>
        </p:nvSpPr>
        <p:spPr>
          <a:xfrm>
            <a:off x="9240000" y="2190000"/>
            <a:ext cx="2450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0D50CE"/>
                </a:solidFill>
              </a:rPr>
              <a:t>LEO / GTO</a:t>
            </a:r>
            <a:endParaRPr b="1" sz="2600">
              <a:solidFill>
                <a:srgbClr val="0D50CE"/>
              </a:solidFill>
            </a:endParaRPr>
          </a:p>
        </p:txBody>
      </p:sp>
      <p:sp>
        <p:nvSpPr>
          <p:cNvPr id="773" name="Google Shape;773;p39"/>
          <p:cNvSpPr txBox="1"/>
          <p:nvPr/>
        </p:nvSpPr>
        <p:spPr>
          <a:xfrm>
            <a:off x="9240000" y="2780000"/>
            <a:ext cx="2460000" cy="20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243652"/>
                </a:solidFill>
              </a:rPr>
              <a:t>Later LEO flights tend to succeed. GTO stays mixed across flight numbers.</a:t>
            </a:r>
            <a:endParaRPr b="1" sz="2100">
              <a:solidFill>
                <a:srgbClr val="243652"/>
              </a:solidFill>
            </a:endParaRPr>
          </a:p>
        </p:txBody>
      </p:sp>
      <p:sp>
        <p:nvSpPr>
          <p:cNvPr id="774" name="Google Shape;774;p39"/>
          <p:cNvSpPr txBox="1"/>
          <p:nvPr/>
        </p:nvSpPr>
        <p:spPr>
          <a:xfrm>
            <a:off x="9240000" y="5320000"/>
            <a:ext cx="23301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43652"/>
                </a:solidFill>
              </a:rPr>
              <a:t>Orange (Class 1) marks a successful landing.</a:t>
            </a:r>
            <a:endParaRPr sz="1500">
              <a:solidFill>
                <a:srgbClr val="243652"/>
              </a:solidFill>
            </a:endParaRPr>
          </a:p>
        </p:txBody>
      </p:sp>
      <p:pic>
        <p:nvPicPr>
          <p:cNvPr id="775" name="Google Shape;775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41693" y="1890000"/>
            <a:ext cx="7846613" cy="4249217"/>
          </a:xfrm>
          <a:prstGeom prst="rect">
            <a:avLst/>
          </a:prstGeom>
          <a:noFill/>
          <a:ln>
            <a:noFill/>
          </a:ln>
        </p:spPr>
      </p:pic>
      <p:pic>
        <p:nvPicPr>
          <p:cNvPr id="776" name="Google Shape;776;p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77" name="Google Shape;777;p39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https://github.com/treinart/IBM-Data-Science-Professional-Certificate/blob/main/10_Applied%20Data%20Science%20Capstone/Module%202/jupyter-labs-eda-dataviz-v2.ipynb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40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3" name="Google Shape;783;p40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Payload Mass vs. Orbit Type</a:t>
            </a:r>
            <a:endParaRPr b="1" i="0" sz="37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40"/>
          <p:cNvSpPr txBox="1"/>
          <p:nvPr/>
        </p:nvSpPr>
        <p:spPr>
          <a:xfrm>
            <a:off x="9240000" y="2190000"/>
            <a:ext cx="2450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0D50CE"/>
                </a:solidFill>
              </a:rPr>
              <a:t>GTO</a:t>
            </a:r>
            <a:endParaRPr b="1" sz="2900">
              <a:solidFill>
                <a:srgbClr val="0D50CE"/>
              </a:solidFill>
            </a:endParaRPr>
          </a:p>
        </p:txBody>
      </p:sp>
      <p:sp>
        <p:nvSpPr>
          <p:cNvPr id="785" name="Google Shape;785;p40"/>
          <p:cNvSpPr txBox="1"/>
          <p:nvPr/>
        </p:nvSpPr>
        <p:spPr>
          <a:xfrm>
            <a:off x="9240000" y="2780000"/>
            <a:ext cx="2460000" cy="20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243652"/>
                </a:solidFill>
              </a:rPr>
              <a:t>Both landing outcomes appear across its payload range.</a:t>
            </a:r>
            <a:endParaRPr b="1" sz="2200">
              <a:solidFill>
                <a:srgbClr val="243652"/>
              </a:solidFill>
            </a:endParaRPr>
          </a:p>
        </p:txBody>
      </p:sp>
      <p:sp>
        <p:nvSpPr>
          <p:cNvPr id="786" name="Google Shape;786;p40"/>
          <p:cNvSpPr txBox="1"/>
          <p:nvPr/>
        </p:nvSpPr>
        <p:spPr>
          <a:xfrm>
            <a:off x="9240000" y="5320000"/>
            <a:ext cx="23301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43652"/>
                </a:solidFill>
              </a:rPr>
              <a:t>Payload mass does not show a clear success cutoff.</a:t>
            </a:r>
            <a:endParaRPr sz="1500">
              <a:solidFill>
                <a:srgbClr val="243652"/>
              </a:solidFill>
            </a:endParaRPr>
          </a:p>
        </p:txBody>
      </p:sp>
      <p:pic>
        <p:nvPicPr>
          <p:cNvPr id="787" name="Google Shape;787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41693" y="1890000"/>
            <a:ext cx="7846613" cy="424921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8" name="Google Shape;788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89" name="Google Shape;789;p40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https://github.com/treinart/IBM-Data-Science-Professional-Certificate/blob/main/10_Applied%20Data%20Science%20Capstone/Module%202/jupyter-labs-eda-dataviz-v2.ipynb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41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95" name="Google Shape;795;p41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Landing Success Rate by Year</a:t>
            </a:r>
            <a:endParaRPr b="1" i="0" sz="3700" u="none" strike="noStrike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41"/>
          <p:cNvSpPr txBox="1"/>
          <p:nvPr/>
        </p:nvSpPr>
        <p:spPr>
          <a:xfrm>
            <a:off x="9240000" y="2190000"/>
            <a:ext cx="2450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0D50CE"/>
                </a:solidFill>
              </a:rPr>
              <a:t>90% IN 2019</a:t>
            </a:r>
            <a:endParaRPr b="1" sz="2600">
              <a:solidFill>
                <a:srgbClr val="0D50CE"/>
              </a:solidFill>
            </a:endParaRPr>
          </a:p>
        </p:txBody>
      </p:sp>
      <p:sp>
        <p:nvSpPr>
          <p:cNvPr id="797" name="Google Shape;797;p41"/>
          <p:cNvSpPr txBox="1"/>
          <p:nvPr/>
        </p:nvSpPr>
        <p:spPr>
          <a:xfrm>
            <a:off x="9240000" y="2780000"/>
            <a:ext cx="2460000" cy="20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243652"/>
                </a:solidFill>
              </a:rPr>
              <a:t>After the 2018 dip, landing success passed 80% in both 2019 and 2020.</a:t>
            </a:r>
            <a:endParaRPr b="1" sz="2100">
              <a:solidFill>
                <a:srgbClr val="243652"/>
              </a:solidFill>
            </a:endParaRPr>
          </a:p>
        </p:txBody>
      </p:sp>
      <p:sp>
        <p:nvSpPr>
          <p:cNvPr id="798" name="Google Shape;798;p41"/>
          <p:cNvSpPr txBox="1"/>
          <p:nvPr/>
        </p:nvSpPr>
        <p:spPr>
          <a:xfrm>
            <a:off x="9240000" y="5320000"/>
            <a:ext cx="23301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43652"/>
                </a:solidFill>
              </a:rPr>
              <a:t>2019: 9 of 10</a:t>
            </a:r>
            <a:endParaRPr sz="1500">
              <a:solidFill>
                <a:srgbClr val="24365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43652"/>
                </a:solidFill>
              </a:rPr>
              <a:t>2020: 16 of 19</a:t>
            </a:r>
            <a:endParaRPr sz="1500">
              <a:solidFill>
                <a:srgbClr val="243652"/>
              </a:solidFill>
            </a:endParaRPr>
          </a:p>
        </p:txBody>
      </p:sp>
      <p:pic>
        <p:nvPicPr>
          <p:cNvPr id="799" name="Google Shape;799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000" y="2040581"/>
            <a:ext cx="8149999" cy="40338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00" name="Google Shape;800;p4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801" name="Google Shape;801;p41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https://github.com/treinart/IBM-Data-Science-Professional-Certificate/blob/main/10_Applied%20Data%20Science%20Capstone/Module%202/jupyter-labs-eda-dataviz-v2.ipynb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05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42"/>
          <p:cNvSpPr txBox="1"/>
          <p:nvPr>
            <p:ph idx="12" type="sldNum"/>
          </p:nvPr>
        </p:nvSpPr>
        <p:spPr>
          <a:xfrm>
            <a:off x="8714772" y="6025573"/>
            <a:ext cx="27432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07" name="Google Shape;807;p42"/>
          <p:cNvSpPr txBox="1"/>
          <p:nvPr/>
        </p:nvSpPr>
        <p:spPr>
          <a:xfrm>
            <a:off x="762000" y="476250"/>
            <a:ext cx="10668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All Launch Site Names</a:t>
            </a:r>
            <a:endParaRPr b="1" sz="36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8" name="Google Shape;808;p42"/>
          <p:cNvGrpSpPr/>
          <p:nvPr/>
        </p:nvGrpSpPr>
        <p:grpSpPr>
          <a:xfrm>
            <a:off x="762000" y="1143000"/>
            <a:ext cx="1524000" cy="304800"/>
            <a:chOff x="0" y="0"/>
            <a:chExt cx="1524000" cy="304800"/>
          </a:xfrm>
        </p:grpSpPr>
        <p:sp>
          <p:nvSpPr>
            <p:cNvPr id="809" name="Google Shape;809;p42"/>
            <p:cNvSpPr/>
            <p:nvPr/>
          </p:nvSpPr>
          <p:spPr>
            <a:xfrm>
              <a:off x="0" y="0"/>
              <a:ext cx="1524000" cy="304800"/>
            </a:xfrm>
            <a:prstGeom prst="roundRect">
              <a:avLst>
                <a:gd fmla="val 18750" name="adj"/>
              </a:avLst>
            </a:prstGeom>
            <a:solidFill>
              <a:srgbClr val="EFF6FF"/>
            </a:solidFill>
            <a:ln cap="flat" cmpd="sng" w="9525">
              <a:solidFill>
                <a:srgbClr val="BFDB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42"/>
            <p:cNvSpPr txBox="1"/>
            <p:nvPr/>
          </p:nvSpPr>
          <p:spPr>
            <a:xfrm>
              <a:off x="0" y="0"/>
              <a:ext cx="15240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rPr>
                <a:t>SQL QUERY RESULT</a:t>
              </a:r>
              <a:endParaRPr b="1" sz="1100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11" name="Google Shape;811;p42"/>
          <p:cNvGrpSpPr/>
          <p:nvPr/>
        </p:nvGrpSpPr>
        <p:grpSpPr>
          <a:xfrm>
            <a:off x="762000" y="1666875"/>
            <a:ext cx="6667500" cy="809700"/>
            <a:chOff x="0" y="0"/>
            <a:chExt cx="6667500" cy="809700"/>
          </a:xfrm>
        </p:grpSpPr>
        <p:sp>
          <p:nvSpPr>
            <p:cNvPr id="812" name="Google Shape;812;p42"/>
            <p:cNvSpPr/>
            <p:nvPr/>
          </p:nvSpPr>
          <p:spPr>
            <a:xfrm>
              <a:off x="0" y="0"/>
              <a:ext cx="6667500" cy="809700"/>
            </a:xfrm>
            <a:prstGeom prst="roundRect">
              <a:avLst>
                <a:gd fmla="val 1411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" name="Google Shape;813;p42"/>
            <p:cNvSpPr/>
            <p:nvPr/>
          </p:nvSpPr>
          <p:spPr>
            <a:xfrm>
              <a:off x="190500" y="166688"/>
              <a:ext cx="476400" cy="476400"/>
            </a:xfrm>
            <a:prstGeom prst="roundRect">
              <a:avLst>
                <a:gd fmla="val 20000" name="adj"/>
              </a:avLst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" name="Google Shape;814;p42"/>
            <p:cNvSpPr txBox="1"/>
            <p:nvPr/>
          </p:nvSpPr>
          <p:spPr>
            <a:xfrm>
              <a:off x="190500" y="166688"/>
              <a:ext cx="476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1" sz="1600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42"/>
            <p:cNvSpPr txBox="1"/>
            <p:nvPr/>
          </p:nvSpPr>
          <p:spPr>
            <a:xfrm>
              <a:off x="857250" y="0"/>
              <a:ext cx="55245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CCAFS LC-40</a:t>
              </a:r>
              <a:endParaRPr b="1" sz="2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16" name="Google Shape;816;p42"/>
          <p:cNvGrpSpPr/>
          <p:nvPr/>
        </p:nvGrpSpPr>
        <p:grpSpPr>
          <a:xfrm>
            <a:off x="762000" y="2619375"/>
            <a:ext cx="6667500" cy="809700"/>
            <a:chOff x="0" y="0"/>
            <a:chExt cx="6667500" cy="809700"/>
          </a:xfrm>
        </p:grpSpPr>
        <p:sp>
          <p:nvSpPr>
            <p:cNvPr id="817" name="Google Shape;817;p42"/>
            <p:cNvSpPr/>
            <p:nvPr/>
          </p:nvSpPr>
          <p:spPr>
            <a:xfrm>
              <a:off x="0" y="0"/>
              <a:ext cx="6667500" cy="809700"/>
            </a:xfrm>
            <a:prstGeom prst="roundRect">
              <a:avLst>
                <a:gd fmla="val 1411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42"/>
            <p:cNvSpPr/>
            <p:nvPr/>
          </p:nvSpPr>
          <p:spPr>
            <a:xfrm>
              <a:off x="190500" y="166688"/>
              <a:ext cx="476400" cy="476400"/>
            </a:xfrm>
            <a:prstGeom prst="roundRect">
              <a:avLst>
                <a:gd fmla="val 20000" name="adj"/>
              </a:avLst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" name="Google Shape;819;p42"/>
            <p:cNvSpPr txBox="1"/>
            <p:nvPr/>
          </p:nvSpPr>
          <p:spPr>
            <a:xfrm>
              <a:off x="190500" y="166688"/>
              <a:ext cx="476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1" sz="1600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42"/>
            <p:cNvSpPr txBox="1"/>
            <p:nvPr/>
          </p:nvSpPr>
          <p:spPr>
            <a:xfrm>
              <a:off x="857250" y="0"/>
              <a:ext cx="55245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CCAFS SLC-40</a:t>
              </a:r>
              <a:endParaRPr b="1" sz="2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1" name="Google Shape;821;p42"/>
          <p:cNvGrpSpPr/>
          <p:nvPr/>
        </p:nvGrpSpPr>
        <p:grpSpPr>
          <a:xfrm>
            <a:off x="762000" y="3571875"/>
            <a:ext cx="6667500" cy="809700"/>
            <a:chOff x="0" y="0"/>
            <a:chExt cx="6667500" cy="809700"/>
          </a:xfrm>
        </p:grpSpPr>
        <p:sp>
          <p:nvSpPr>
            <p:cNvPr id="822" name="Google Shape;822;p42"/>
            <p:cNvSpPr/>
            <p:nvPr/>
          </p:nvSpPr>
          <p:spPr>
            <a:xfrm>
              <a:off x="0" y="0"/>
              <a:ext cx="6667500" cy="809700"/>
            </a:xfrm>
            <a:prstGeom prst="roundRect">
              <a:avLst>
                <a:gd fmla="val 1411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" name="Google Shape;823;p42"/>
            <p:cNvSpPr/>
            <p:nvPr/>
          </p:nvSpPr>
          <p:spPr>
            <a:xfrm>
              <a:off x="190500" y="166688"/>
              <a:ext cx="476400" cy="476400"/>
            </a:xfrm>
            <a:prstGeom prst="roundRect">
              <a:avLst>
                <a:gd fmla="val 20000" name="adj"/>
              </a:avLst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" name="Google Shape;824;p42"/>
            <p:cNvSpPr txBox="1"/>
            <p:nvPr/>
          </p:nvSpPr>
          <p:spPr>
            <a:xfrm>
              <a:off x="190500" y="166688"/>
              <a:ext cx="476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1" sz="1600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42"/>
            <p:cNvSpPr txBox="1"/>
            <p:nvPr/>
          </p:nvSpPr>
          <p:spPr>
            <a:xfrm>
              <a:off x="857250" y="0"/>
              <a:ext cx="55245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KSC LC-39A</a:t>
              </a:r>
              <a:endParaRPr b="1" sz="2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6" name="Google Shape;826;p42"/>
          <p:cNvGrpSpPr/>
          <p:nvPr/>
        </p:nvGrpSpPr>
        <p:grpSpPr>
          <a:xfrm>
            <a:off x="762000" y="4524375"/>
            <a:ext cx="6667500" cy="809700"/>
            <a:chOff x="0" y="0"/>
            <a:chExt cx="6667500" cy="809700"/>
          </a:xfrm>
        </p:grpSpPr>
        <p:sp>
          <p:nvSpPr>
            <p:cNvPr id="827" name="Google Shape;827;p42"/>
            <p:cNvSpPr/>
            <p:nvPr/>
          </p:nvSpPr>
          <p:spPr>
            <a:xfrm>
              <a:off x="0" y="0"/>
              <a:ext cx="6667500" cy="809700"/>
            </a:xfrm>
            <a:prstGeom prst="roundRect">
              <a:avLst>
                <a:gd fmla="val 1411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" name="Google Shape;828;p42"/>
            <p:cNvSpPr/>
            <p:nvPr/>
          </p:nvSpPr>
          <p:spPr>
            <a:xfrm>
              <a:off x="190500" y="166688"/>
              <a:ext cx="476400" cy="476400"/>
            </a:xfrm>
            <a:prstGeom prst="roundRect">
              <a:avLst>
                <a:gd fmla="val 20000" name="adj"/>
              </a:avLst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" name="Google Shape;829;p42"/>
            <p:cNvSpPr txBox="1"/>
            <p:nvPr/>
          </p:nvSpPr>
          <p:spPr>
            <a:xfrm>
              <a:off x="190500" y="166688"/>
              <a:ext cx="476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rPr>
                <a:t>04</a:t>
              </a:r>
              <a:endParaRPr b="1" sz="1600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42"/>
            <p:cNvSpPr txBox="1"/>
            <p:nvPr/>
          </p:nvSpPr>
          <p:spPr>
            <a:xfrm>
              <a:off x="857250" y="0"/>
              <a:ext cx="55245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VAFB SLC-4E</a:t>
              </a:r>
              <a:endParaRPr b="1" sz="2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831" name="Google Shape;831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20000" y="1850000"/>
            <a:ext cx="3600000" cy="3273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832" name="Google Shape;832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42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https://github.com/treinart/IBM-Data-Science-Professional-Certificate/blob/main/10_Applied%20Data%20Science%20Capstone/Module%202/jupyter-labs-eda-sql-coursera_sqllite.ipynb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43"/>
          <p:cNvSpPr txBox="1"/>
          <p:nvPr>
            <p:ph idx="12" type="sldNum"/>
          </p:nvPr>
        </p:nvSpPr>
        <p:spPr>
          <a:xfrm>
            <a:off x="8714772" y="6025573"/>
            <a:ext cx="27432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39" name="Google Shape;839;p43"/>
          <p:cNvSpPr txBox="1"/>
          <p:nvPr/>
        </p:nvSpPr>
        <p:spPr>
          <a:xfrm>
            <a:off x="762000" y="428625"/>
            <a:ext cx="10668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Five Launch Records at CCAFS</a:t>
            </a:r>
            <a:endParaRPr b="1" sz="34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40" name="Google Shape;840;p43"/>
          <p:cNvGrpSpPr/>
          <p:nvPr/>
        </p:nvGrpSpPr>
        <p:grpSpPr>
          <a:xfrm>
            <a:off x="762000" y="1095375"/>
            <a:ext cx="3429000" cy="304800"/>
            <a:chOff x="0" y="0"/>
            <a:chExt cx="3429000" cy="304800"/>
          </a:xfrm>
        </p:grpSpPr>
        <p:sp>
          <p:nvSpPr>
            <p:cNvPr id="841" name="Google Shape;841;p43"/>
            <p:cNvSpPr/>
            <p:nvPr/>
          </p:nvSpPr>
          <p:spPr>
            <a:xfrm>
              <a:off x="0" y="0"/>
              <a:ext cx="3429000" cy="304800"/>
            </a:xfrm>
            <a:prstGeom prst="roundRect">
              <a:avLst>
                <a:gd fmla="val 18750" name="adj"/>
              </a:avLst>
            </a:prstGeom>
            <a:solidFill>
              <a:srgbClr val="EFF6FF"/>
            </a:solidFill>
            <a:ln cap="flat" cmpd="sng" w="9525">
              <a:solidFill>
                <a:srgbClr val="BFDB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" name="Google Shape;842;p43"/>
            <p:cNvSpPr txBox="1"/>
            <p:nvPr/>
          </p:nvSpPr>
          <p:spPr>
            <a:xfrm>
              <a:off x="0" y="0"/>
              <a:ext cx="34290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rPr>
                <a:t>5 records where launch_site begins with CCA</a:t>
              </a:r>
              <a:endParaRPr b="1" sz="1100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43" name="Google Shape;843;p43"/>
          <p:cNvGrpSpPr/>
          <p:nvPr/>
        </p:nvGrpSpPr>
        <p:grpSpPr>
          <a:xfrm>
            <a:off x="762000" y="1571625"/>
            <a:ext cx="6858000" cy="582930"/>
            <a:chOff x="0" y="0"/>
            <a:chExt cx="6858000" cy="685800"/>
          </a:xfrm>
        </p:grpSpPr>
        <p:sp>
          <p:nvSpPr>
            <p:cNvPr id="844" name="Google Shape;844;p43"/>
            <p:cNvSpPr/>
            <p:nvPr/>
          </p:nvSpPr>
          <p:spPr>
            <a:xfrm>
              <a:off x="0" y="0"/>
              <a:ext cx="6858000" cy="685800"/>
            </a:xfrm>
            <a:prstGeom prst="roundRect">
              <a:avLst>
                <a:gd fmla="val 1388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" name="Google Shape;845;p43"/>
            <p:cNvSpPr txBox="1"/>
            <p:nvPr/>
          </p:nvSpPr>
          <p:spPr>
            <a:xfrm>
              <a:off x="190500" y="0"/>
              <a:ext cx="12384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400" u="none" strike="noStrike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06-04-2010</a:t>
              </a:r>
              <a:endParaRPr b="1" i="0" sz="14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" name="Google Shape;846;p43"/>
            <p:cNvSpPr txBox="1"/>
            <p:nvPr/>
          </p:nvSpPr>
          <p:spPr>
            <a:xfrm>
              <a:off x="1524000" y="0"/>
              <a:ext cx="15240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F9 v1.0 B0003</a:t>
              </a:r>
              <a:endParaRPr b="0" sz="13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" name="Google Shape;847;p43"/>
            <p:cNvSpPr txBox="1"/>
            <p:nvPr/>
          </p:nvSpPr>
          <p:spPr>
            <a:xfrm>
              <a:off x="3143250" y="0"/>
              <a:ext cx="14289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CCAFS LC-40</a:t>
              </a:r>
              <a:endParaRPr b="0" sz="13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" name="Google Shape;848;p43"/>
            <p:cNvSpPr/>
            <p:nvPr/>
          </p:nvSpPr>
          <p:spPr>
            <a:xfrm>
              <a:off x="4667250" y="171450"/>
              <a:ext cx="1905000" cy="342900"/>
            </a:xfrm>
            <a:prstGeom prst="roundRect">
              <a:avLst>
                <a:gd fmla="val 16666" name="adj"/>
              </a:avLst>
            </a:prstGeom>
            <a:solidFill>
              <a:srgbClr val="FEF2F2"/>
            </a:solidFill>
            <a:ln cap="flat" cmpd="sng" w="9525">
              <a:solidFill>
                <a:srgbClr val="FECAC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" name="Google Shape;849;p43"/>
            <p:cNvSpPr txBox="1"/>
            <p:nvPr/>
          </p:nvSpPr>
          <p:spPr>
            <a:xfrm>
              <a:off x="4667250" y="171450"/>
              <a:ext cx="19050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DC2626"/>
                  </a:solidFill>
                  <a:latin typeface="Arial"/>
                  <a:ea typeface="Arial"/>
                  <a:cs typeface="Arial"/>
                  <a:sym typeface="Arial"/>
                </a:rPr>
                <a:t>Failure (parachute)</a:t>
              </a:r>
              <a:endParaRPr b="1" sz="1100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50" name="Google Shape;850;p43"/>
          <p:cNvGrpSpPr/>
          <p:nvPr/>
        </p:nvGrpSpPr>
        <p:grpSpPr>
          <a:xfrm>
            <a:off x="762000" y="2201625"/>
            <a:ext cx="6858000" cy="582930"/>
            <a:chOff x="0" y="0"/>
            <a:chExt cx="6858000" cy="685800"/>
          </a:xfrm>
        </p:grpSpPr>
        <p:sp>
          <p:nvSpPr>
            <p:cNvPr id="851" name="Google Shape;851;p43"/>
            <p:cNvSpPr/>
            <p:nvPr/>
          </p:nvSpPr>
          <p:spPr>
            <a:xfrm>
              <a:off x="0" y="0"/>
              <a:ext cx="6858000" cy="685800"/>
            </a:xfrm>
            <a:prstGeom prst="roundRect">
              <a:avLst>
                <a:gd fmla="val 1388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" name="Google Shape;852;p43"/>
            <p:cNvSpPr txBox="1"/>
            <p:nvPr/>
          </p:nvSpPr>
          <p:spPr>
            <a:xfrm>
              <a:off x="190500" y="0"/>
              <a:ext cx="12384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400" u="none" strike="noStrike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12-08-2010</a:t>
              </a:r>
              <a:endParaRPr b="1" i="0" sz="14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" name="Google Shape;853;p43"/>
            <p:cNvSpPr txBox="1"/>
            <p:nvPr/>
          </p:nvSpPr>
          <p:spPr>
            <a:xfrm>
              <a:off x="1524000" y="0"/>
              <a:ext cx="15240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F9 v1.0 B0004</a:t>
              </a:r>
              <a:endParaRPr b="0" sz="13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" name="Google Shape;854;p43"/>
            <p:cNvSpPr txBox="1"/>
            <p:nvPr/>
          </p:nvSpPr>
          <p:spPr>
            <a:xfrm>
              <a:off x="3143250" y="0"/>
              <a:ext cx="14289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CCAFS LC-40</a:t>
              </a:r>
              <a:endParaRPr b="0" sz="13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" name="Google Shape;855;p43"/>
            <p:cNvSpPr/>
            <p:nvPr/>
          </p:nvSpPr>
          <p:spPr>
            <a:xfrm>
              <a:off x="4667250" y="171450"/>
              <a:ext cx="1905000" cy="342900"/>
            </a:xfrm>
            <a:prstGeom prst="roundRect">
              <a:avLst>
                <a:gd fmla="val 16666" name="adj"/>
              </a:avLst>
            </a:prstGeom>
            <a:solidFill>
              <a:srgbClr val="FEF2F2"/>
            </a:solidFill>
            <a:ln cap="flat" cmpd="sng" w="9525">
              <a:solidFill>
                <a:srgbClr val="FECAC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" name="Google Shape;856;p43"/>
            <p:cNvSpPr txBox="1"/>
            <p:nvPr/>
          </p:nvSpPr>
          <p:spPr>
            <a:xfrm>
              <a:off x="4667250" y="171450"/>
              <a:ext cx="19050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DC2626"/>
                  </a:solidFill>
                  <a:latin typeface="Arial"/>
                  <a:ea typeface="Arial"/>
                  <a:cs typeface="Arial"/>
                  <a:sym typeface="Arial"/>
                </a:rPr>
                <a:t>Failure (parachute)</a:t>
              </a:r>
              <a:endParaRPr b="1" sz="1100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57" name="Google Shape;857;p43"/>
          <p:cNvGrpSpPr/>
          <p:nvPr/>
        </p:nvGrpSpPr>
        <p:grpSpPr>
          <a:xfrm>
            <a:off x="762000" y="2831625"/>
            <a:ext cx="6858000" cy="582930"/>
            <a:chOff x="0" y="0"/>
            <a:chExt cx="6858000" cy="685800"/>
          </a:xfrm>
        </p:grpSpPr>
        <p:sp>
          <p:nvSpPr>
            <p:cNvPr id="858" name="Google Shape;858;p43"/>
            <p:cNvSpPr/>
            <p:nvPr/>
          </p:nvSpPr>
          <p:spPr>
            <a:xfrm>
              <a:off x="0" y="0"/>
              <a:ext cx="6858000" cy="685800"/>
            </a:xfrm>
            <a:prstGeom prst="roundRect">
              <a:avLst>
                <a:gd fmla="val 1388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" name="Google Shape;859;p43"/>
            <p:cNvSpPr txBox="1"/>
            <p:nvPr/>
          </p:nvSpPr>
          <p:spPr>
            <a:xfrm>
              <a:off x="190500" y="0"/>
              <a:ext cx="12384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400" u="none" strike="noStrike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05-22-2012</a:t>
              </a:r>
              <a:endParaRPr b="1" i="0" sz="14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" name="Google Shape;860;p43"/>
            <p:cNvSpPr txBox="1"/>
            <p:nvPr/>
          </p:nvSpPr>
          <p:spPr>
            <a:xfrm>
              <a:off x="1524000" y="0"/>
              <a:ext cx="15240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F9 v1.0 B0005</a:t>
              </a:r>
              <a:endParaRPr b="0" sz="13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" name="Google Shape;861;p43"/>
            <p:cNvSpPr txBox="1"/>
            <p:nvPr/>
          </p:nvSpPr>
          <p:spPr>
            <a:xfrm>
              <a:off x="3143250" y="0"/>
              <a:ext cx="14289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CCAFS LC-40</a:t>
              </a:r>
              <a:endParaRPr b="0" sz="13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" name="Google Shape;862;p43"/>
            <p:cNvSpPr/>
            <p:nvPr/>
          </p:nvSpPr>
          <p:spPr>
            <a:xfrm>
              <a:off x="4667250" y="171450"/>
              <a:ext cx="1905000" cy="342900"/>
            </a:xfrm>
            <a:prstGeom prst="roundRect">
              <a:avLst>
                <a:gd fmla="val 16666" name="adj"/>
              </a:avLst>
            </a:prstGeom>
            <a:solidFill>
              <a:srgbClr val="F1F5F9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" name="Google Shape;863;p43"/>
            <p:cNvSpPr txBox="1"/>
            <p:nvPr/>
          </p:nvSpPr>
          <p:spPr>
            <a:xfrm>
              <a:off x="4667250" y="171450"/>
              <a:ext cx="19050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No attempt</a:t>
              </a:r>
              <a:endParaRPr b="1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4" name="Google Shape;864;p43"/>
          <p:cNvGrpSpPr/>
          <p:nvPr/>
        </p:nvGrpSpPr>
        <p:grpSpPr>
          <a:xfrm>
            <a:off x="762000" y="3461625"/>
            <a:ext cx="6858000" cy="582930"/>
            <a:chOff x="0" y="0"/>
            <a:chExt cx="6858000" cy="685800"/>
          </a:xfrm>
        </p:grpSpPr>
        <p:sp>
          <p:nvSpPr>
            <p:cNvPr id="865" name="Google Shape;865;p43"/>
            <p:cNvSpPr/>
            <p:nvPr/>
          </p:nvSpPr>
          <p:spPr>
            <a:xfrm>
              <a:off x="0" y="0"/>
              <a:ext cx="6858000" cy="685800"/>
            </a:xfrm>
            <a:prstGeom prst="roundRect">
              <a:avLst>
                <a:gd fmla="val 1388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43"/>
            <p:cNvSpPr txBox="1"/>
            <p:nvPr/>
          </p:nvSpPr>
          <p:spPr>
            <a:xfrm>
              <a:off x="190500" y="0"/>
              <a:ext cx="12384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400" u="none" strike="noStrike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10-08-2012</a:t>
              </a:r>
              <a:endParaRPr b="1" i="0" sz="14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" name="Google Shape;867;p43"/>
            <p:cNvSpPr txBox="1"/>
            <p:nvPr/>
          </p:nvSpPr>
          <p:spPr>
            <a:xfrm>
              <a:off x="1524000" y="0"/>
              <a:ext cx="15240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F9 v1.0 B0006</a:t>
              </a:r>
              <a:endParaRPr b="0" sz="13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" name="Google Shape;868;p43"/>
            <p:cNvSpPr txBox="1"/>
            <p:nvPr/>
          </p:nvSpPr>
          <p:spPr>
            <a:xfrm>
              <a:off x="3143250" y="0"/>
              <a:ext cx="14289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CCAFS LC-40</a:t>
              </a:r>
              <a:endParaRPr b="0" sz="13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9" name="Google Shape;869;p43"/>
            <p:cNvSpPr/>
            <p:nvPr/>
          </p:nvSpPr>
          <p:spPr>
            <a:xfrm>
              <a:off x="4667250" y="171450"/>
              <a:ext cx="1905000" cy="342900"/>
            </a:xfrm>
            <a:prstGeom prst="roundRect">
              <a:avLst>
                <a:gd fmla="val 16666" name="adj"/>
              </a:avLst>
            </a:prstGeom>
            <a:solidFill>
              <a:srgbClr val="F1F5F9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" name="Google Shape;870;p43"/>
            <p:cNvSpPr txBox="1"/>
            <p:nvPr/>
          </p:nvSpPr>
          <p:spPr>
            <a:xfrm>
              <a:off x="4667250" y="171450"/>
              <a:ext cx="19050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No attempt</a:t>
              </a:r>
              <a:endParaRPr b="1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71" name="Google Shape;871;p43"/>
          <p:cNvGrpSpPr/>
          <p:nvPr/>
        </p:nvGrpSpPr>
        <p:grpSpPr>
          <a:xfrm>
            <a:off x="762000" y="4091625"/>
            <a:ext cx="6858000" cy="582930"/>
            <a:chOff x="0" y="0"/>
            <a:chExt cx="6858000" cy="685800"/>
          </a:xfrm>
        </p:grpSpPr>
        <p:sp>
          <p:nvSpPr>
            <p:cNvPr id="872" name="Google Shape;872;p43"/>
            <p:cNvSpPr/>
            <p:nvPr/>
          </p:nvSpPr>
          <p:spPr>
            <a:xfrm>
              <a:off x="0" y="0"/>
              <a:ext cx="6858000" cy="685800"/>
            </a:xfrm>
            <a:prstGeom prst="roundRect">
              <a:avLst>
                <a:gd fmla="val 1388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" name="Google Shape;873;p43"/>
            <p:cNvSpPr txBox="1"/>
            <p:nvPr/>
          </p:nvSpPr>
          <p:spPr>
            <a:xfrm>
              <a:off x="190500" y="0"/>
              <a:ext cx="12384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400" u="none" strike="noStrike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03-01-2013</a:t>
              </a:r>
              <a:endParaRPr b="1" i="0" sz="1400" u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4" name="Google Shape;874;p43"/>
            <p:cNvSpPr txBox="1"/>
            <p:nvPr/>
          </p:nvSpPr>
          <p:spPr>
            <a:xfrm>
              <a:off x="1524000" y="0"/>
              <a:ext cx="15240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F9 v1.0 B0007</a:t>
              </a:r>
              <a:endParaRPr b="0" sz="13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" name="Google Shape;875;p43"/>
            <p:cNvSpPr txBox="1"/>
            <p:nvPr/>
          </p:nvSpPr>
          <p:spPr>
            <a:xfrm>
              <a:off x="3143250" y="0"/>
              <a:ext cx="14289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CCAFS LC-40</a:t>
              </a:r>
              <a:endParaRPr b="0" sz="13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" name="Google Shape;876;p43"/>
            <p:cNvSpPr/>
            <p:nvPr/>
          </p:nvSpPr>
          <p:spPr>
            <a:xfrm>
              <a:off x="4667250" y="171450"/>
              <a:ext cx="1905000" cy="342900"/>
            </a:xfrm>
            <a:prstGeom prst="roundRect">
              <a:avLst>
                <a:gd fmla="val 16666" name="adj"/>
              </a:avLst>
            </a:prstGeom>
            <a:solidFill>
              <a:srgbClr val="F1F5F9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" name="Google Shape;877;p43"/>
            <p:cNvSpPr txBox="1"/>
            <p:nvPr/>
          </p:nvSpPr>
          <p:spPr>
            <a:xfrm>
              <a:off x="4667250" y="171450"/>
              <a:ext cx="19050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No attempt</a:t>
              </a:r>
              <a:endParaRPr b="1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78" name="Google Shape;878;p43"/>
          <p:cNvGrpSpPr/>
          <p:nvPr/>
        </p:nvGrpSpPr>
        <p:grpSpPr>
          <a:xfrm>
            <a:off x="7905750" y="1571625"/>
            <a:ext cx="3524400" cy="3100197"/>
            <a:chOff x="0" y="0"/>
            <a:chExt cx="3524400" cy="3924300"/>
          </a:xfrm>
        </p:grpSpPr>
        <p:sp>
          <p:nvSpPr>
            <p:cNvPr id="879" name="Google Shape;879;p43"/>
            <p:cNvSpPr/>
            <p:nvPr/>
          </p:nvSpPr>
          <p:spPr>
            <a:xfrm>
              <a:off x="0" y="0"/>
              <a:ext cx="3524400" cy="3924300"/>
            </a:xfrm>
            <a:prstGeom prst="roundRect">
              <a:avLst>
                <a:gd fmla="val 4324" name="adj"/>
              </a:avLst>
            </a:prstGeom>
            <a:gradFill>
              <a:gsLst>
                <a:gs pos="0">
                  <a:srgbClr val="1E40AF"/>
                </a:gs>
                <a:gs pos="100000">
                  <a:srgbClr val="1D4ED8"/>
                </a:gs>
              </a:gsLst>
              <a:lin ang="2884459" scaled="0"/>
            </a:gra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" name="Google Shape;880;p43"/>
            <p:cNvSpPr txBox="1"/>
            <p:nvPr/>
          </p:nvSpPr>
          <p:spPr>
            <a:xfrm>
              <a:off x="333375" y="333375"/>
              <a:ext cx="2857500" cy="325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93C5F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rocket_launch</a:t>
              </a:r>
              <a:endParaRPr b="0" sz="2800">
                <a:solidFill>
                  <a:srgbClr val="93C5F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7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1" sz="7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Early CCAFS Missions</a:t>
              </a:r>
              <a:endParaRPr b="1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500">
                  <a:solidFill>
                    <a:srgbClr val="E0E7FF"/>
                  </a:solidFill>
                  <a:latin typeface="Arial"/>
                  <a:ea typeface="Arial"/>
                  <a:cs typeface="Arial"/>
                  <a:sym typeface="Arial"/>
                </a:rPr>
                <a:t>All five missions succeeded. None recorded a successful landing.</a:t>
              </a:r>
              <a:endParaRPr b="0" sz="1500">
                <a:solidFill>
                  <a:srgbClr val="E0E7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1" name="Google Shape;881;p43"/>
          <p:cNvSpPr txBox="1"/>
          <p:nvPr/>
        </p:nvSpPr>
        <p:spPr>
          <a:xfrm>
            <a:off x="762000" y="4795000"/>
            <a:ext cx="5000100" cy="2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D50CE"/>
                </a:solidFill>
              </a:rPr>
              <a:t>Task 2 SQL output</a:t>
            </a:r>
            <a:endParaRPr b="1" sz="1300">
              <a:solidFill>
                <a:srgbClr val="0D50CE"/>
              </a:solidFill>
            </a:endParaRPr>
          </a:p>
        </p:txBody>
      </p:sp>
      <p:pic>
        <p:nvPicPr>
          <p:cNvPr id="882" name="Google Shape;882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2000" y="5090000"/>
            <a:ext cx="9868797" cy="1222502"/>
          </a:xfrm>
          <a:prstGeom prst="rect">
            <a:avLst/>
          </a:prstGeom>
          <a:noFill/>
          <a:ln>
            <a:noFill/>
          </a:ln>
        </p:spPr>
      </p:pic>
      <p:pic>
        <p:nvPicPr>
          <p:cNvPr id="883" name="Google Shape;883;p4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p43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https://github.com/treinart/IBM-Data-Science-Professional-Certificate/blob/main/10_Applied%20Data%20Science%20Capstone/Module%202/jupyter-labs-eda-sql-coursera_sqllite.ipynb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44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90" name="Google Shape;890;p44"/>
          <p:cNvSpPr txBox="1"/>
          <p:nvPr/>
        </p:nvSpPr>
        <p:spPr>
          <a:xfrm>
            <a:off x="770011" y="538650"/>
            <a:ext cx="10515600" cy="5490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700"/>
              <a:buFont typeface="Arial"/>
              <a:buNone/>
            </a:pPr>
            <a:r>
              <a:rPr b="1" lang="en-US" sz="3600">
                <a:solidFill>
                  <a:schemeClr val="dk1"/>
                </a:solidFill>
              </a:rPr>
              <a:t>Total Payload Mass for NASA (CRS)</a:t>
            </a:r>
            <a:endParaRPr b="1" sz="3600">
              <a:solidFill>
                <a:schemeClr val="dk1"/>
              </a:solidFill>
            </a:endParaRPr>
          </a:p>
        </p:txBody>
      </p:sp>
      <p:sp>
        <p:nvSpPr>
          <p:cNvPr id="891" name="Google Shape;891;p44"/>
          <p:cNvSpPr txBox="1"/>
          <p:nvPr/>
        </p:nvSpPr>
        <p:spPr>
          <a:xfrm>
            <a:off x="800000" y="1800000"/>
            <a:ext cx="9000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D50CE"/>
                </a:solidFill>
              </a:rPr>
              <a:t>TOTAL PAYLOAD MASS</a:t>
            </a:r>
            <a:endParaRPr b="1" sz="1500">
              <a:solidFill>
                <a:srgbClr val="0D50CE"/>
              </a:solidFill>
            </a:endParaRPr>
          </a:p>
        </p:txBody>
      </p:sp>
      <p:sp>
        <p:nvSpPr>
          <p:cNvPr id="892" name="Google Shape;892;p44"/>
          <p:cNvSpPr txBox="1"/>
          <p:nvPr/>
        </p:nvSpPr>
        <p:spPr>
          <a:xfrm>
            <a:off x="860000" y="2530000"/>
            <a:ext cx="5400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200">
                <a:solidFill>
                  <a:srgbClr val="0D50CE"/>
                </a:solidFill>
              </a:rPr>
              <a:t>45,596 kg</a:t>
            </a:r>
            <a:endParaRPr b="1" sz="5200">
              <a:solidFill>
                <a:srgbClr val="0D50CE"/>
              </a:solidFill>
            </a:endParaRPr>
          </a:p>
        </p:txBody>
      </p:sp>
      <p:sp>
        <p:nvSpPr>
          <p:cNvPr id="893" name="Google Shape;893;p44"/>
          <p:cNvSpPr txBox="1"/>
          <p:nvPr/>
        </p:nvSpPr>
        <p:spPr>
          <a:xfrm>
            <a:off x="860000" y="4200000"/>
            <a:ext cx="4800000" cy="16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43652"/>
                </a:solidFill>
              </a:rPr>
              <a:t>NASA (CRS) missions carried this total payload mass in the SQL result.</a:t>
            </a:r>
            <a:endParaRPr sz="2200">
              <a:solidFill>
                <a:srgbClr val="243652"/>
              </a:solidFill>
            </a:endParaRPr>
          </a:p>
        </p:txBody>
      </p:sp>
      <p:pic>
        <p:nvPicPr>
          <p:cNvPr id="894" name="Google Shape;894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20000" y="1850000"/>
            <a:ext cx="4970000" cy="3487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5" name="Google Shape;895;p4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896" name="Google Shape;896;p44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https://github.com/treinart/IBM-Data-Science-Professional-Certificate/blob/main/10_Applied%20Data%20Science%20Capstone/Module%202/jupyter-labs-eda-sql-coursera_sqllite.ipynb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45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02" name="Google Shape;902;p45"/>
          <p:cNvSpPr txBox="1"/>
          <p:nvPr/>
        </p:nvSpPr>
        <p:spPr>
          <a:xfrm>
            <a:off x="770011" y="538650"/>
            <a:ext cx="10515600" cy="5490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700"/>
              <a:buFont typeface="Arial"/>
              <a:buNone/>
            </a:pPr>
            <a:r>
              <a:rPr b="1" lang="en-US" sz="3600">
                <a:solidFill>
                  <a:schemeClr val="dk1"/>
                </a:solidFill>
              </a:rPr>
              <a:t>Average Payload Mass for F9 v1.1</a:t>
            </a:r>
            <a:endParaRPr b="1" sz="3600">
              <a:solidFill>
                <a:schemeClr val="dk1"/>
              </a:solidFill>
            </a:endParaRPr>
          </a:p>
        </p:txBody>
      </p:sp>
      <p:sp>
        <p:nvSpPr>
          <p:cNvPr id="903" name="Google Shape;903;p45"/>
          <p:cNvSpPr txBox="1"/>
          <p:nvPr/>
        </p:nvSpPr>
        <p:spPr>
          <a:xfrm>
            <a:off x="800000" y="1800000"/>
            <a:ext cx="9000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D50CE"/>
                </a:solidFill>
              </a:rPr>
              <a:t>AVERAGE PAYLOAD MASS</a:t>
            </a:r>
            <a:endParaRPr b="1" sz="1500">
              <a:solidFill>
                <a:srgbClr val="0D50CE"/>
              </a:solidFill>
            </a:endParaRPr>
          </a:p>
        </p:txBody>
      </p:sp>
      <p:sp>
        <p:nvSpPr>
          <p:cNvPr id="904" name="Google Shape;904;p45"/>
          <p:cNvSpPr txBox="1"/>
          <p:nvPr/>
        </p:nvSpPr>
        <p:spPr>
          <a:xfrm>
            <a:off x="860000" y="2530000"/>
            <a:ext cx="5400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200">
                <a:solidFill>
                  <a:srgbClr val="0D50CE"/>
                </a:solidFill>
              </a:rPr>
              <a:t>2,928.4 kg</a:t>
            </a:r>
            <a:endParaRPr b="1" sz="5200">
              <a:solidFill>
                <a:srgbClr val="0D50CE"/>
              </a:solidFill>
            </a:endParaRPr>
          </a:p>
        </p:txBody>
      </p:sp>
      <p:sp>
        <p:nvSpPr>
          <p:cNvPr id="905" name="Google Shape;905;p45"/>
          <p:cNvSpPr txBox="1"/>
          <p:nvPr/>
        </p:nvSpPr>
        <p:spPr>
          <a:xfrm>
            <a:off x="860000" y="4200000"/>
            <a:ext cx="4800000" cy="16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43652"/>
                </a:solidFill>
              </a:rPr>
              <a:t>F9 v1.1 launches carried this average payload mass in the SQL result.</a:t>
            </a:r>
            <a:endParaRPr sz="2200">
              <a:solidFill>
                <a:srgbClr val="243652"/>
              </a:solidFill>
            </a:endParaRPr>
          </a:p>
        </p:txBody>
      </p:sp>
      <p:pic>
        <p:nvPicPr>
          <p:cNvPr id="906" name="Google Shape;906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20000" y="1650000"/>
            <a:ext cx="4970001" cy="4068662"/>
          </a:xfrm>
          <a:prstGeom prst="rect">
            <a:avLst/>
          </a:prstGeom>
          <a:noFill/>
          <a:ln>
            <a:noFill/>
          </a:ln>
        </p:spPr>
      </p:pic>
      <p:pic>
        <p:nvPicPr>
          <p:cNvPr id="907" name="Google Shape;907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908" name="Google Shape;908;p45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https://github.com/treinart/IBM-Data-Science-Professional-Certificate/blob/main/10_Applied%20Data%20Science%20Capstone/Module%202/jupyter-labs-eda-sql-coursera_sqllite.ipynb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46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14" name="Google Shape;914;p46"/>
          <p:cNvSpPr txBox="1"/>
          <p:nvPr/>
        </p:nvSpPr>
        <p:spPr>
          <a:xfrm>
            <a:off x="770011" y="538650"/>
            <a:ext cx="10515600" cy="5490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700"/>
              <a:buFont typeface="Arial"/>
              <a:buNone/>
            </a:pPr>
            <a:r>
              <a:rPr b="1" lang="en-US" sz="3600">
                <a:solidFill>
                  <a:schemeClr val="dk1"/>
                </a:solidFill>
              </a:rPr>
              <a:t>First Successful Ground-Pad Landing</a:t>
            </a:r>
            <a:endParaRPr b="1" sz="3600">
              <a:solidFill>
                <a:schemeClr val="dk1"/>
              </a:solidFill>
            </a:endParaRPr>
          </a:p>
        </p:txBody>
      </p:sp>
      <p:sp>
        <p:nvSpPr>
          <p:cNvPr id="915" name="Google Shape;915;p46"/>
          <p:cNvSpPr txBox="1"/>
          <p:nvPr/>
        </p:nvSpPr>
        <p:spPr>
          <a:xfrm>
            <a:off x="800000" y="1800000"/>
            <a:ext cx="9000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D50CE"/>
                </a:solidFill>
              </a:rPr>
              <a:t>FIRST SUCCESSFUL GROUND-PAD LANDING</a:t>
            </a:r>
            <a:endParaRPr b="1" sz="1500">
              <a:solidFill>
                <a:srgbClr val="0D50CE"/>
              </a:solidFill>
            </a:endParaRPr>
          </a:p>
        </p:txBody>
      </p:sp>
      <p:sp>
        <p:nvSpPr>
          <p:cNvPr id="916" name="Google Shape;916;p46"/>
          <p:cNvSpPr txBox="1"/>
          <p:nvPr/>
        </p:nvSpPr>
        <p:spPr>
          <a:xfrm>
            <a:off x="860000" y="2530000"/>
            <a:ext cx="5460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0D50CE"/>
                </a:solidFill>
              </a:rPr>
              <a:t>December 22, 2015</a:t>
            </a:r>
            <a:endParaRPr b="1" sz="4400">
              <a:solidFill>
                <a:srgbClr val="0D50CE"/>
              </a:solidFill>
            </a:endParaRPr>
          </a:p>
        </p:txBody>
      </p:sp>
      <p:sp>
        <p:nvSpPr>
          <p:cNvPr id="917" name="Google Shape;917;p46"/>
          <p:cNvSpPr txBox="1"/>
          <p:nvPr/>
        </p:nvSpPr>
        <p:spPr>
          <a:xfrm>
            <a:off x="860000" y="4200000"/>
            <a:ext cx="4800000" cy="16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43652"/>
                </a:solidFill>
              </a:rPr>
              <a:t>This is the earliest launch date with a successful ground-pad landing outcome.</a:t>
            </a:r>
            <a:endParaRPr sz="2200">
              <a:solidFill>
                <a:srgbClr val="243652"/>
              </a:solidFill>
            </a:endParaRPr>
          </a:p>
        </p:txBody>
      </p:sp>
      <p:pic>
        <p:nvPicPr>
          <p:cNvPr id="918" name="Google Shape;918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20000" y="1850000"/>
            <a:ext cx="4969999" cy="330675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920" name="Google Shape;920;p46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https://github.com/treinart/IBM-Data-Science-Professional-Certificate/blob/main/10_Applied%20Data%20Science%20Capstone/Module%202/jupyter-labs-eda-sql-coursera_sqllite.ipynb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47"/>
          <p:cNvSpPr txBox="1"/>
          <p:nvPr/>
        </p:nvSpPr>
        <p:spPr>
          <a:xfrm>
            <a:off x="762000" y="495300"/>
            <a:ext cx="106680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D50CE"/>
                </a:solidFill>
                <a:latin typeface="Arial"/>
                <a:ea typeface="Arial"/>
                <a:cs typeface="Arial"/>
                <a:sym typeface="Arial"/>
              </a:rPr>
              <a:t>SUCCESSFUL DRONE-SHIP LANDINGS</a:t>
            </a:r>
            <a:endParaRPr b="1" sz="1200">
              <a:solidFill>
                <a:srgbClr val="0D50C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Drone-Ship Landings: 4,000–6,000 kg</a:t>
            </a:r>
            <a:endParaRPr b="1" sz="32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26" name="Google Shape;926;p47"/>
          <p:cNvGrpSpPr/>
          <p:nvPr/>
        </p:nvGrpSpPr>
        <p:grpSpPr>
          <a:xfrm>
            <a:off x="4572000" y="1666875"/>
            <a:ext cx="6858000" cy="971700"/>
            <a:chOff x="0" y="0"/>
            <a:chExt cx="6858000" cy="971700"/>
          </a:xfrm>
        </p:grpSpPr>
        <p:sp>
          <p:nvSpPr>
            <p:cNvPr id="927" name="Google Shape;927;p47"/>
            <p:cNvSpPr/>
            <p:nvPr/>
          </p:nvSpPr>
          <p:spPr>
            <a:xfrm>
              <a:off x="0" y="0"/>
              <a:ext cx="6858000" cy="971700"/>
            </a:xfrm>
            <a:prstGeom prst="roundRect">
              <a:avLst>
                <a:gd fmla="val 11764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" name="Google Shape;928;p47"/>
            <p:cNvSpPr/>
            <p:nvPr/>
          </p:nvSpPr>
          <p:spPr>
            <a:xfrm>
              <a:off x="0" y="0"/>
              <a:ext cx="76200" cy="971700"/>
            </a:xfrm>
            <a:prstGeom prst="roundRect">
              <a:avLst>
                <a:gd fmla="val 50000" name="adj"/>
              </a:avLst>
            </a:prstGeom>
            <a:solidFill>
              <a:srgbClr val="0D5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" name="Google Shape;929;p47"/>
            <p:cNvSpPr txBox="1"/>
            <p:nvPr/>
          </p:nvSpPr>
          <p:spPr>
            <a:xfrm>
              <a:off x="0" y="0"/>
              <a:ext cx="6858000" cy="9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304800" spcFirstLastPara="1" rIns="3048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0D50CE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F9 FT B1021.2</a:t>
              </a:r>
              <a:endParaRPr b="1" sz="2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Falcon 9 Full Thrust • Drone Ship Landing</a:t>
              </a:r>
              <a:endParaRPr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30" name="Google Shape;930;p47"/>
          <p:cNvGrpSpPr/>
          <p:nvPr/>
        </p:nvGrpSpPr>
        <p:grpSpPr>
          <a:xfrm>
            <a:off x="4572000" y="2847975"/>
            <a:ext cx="6858000" cy="971700"/>
            <a:chOff x="0" y="0"/>
            <a:chExt cx="6858000" cy="971700"/>
          </a:xfrm>
        </p:grpSpPr>
        <p:sp>
          <p:nvSpPr>
            <p:cNvPr id="931" name="Google Shape;931;p47"/>
            <p:cNvSpPr/>
            <p:nvPr/>
          </p:nvSpPr>
          <p:spPr>
            <a:xfrm>
              <a:off x="0" y="0"/>
              <a:ext cx="6858000" cy="971700"/>
            </a:xfrm>
            <a:prstGeom prst="roundRect">
              <a:avLst>
                <a:gd fmla="val 11764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" name="Google Shape;932;p47"/>
            <p:cNvSpPr/>
            <p:nvPr/>
          </p:nvSpPr>
          <p:spPr>
            <a:xfrm>
              <a:off x="0" y="0"/>
              <a:ext cx="76200" cy="971700"/>
            </a:xfrm>
            <a:prstGeom prst="roundRect">
              <a:avLst>
                <a:gd fmla="val 50000" name="adj"/>
              </a:avLst>
            </a:prstGeom>
            <a:solidFill>
              <a:srgbClr val="0D5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47"/>
            <p:cNvSpPr txBox="1"/>
            <p:nvPr/>
          </p:nvSpPr>
          <p:spPr>
            <a:xfrm>
              <a:off x="0" y="0"/>
              <a:ext cx="6858000" cy="9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304800" spcFirstLastPara="1" rIns="3048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0D50CE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F9 FT B1031.2</a:t>
              </a:r>
              <a:endParaRPr b="1" sz="2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Falcon 9 Full Thrust • Drone Ship Landing</a:t>
              </a:r>
              <a:endParaRPr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34" name="Google Shape;934;p47"/>
          <p:cNvGrpSpPr/>
          <p:nvPr/>
        </p:nvGrpSpPr>
        <p:grpSpPr>
          <a:xfrm>
            <a:off x="4572000" y="4029075"/>
            <a:ext cx="6858000" cy="971700"/>
            <a:chOff x="0" y="0"/>
            <a:chExt cx="6858000" cy="971700"/>
          </a:xfrm>
        </p:grpSpPr>
        <p:sp>
          <p:nvSpPr>
            <p:cNvPr id="935" name="Google Shape;935;p47"/>
            <p:cNvSpPr/>
            <p:nvPr/>
          </p:nvSpPr>
          <p:spPr>
            <a:xfrm>
              <a:off x="0" y="0"/>
              <a:ext cx="6858000" cy="971700"/>
            </a:xfrm>
            <a:prstGeom prst="roundRect">
              <a:avLst>
                <a:gd fmla="val 11764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" name="Google Shape;936;p47"/>
            <p:cNvSpPr/>
            <p:nvPr/>
          </p:nvSpPr>
          <p:spPr>
            <a:xfrm>
              <a:off x="0" y="0"/>
              <a:ext cx="76200" cy="971700"/>
            </a:xfrm>
            <a:prstGeom prst="roundRect">
              <a:avLst>
                <a:gd fmla="val 50000" name="adj"/>
              </a:avLst>
            </a:prstGeom>
            <a:solidFill>
              <a:srgbClr val="0D5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" name="Google Shape;937;p47"/>
            <p:cNvSpPr txBox="1"/>
            <p:nvPr/>
          </p:nvSpPr>
          <p:spPr>
            <a:xfrm>
              <a:off x="0" y="0"/>
              <a:ext cx="6858000" cy="9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304800" spcFirstLastPara="1" rIns="3048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0D50CE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F9 FT B1022</a:t>
              </a:r>
              <a:endParaRPr b="1" sz="2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Falcon 9 Full Thrust • Drone Ship Landing</a:t>
              </a:r>
              <a:endParaRPr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38" name="Google Shape;938;p47"/>
          <p:cNvGrpSpPr/>
          <p:nvPr/>
        </p:nvGrpSpPr>
        <p:grpSpPr>
          <a:xfrm>
            <a:off x="4572000" y="5210175"/>
            <a:ext cx="6858000" cy="971700"/>
            <a:chOff x="0" y="0"/>
            <a:chExt cx="6858000" cy="971700"/>
          </a:xfrm>
        </p:grpSpPr>
        <p:sp>
          <p:nvSpPr>
            <p:cNvPr id="939" name="Google Shape;939;p47"/>
            <p:cNvSpPr/>
            <p:nvPr/>
          </p:nvSpPr>
          <p:spPr>
            <a:xfrm>
              <a:off x="0" y="0"/>
              <a:ext cx="6858000" cy="971700"/>
            </a:xfrm>
            <a:prstGeom prst="roundRect">
              <a:avLst>
                <a:gd fmla="val 11764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47"/>
            <p:cNvSpPr/>
            <p:nvPr/>
          </p:nvSpPr>
          <p:spPr>
            <a:xfrm>
              <a:off x="0" y="0"/>
              <a:ext cx="76200" cy="971700"/>
            </a:xfrm>
            <a:prstGeom prst="roundRect">
              <a:avLst>
                <a:gd fmla="val 50000" name="adj"/>
              </a:avLst>
            </a:prstGeom>
            <a:solidFill>
              <a:srgbClr val="0D5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" name="Google Shape;941;p47"/>
            <p:cNvSpPr txBox="1"/>
            <p:nvPr/>
          </p:nvSpPr>
          <p:spPr>
            <a:xfrm>
              <a:off x="0" y="0"/>
              <a:ext cx="6858000" cy="9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304800" spcFirstLastPara="1" rIns="3048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0D50CE"/>
                  </a:solidFill>
                  <a:latin typeface="Arial"/>
                  <a:ea typeface="Arial"/>
                  <a:cs typeface="Arial"/>
                  <a:sym typeface="Arial"/>
                </a:rPr>
                <a:t>04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F9 FT B1026</a:t>
              </a:r>
              <a:endParaRPr b="1" sz="2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Falcon 9 Full Thrust • Drone Ship Landing</a:t>
              </a:r>
              <a:endParaRPr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942" name="Google Shape;942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0000" y="1530000"/>
            <a:ext cx="3390001" cy="471741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3" name="Google Shape;943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944" name="Google Shape;944;p47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https://github.com/treinart/IBM-Data-Science-Professional-Certificate/blob/main/10_Applied%20Data%20Science%20Capstone/Module%202/jupyter-labs-eda-sql-coursera_sqllite.ipynb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48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50" name="Google Shape;950;p48"/>
          <p:cNvSpPr txBox="1"/>
          <p:nvPr/>
        </p:nvSpPr>
        <p:spPr>
          <a:xfrm>
            <a:off x="770011" y="538650"/>
            <a:ext cx="10515600" cy="5490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100"/>
              <a:buFont typeface="Arial"/>
              <a:buNone/>
            </a:pPr>
            <a:r>
              <a:rPr b="1" lang="en-US" sz="3600">
                <a:solidFill>
                  <a:schemeClr val="dk1"/>
                </a:solidFill>
              </a:rPr>
              <a:t>Mission Outcomes in the SQL Dataset</a:t>
            </a:r>
            <a:endParaRPr b="1" sz="3600">
              <a:solidFill>
                <a:schemeClr val="dk1"/>
              </a:solidFill>
            </a:endParaRPr>
          </a:p>
        </p:txBody>
      </p:sp>
      <p:sp>
        <p:nvSpPr>
          <p:cNvPr id="951" name="Google Shape;951;p48"/>
          <p:cNvSpPr txBox="1"/>
          <p:nvPr/>
        </p:nvSpPr>
        <p:spPr>
          <a:xfrm>
            <a:off x="810000" y="1750000"/>
            <a:ext cx="42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D50CE"/>
                </a:solidFill>
              </a:rPr>
              <a:t>MISSION OUTCOME</a:t>
            </a:r>
            <a:endParaRPr b="1" sz="1500">
              <a:solidFill>
                <a:srgbClr val="0D50CE"/>
              </a:solidFill>
            </a:endParaRPr>
          </a:p>
        </p:txBody>
      </p:sp>
      <p:sp>
        <p:nvSpPr>
          <p:cNvPr id="952" name="Google Shape;952;p48"/>
          <p:cNvSpPr txBox="1"/>
          <p:nvPr/>
        </p:nvSpPr>
        <p:spPr>
          <a:xfrm>
            <a:off x="5300000" y="1750000"/>
            <a:ext cx="95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D50CE"/>
                </a:solidFill>
              </a:rPr>
              <a:t>COUNT</a:t>
            </a:r>
            <a:endParaRPr b="1" sz="1500">
              <a:solidFill>
                <a:srgbClr val="0D50CE"/>
              </a:solidFill>
            </a:endParaRPr>
          </a:p>
        </p:txBody>
      </p:sp>
      <p:sp>
        <p:nvSpPr>
          <p:cNvPr id="953" name="Google Shape;953;p48"/>
          <p:cNvSpPr txBox="1"/>
          <p:nvPr/>
        </p:nvSpPr>
        <p:spPr>
          <a:xfrm>
            <a:off x="830000" y="2390000"/>
            <a:ext cx="4299900" cy="7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243652"/>
                </a:solidFill>
              </a:rPr>
              <a:t>Success</a:t>
            </a:r>
            <a:endParaRPr sz="2600">
              <a:solidFill>
                <a:srgbClr val="243652"/>
              </a:solidFill>
            </a:endParaRPr>
          </a:p>
        </p:txBody>
      </p:sp>
      <p:sp>
        <p:nvSpPr>
          <p:cNvPr id="954" name="Google Shape;954;p48"/>
          <p:cNvSpPr txBox="1"/>
          <p:nvPr/>
        </p:nvSpPr>
        <p:spPr>
          <a:xfrm>
            <a:off x="5350000" y="2390000"/>
            <a:ext cx="900000" cy="7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0D50CE"/>
                </a:solidFill>
              </a:rPr>
              <a:t>99</a:t>
            </a:r>
            <a:endParaRPr b="1" sz="3100">
              <a:solidFill>
                <a:srgbClr val="0D50CE"/>
              </a:solidFill>
            </a:endParaRPr>
          </a:p>
        </p:txBody>
      </p:sp>
      <p:sp>
        <p:nvSpPr>
          <p:cNvPr id="955" name="Google Shape;955;p48"/>
          <p:cNvSpPr txBox="1"/>
          <p:nvPr/>
        </p:nvSpPr>
        <p:spPr>
          <a:xfrm>
            <a:off x="830000" y="3390000"/>
            <a:ext cx="4299900" cy="7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243652"/>
                </a:solidFill>
              </a:rPr>
              <a:t>Failure (in flight)</a:t>
            </a:r>
            <a:endParaRPr sz="2600">
              <a:solidFill>
                <a:srgbClr val="243652"/>
              </a:solidFill>
            </a:endParaRPr>
          </a:p>
        </p:txBody>
      </p:sp>
      <p:sp>
        <p:nvSpPr>
          <p:cNvPr id="956" name="Google Shape;956;p48"/>
          <p:cNvSpPr txBox="1"/>
          <p:nvPr/>
        </p:nvSpPr>
        <p:spPr>
          <a:xfrm>
            <a:off x="5350000" y="3390000"/>
            <a:ext cx="900000" cy="7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0D50CE"/>
                </a:solidFill>
              </a:rPr>
              <a:t>1</a:t>
            </a:r>
            <a:endParaRPr b="1" sz="3100">
              <a:solidFill>
                <a:srgbClr val="0D50CE"/>
              </a:solidFill>
            </a:endParaRPr>
          </a:p>
        </p:txBody>
      </p:sp>
      <p:sp>
        <p:nvSpPr>
          <p:cNvPr id="957" name="Google Shape;957;p48"/>
          <p:cNvSpPr txBox="1"/>
          <p:nvPr/>
        </p:nvSpPr>
        <p:spPr>
          <a:xfrm>
            <a:off x="830000" y="4390000"/>
            <a:ext cx="4299900" cy="7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rgbClr val="243652"/>
                </a:solidFill>
              </a:rPr>
              <a:t>Success (payload status unclear)</a:t>
            </a:r>
            <a:endParaRPr sz="2300">
              <a:solidFill>
                <a:srgbClr val="243652"/>
              </a:solidFill>
            </a:endParaRPr>
          </a:p>
        </p:txBody>
      </p:sp>
      <p:sp>
        <p:nvSpPr>
          <p:cNvPr id="958" name="Google Shape;958;p48"/>
          <p:cNvSpPr txBox="1"/>
          <p:nvPr/>
        </p:nvSpPr>
        <p:spPr>
          <a:xfrm>
            <a:off x="5350000" y="4390000"/>
            <a:ext cx="900000" cy="7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0D50CE"/>
                </a:solidFill>
              </a:rPr>
              <a:t>1</a:t>
            </a:r>
            <a:endParaRPr b="1" sz="3100">
              <a:solidFill>
                <a:srgbClr val="0D50CE"/>
              </a:solidFill>
            </a:endParaRPr>
          </a:p>
        </p:txBody>
      </p:sp>
      <p:sp>
        <p:nvSpPr>
          <p:cNvPr id="959" name="Google Shape;959;p48"/>
          <p:cNvSpPr txBox="1"/>
          <p:nvPr/>
        </p:nvSpPr>
        <p:spPr>
          <a:xfrm>
            <a:off x="830000" y="5480000"/>
            <a:ext cx="5600100" cy="6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5C6E85"/>
                </a:solidFill>
              </a:rPr>
              <a:t>The SQL result counts mission outcomes across 101 launch records.</a:t>
            </a:r>
            <a:endParaRPr sz="1800">
              <a:solidFill>
                <a:srgbClr val="5C6E85"/>
              </a:solidFill>
            </a:endParaRPr>
          </a:p>
        </p:txBody>
      </p:sp>
      <p:pic>
        <p:nvPicPr>
          <p:cNvPr id="960" name="Google Shape;960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50000" y="1550000"/>
            <a:ext cx="4550000" cy="4440172"/>
          </a:xfrm>
          <a:prstGeom prst="rect">
            <a:avLst/>
          </a:prstGeom>
          <a:noFill/>
          <a:ln>
            <a:noFill/>
          </a:ln>
        </p:spPr>
      </p:pic>
      <p:pic>
        <p:nvPicPr>
          <p:cNvPr id="961" name="Google Shape;961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962" name="Google Shape;962;p48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https://github.com/treinart/IBM-Data-Science-Professional-Certificate/blob/main/10_Applied%20Data%20Science%20Capstone/Module%202/jupyter-labs-eda-sql-coursera_sqllite.ipynb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66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49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68" name="Google Shape;968;p49"/>
          <p:cNvSpPr txBox="1"/>
          <p:nvPr/>
        </p:nvSpPr>
        <p:spPr>
          <a:xfrm>
            <a:off x="770011" y="538650"/>
            <a:ext cx="10515600" cy="5490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700"/>
              <a:buFont typeface="Arial"/>
              <a:buNone/>
            </a:pPr>
            <a:r>
              <a:rPr b="1" lang="en-US" sz="3600">
                <a:solidFill>
                  <a:schemeClr val="dk1"/>
                </a:solidFill>
              </a:rPr>
              <a:t>Boosters with the Maximum Payload</a:t>
            </a:r>
            <a:endParaRPr b="1" sz="3600">
              <a:solidFill>
                <a:schemeClr val="dk1"/>
              </a:solidFill>
            </a:endParaRPr>
          </a:p>
        </p:txBody>
      </p:sp>
      <p:sp>
        <p:nvSpPr>
          <p:cNvPr id="969" name="Google Shape;969;p49"/>
          <p:cNvSpPr txBox="1"/>
          <p:nvPr/>
        </p:nvSpPr>
        <p:spPr>
          <a:xfrm>
            <a:off x="810000" y="1750000"/>
            <a:ext cx="69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D50CE"/>
                </a:solidFill>
              </a:rPr>
              <a:t>12 BOOSTER-VERSION ENTRIES IN THE SQL RESULT</a:t>
            </a:r>
            <a:endParaRPr b="1" sz="1500">
              <a:solidFill>
                <a:srgbClr val="0D50CE"/>
              </a:solidFill>
            </a:endParaRPr>
          </a:p>
        </p:txBody>
      </p:sp>
      <p:sp>
        <p:nvSpPr>
          <p:cNvPr id="970" name="Google Shape;970;p49"/>
          <p:cNvSpPr txBox="1"/>
          <p:nvPr/>
        </p:nvSpPr>
        <p:spPr>
          <a:xfrm>
            <a:off x="900000" y="2300000"/>
            <a:ext cx="57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01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971" name="Google Shape;971;p49"/>
          <p:cNvSpPr txBox="1"/>
          <p:nvPr/>
        </p:nvSpPr>
        <p:spPr>
          <a:xfrm>
            <a:off x="1550000" y="2300000"/>
            <a:ext cx="260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F9 B5 B1048.4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972" name="Google Shape;972;p49"/>
          <p:cNvSpPr txBox="1"/>
          <p:nvPr/>
        </p:nvSpPr>
        <p:spPr>
          <a:xfrm>
            <a:off x="900000" y="2890000"/>
            <a:ext cx="57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02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973" name="Google Shape;973;p49"/>
          <p:cNvSpPr txBox="1"/>
          <p:nvPr/>
        </p:nvSpPr>
        <p:spPr>
          <a:xfrm>
            <a:off x="1550000" y="2890000"/>
            <a:ext cx="260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F9 B5 B1048.5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974" name="Google Shape;974;p49"/>
          <p:cNvSpPr txBox="1"/>
          <p:nvPr/>
        </p:nvSpPr>
        <p:spPr>
          <a:xfrm>
            <a:off x="900000" y="3480000"/>
            <a:ext cx="57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03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975" name="Google Shape;975;p49"/>
          <p:cNvSpPr txBox="1"/>
          <p:nvPr/>
        </p:nvSpPr>
        <p:spPr>
          <a:xfrm>
            <a:off x="1550000" y="3480000"/>
            <a:ext cx="260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F9 B5 B1049.4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976" name="Google Shape;976;p49"/>
          <p:cNvSpPr txBox="1"/>
          <p:nvPr/>
        </p:nvSpPr>
        <p:spPr>
          <a:xfrm>
            <a:off x="900000" y="4070000"/>
            <a:ext cx="57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04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977" name="Google Shape;977;p49"/>
          <p:cNvSpPr txBox="1"/>
          <p:nvPr/>
        </p:nvSpPr>
        <p:spPr>
          <a:xfrm>
            <a:off x="1550000" y="4070000"/>
            <a:ext cx="260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F9 B5 B1049.5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978" name="Google Shape;978;p49"/>
          <p:cNvSpPr txBox="1"/>
          <p:nvPr/>
        </p:nvSpPr>
        <p:spPr>
          <a:xfrm>
            <a:off x="900000" y="4660000"/>
            <a:ext cx="57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05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979" name="Google Shape;979;p49"/>
          <p:cNvSpPr txBox="1"/>
          <p:nvPr/>
        </p:nvSpPr>
        <p:spPr>
          <a:xfrm>
            <a:off x="1550000" y="4660000"/>
            <a:ext cx="260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F9 B5 B1049.7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980" name="Google Shape;980;p49"/>
          <p:cNvSpPr txBox="1"/>
          <p:nvPr/>
        </p:nvSpPr>
        <p:spPr>
          <a:xfrm>
            <a:off x="900000" y="5250000"/>
            <a:ext cx="57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06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981" name="Google Shape;981;p49"/>
          <p:cNvSpPr txBox="1"/>
          <p:nvPr/>
        </p:nvSpPr>
        <p:spPr>
          <a:xfrm>
            <a:off x="1550000" y="5250000"/>
            <a:ext cx="260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F9 B5 B1051.3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982" name="Google Shape;982;p49"/>
          <p:cNvSpPr txBox="1"/>
          <p:nvPr/>
        </p:nvSpPr>
        <p:spPr>
          <a:xfrm>
            <a:off x="4300000" y="2300000"/>
            <a:ext cx="57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07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983" name="Google Shape;983;p49"/>
          <p:cNvSpPr txBox="1"/>
          <p:nvPr/>
        </p:nvSpPr>
        <p:spPr>
          <a:xfrm>
            <a:off x="4950000" y="2300000"/>
            <a:ext cx="290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F9 B5 B1051.4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984" name="Google Shape;984;p49"/>
          <p:cNvSpPr txBox="1"/>
          <p:nvPr/>
        </p:nvSpPr>
        <p:spPr>
          <a:xfrm>
            <a:off x="4300000" y="2890000"/>
            <a:ext cx="57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08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985" name="Google Shape;985;p49"/>
          <p:cNvSpPr txBox="1"/>
          <p:nvPr/>
        </p:nvSpPr>
        <p:spPr>
          <a:xfrm>
            <a:off x="4950000" y="2890000"/>
            <a:ext cx="290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F9 B5 B1051.6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986" name="Google Shape;986;p49"/>
          <p:cNvSpPr txBox="1"/>
          <p:nvPr/>
        </p:nvSpPr>
        <p:spPr>
          <a:xfrm>
            <a:off x="4300000" y="3480000"/>
            <a:ext cx="57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09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987" name="Google Shape;987;p49"/>
          <p:cNvSpPr txBox="1"/>
          <p:nvPr/>
        </p:nvSpPr>
        <p:spPr>
          <a:xfrm>
            <a:off x="4950000" y="3480000"/>
            <a:ext cx="290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F9 B5 B1056.4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988" name="Google Shape;988;p49"/>
          <p:cNvSpPr txBox="1"/>
          <p:nvPr/>
        </p:nvSpPr>
        <p:spPr>
          <a:xfrm>
            <a:off x="4300000" y="4070000"/>
            <a:ext cx="57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10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989" name="Google Shape;989;p49"/>
          <p:cNvSpPr txBox="1"/>
          <p:nvPr/>
        </p:nvSpPr>
        <p:spPr>
          <a:xfrm>
            <a:off x="4950000" y="4070000"/>
            <a:ext cx="290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F9 B5 B1058.3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990" name="Google Shape;990;p49"/>
          <p:cNvSpPr txBox="1"/>
          <p:nvPr/>
        </p:nvSpPr>
        <p:spPr>
          <a:xfrm>
            <a:off x="4300000" y="4660000"/>
            <a:ext cx="57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11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991" name="Google Shape;991;p49"/>
          <p:cNvSpPr txBox="1"/>
          <p:nvPr/>
        </p:nvSpPr>
        <p:spPr>
          <a:xfrm>
            <a:off x="4950000" y="4660000"/>
            <a:ext cx="290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F9 B5 B1060.2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992" name="Google Shape;992;p49"/>
          <p:cNvSpPr txBox="1"/>
          <p:nvPr/>
        </p:nvSpPr>
        <p:spPr>
          <a:xfrm>
            <a:off x="4300000" y="5250000"/>
            <a:ext cx="579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D50CE"/>
                </a:solidFill>
              </a:rPr>
              <a:t>12</a:t>
            </a:r>
            <a:endParaRPr b="1" sz="1700">
              <a:solidFill>
                <a:srgbClr val="0D50CE"/>
              </a:solidFill>
            </a:endParaRPr>
          </a:p>
        </p:txBody>
      </p:sp>
      <p:sp>
        <p:nvSpPr>
          <p:cNvPr id="993" name="Google Shape;993;p49"/>
          <p:cNvSpPr txBox="1"/>
          <p:nvPr/>
        </p:nvSpPr>
        <p:spPr>
          <a:xfrm>
            <a:off x="4950000" y="5250000"/>
            <a:ext cx="29001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F9 B5 B1060.3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994" name="Google Shape;994;p49"/>
          <p:cNvSpPr txBox="1"/>
          <p:nvPr/>
        </p:nvSpPr>
        <p:spPr>
          <a:xfrm>
            <a:off x="900000" y="5900000"/>
            <a:ext cx="69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5C6E85"/>
                </a:solidFill>
              </a:rPr>
              <a:t>All 12 results are F9 B5 booster-version entries.</a:t>
            </a:r>
            <a:endParaRPr sz="1700">
              <a:solidFill>
                <a:srgbClr val="5C6E85"/>
              </a:solidFill>
            </a:endParaRPr>
          </a:p>
        </p:txBody>
      </p:sp>
      <p:pic>
        <p:nvPicPr>
          <p:cNvPr id="995" name="Google Shape;995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20000" y="1380000"/>
            <a:ext cx="3139601" cy="4574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6" name="Google Shape;996;p4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997" name="Google Shape;997;p49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https://github.com/treinart/IBM-Data-Science-Professional-Certificate/blob/main/10_Applied%20Data%20Science%20Capstone/Module%202/jupyter-labs-eda-sql-coursera_sqllite.ipynb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0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50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03" name="Google Shape;1003;p50"/>
          <p:cNvSpPr txBox="1"/>
          <p:nvPr/>
        </p:nvSpPr>
        <p:spPr>
          <a:xfrm>
            <a:off x="770011" y="538650"/>
            <a:ext cx="10515600" cy="5490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700"/>
              <a:buFont typeface="Arial"/>
              <a:buNone/>
            </a:pPr>
            <a:r>
              <a:rPr b="1" lang="en-US" sz="3600">
                <a:solidFill>
                  <a:schemeClr val="dk1"/>
                </a:solidFill>
              </a:rPr>
              <a:t>Failed Drone-Ship Landings in 2015</a:t>
            </a:r>
            <a:endParaRPr b="1" sz="3600">
              <a:solidFill>
                <a:schemeClr val="dk1"/>
              </a:solidFill>
            </a:endParaRPr>
          </a:p>
        </p:txBody>
      </p:sp>
      <p:sp>
        <p:nvSpPr>
          <p:cNvPr id="1004" name="Google Shape;1004;p50"/>
          <p:cNvSpPr txBox="1"/>
          <p:nvPr/>
        </p:nvSpPr>
        <p:spPr>
          <a:xfrm>
            <a:off x="810000" y="1770000"/>
            <a:ext cx="6500100" cy="4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D50CE"/>
                </a:solidFill>
              </a:rPr>
              <a:t>TWO MATCHING SQL RECORDS</a:t>
            </a:r>
            <a:endParaRPr b="1" sz="1500">
              <a:solidFill>
                <a:srgbClr val="0D50CE"/>
              </a:solidFill>
            </a:endParaRPr>
          </a:p>
        </p:txBody>
      </p:sp>
      <p:sp>
        <p:nvSpPr>
          <p:cNvPr id="1005" name="Google Shape;1005;p50"/>
          <p:cNvSpPr txBox="1"/>
          <p:nvPr/>
        </p:nvSpPr>
        <p:spPr>
          <a:xfrm>
            <a:off x="850000" y="2500000"/>
            <a:ext cx="31500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D50CE"/>
                </a:solidFill>
              </a:rPr>
              <a:t>JANUARY 2015</a:t>
            </a:r>
            <a:endParaRPr b="1" sz="2400">
              <a:solidFill>
                <a:srgbClr val="0D50CE"/>
              </a:solidFill>
            </a:endParaRPr>
          </a:p>
        </p:txBody>
      </p:sp>
      <p:sp>
        <p:nvSpPr>
          <p:cNvPr id="1006" name="Google Shape;1006;p50"/>
          <p:cNvSpPr txBox="1"/>
          <p:nvPr/>
        </p:nvSpPr>
        <p:spPr>
          <a:xfrm>
            <a:off x="850000" y="3270000"/>
            <a:ext cx="3150000" cy="59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>
                <a:solidFill>
                  <a:srgbClr val="243652"/>
                </a:solidFill>
              </a:rPr>
              <a:t>F9 v1.1 B1012</a:t>
            </a:r>
            <a:endParaRPr sz="2700">
              <a:solidFill>
                <a:srgbClr val="243652"/>
              </a:solidFill>
            </a:endParaRPr>
          </a:p>
        </p:txBody>
      </p:sp>
      <p:sp>
        <p:nvSpPr>
          <p:cNvPr id="1007" name="Google Shape;1007;p50"/>
          <p:cNvSpPr txBox="1"/>
          <p:nvPr/>
        </p:nvSpPr>
        <p:spPr>
          <a:xfrm>
            <a:off x="850000" y="4020000"/>
            <a:ext cx="3150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5C6E85"/>
                </a:solidFill>
              </a:rPr>
              <a:t>CCAFS LC-40</a:t>
            </a:r>
            <a:endParaRPr sz="2000">
              <a:solidFill>
                <a:srgbClr val="5C6E85"/>
              </a:solidFill>
            </a:endParaRPr>
          </a:p>
        </p:txBody>
      </p:sp>
      <p:sp>
        <p:nvSpPr>
          <p:cNvPr id="1008" name="Google Shape;1008;p50"/>
          <p:cNvSpPr txBox="1"/>
          <p:nvPr/>
        </p:nvSpPr>
        <p:spPr>
          <a:xfrm>
            <a:off x="850000" y="4830000"/>
            <a:ext cx="31500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Failure (drone ship)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1009" name="Google Shape;1009;p50"/>
          <p:cNvSpPr txBox="1"/>
          <p:nvPr/>
        </p:nvSpPr>
        <p:spPr>
          <a:xfrm>
            <a:off x="4200000" y="2500000"/>
            <a:ext cx="31500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D50CE"/>
                </a:solidFill>
              </a:rPr>
              <a:t>APRIL 2015</a:t>
            </a:r>
            <a:endParaRPr b="1" sz="2400">
              <a:solidFill>
                <a:srgbClr val="0D50CE"/>
              </a:solidFill>
            </a:endParaRPr>
          </a:p>
        </p:txBody>
      </p:sp>
      <p:sp>
        <p:nvSpPr>
          <p:cNvPr id="1010" name="Google Shape;1010;p50"/>
          <p:cNvSpPr txBox="1"/>
          <p:nvPr/>
        </p:nvSpPr>
        <p:spPr>
          <a:xfrm>
            <a:off x="4200000" y="3270000"/>
            <a:ext cx="3150000" cy="59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>
                <a:solidFill>
                  <a:srgbClr val="243652"/>
                </a:solidFill>
              </a:rPr>
              <a:t>F9 v1.1 B1015</a:t>
            </a:r>
            <a:endParaRPr sz="2700">
              <a:solidFill>
                <a:srgbClr val="243652"/>
              </a:solidFill>
            </a:endParaRPr>
          </a:p>
        </p:txBody>
      </p:sp>
      <p:sp>
        <p:nvSpPr>
          <p:cNvPr id="1011" name="Google Shape;1011;p50"/>
          <p:cNvSpPr txBox="1"/>
          <p:nvPr/>
        </p:nvSpPr>
        <p:spPr>
          <a:xfrm>
            <a:off x="4200000" y="4020000"/>
            <a:ext cx="3150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5C6E85"/>
                </a:solidFill>
              </a:rPr>
              <a:t>CCAFS LC-40</a:t>
            </a:r>
            <a:endParaRPr sz="2000">
              <a:solidFill>
                <a:srgbClr val="5C6E85"/>
              </a:solidFill>
            </a:endParaRPr>
          </a:p>
        </p:txBody>
      </p:sp>
      <p:sp>
        <p:nvSpPr>
          <p:cNvPr id="1012" name="Google Shape;1012;p50"/>
          <p:cNvSpPr txBox="1"/>
          <p:nvPr/>
        </p:nvSpPr>
        <p:spPr>
          <a:xfrm>
            <a:off x="4200000" y="4830000"/>
            <a:ext cx="31500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243652"/>
                </a:solidFill>
              </a:rPr>
              <a:t>Failure (drone ship)</a:t>
            </a:r>
            <a:endParaRPr sz="1900">
              <a:solidFill>
                <a:srgbClr val="243652"/>
              </a:solidFill>
            </a:endParaRPr>
          </a:p>
        </p:txBody>
      </p:sp>
      <p:sp>
        <p:nvSpPr>
          <p:cNvPr id="1013" name="Google Shape;1013;p50"/>
          <p:cNvSpPr txBox="1"/>
          <p:nvPr/>
        </p:nvSpPr>
        <p:spPr>
          <a:xfrm>
            <a:off x="900000" y="5720000"/>
            <a:ext cx="65001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5C6E85"/>
                </a:solidFill>
              </a:rPr>
              <a:t>Both 2015 drone-ship failures in the result launched from CCAFS LC-40.</a:t>
            </a:r>
            <a:endParaRPr sz="1700">
              <a:solidFill>
                <a:srgbClr val="5C6E85"/>
              </a:solidFill>
            </a:endParaRPr>
          </a:p>
        </p:txBody>
      </p:sp>
      <p:pic>
        <p:nvPicPr>
          <p:cNvPr id="1014" name="Google Shape;1014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30000" y="1420000"/>
            <a:ext cx="3355801" cy="4497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5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6" name="Google Shape;1016;p50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https://github.com/treinart/IBM-Data-Science-Professional-Certificate/blob/main/10_Applied%20Data%20Science%20Capstone/Module%202/jupyter-labs-eda-sql-coursera_sqllite.ipynb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20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p51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22" name="Google Shape;1022;p51"/>
          <p:cNvSpPr txBox="1"/>
          <p:nvPr/>
        </p:nvSpPr>
        <p:spPr>
          <a:xfrm>
            <a:off x="770011" y="538650"/>
            <a:ext cx="10515600" cy="5490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2800"/>
              <a:buFont typeface="Arial"/>
              <a:buNone/>
            </a:pPr>
            <a:r>
              <a:rPr b="1" lang="en-US" sz="3600">
                <a:solidFill>
                  <a:schemeClr val="dk1"/>
                </a:solidFill>
              </a:rPr>
              <a:t>Landing Outcomes Ranked by Count</a:t>
            </a:r>
            <a:endParaRPr b="1" sz="3600">
              <a:solidFill>
                <a:schemeClr val="dk1"/>
              </a:solidFill>
            </a:endParaRPr>
          </a:p>
        </p:txBody>
      </p:sp>
      <p:sp>
        <p:nvSpPr>
          <p:cNvPr id="1023" name="Google Shape;1023;p51"/>
          <p:cNvSpPr txBox="1"/>
          <p:nvPr/>
        </p:nvSpPr>
        <p:spPr>
          <a:xfrm>
            <a:off x="830000" y="1890000"/>
            <a:ext cx="6800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0D50CE"/>
                </a:solidFill>
              </a:rPr>
              <a:t>2010-06-04 TO 2017-03-20</a:t>
            </a:r>
            <a:endParaRPr b="1">
              <a:solidFill>
                <a:srgbClr val="0D50CE"/>
              </a:solidFill>
            </a:endParaRPr>
          </a:p>
        </p:txBody>
      </p:sp>
      <p:sp>
        <p:nvSpPr>
          <p:cNvPr id="1024" name="Google Shape;1024;p51"/>
          <p:cNvSpPr txBox="1"/>
          <p:nvPr/>
        </p:nvSpPr>
        <p:spPr>
          <a:xfrm>
            <a:off x="830000" y="2350000"/>
            <a:ext cx="4200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0D50CE"/>
                </a:solidFill>
              </a:rPr>
              <a:t>LANDING OUTCOME</a:t>
            </a:r>
            <a:endParaRPr b="1">
              <a:solidFill>
                <a:srgbClr val="0D50CE"/>
              </a:solidFill>
            </a:endParaRPr>
          </a:p>
        </p:txBody>
      </p:sp>
      <p:sp>
        <p:nvSpPr>
          <p:cNvPr id="1025" name="Google Shape;1025;p51"/>
          <p:cNvSpPr txBox="1"/>
          <p:nvPr/>
        </p:nvSpPr>
        <p:spPr>
          <a:xfrm>
            <a:off x="5250000" y="2350000"/>
            <a:ext cx="900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0D50CE"/>
                </a:solidFill>
              </a:rPr>
              <a:t>COUNT</a:t>
            </a:r>
            <a:endParaRPr b="1">
              <a:solidFill>
                <a:srgbClr val="0D50CE"/>
              </a:solidFill>
            </a:endParaRPr>
          </a:p>
        </p:txBody>
      </p:sp>
      <p:sp>
        <p:nvSpPr>
          <p:cNvPr id="1026" name="Google Shape;1026;p51"/>
          <p:cNvSpPr txBox="1"/>
          <p:nvPr/>
        </p:nvSpPr>
        <p:spPr>
          <a:xfrm>
            <a:off x="6620000" y="2350000"/>
            <a:ext cx="8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0D50CE"/>
                </a:solidFill>
              </a:rPr>
              <a:t>RANK</a:t>
            </a:r>
            <a:endParaRPr b="1">
              <a:solidFill>
                <a:srgbClr val="0D50CE"/>
              </a:solidFill>
            </a:endParaRPr>
          </a:p>
        </p:txBody>
      </p:sp>
      <p:sp>
        <p:nvSpPr>
          <p:cNvPr id="1027" name="Google Shape;1027;p51"/>
          <p:cNvSpPr txBox="1"/>
          <p:nvPr/>
        </p:nvSpPr>
        <p:spPr>
          <a:xfrm>
            <a:off x="830000" y="2790000"/>
            <a:ext cx="42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43652"/>
                </a:solidFill>
              </a:rPr>
              <a:t>No attempt</a:t>
            </a:r>
            <a:endParaRPr sz="1800">
              <a:solidFill>
                <a:srgbClr val="243652"/>
              </a:solidFill>
            </a:endParaRPr>
          </a:p>
        </p:txBody>
      </p:sp>
      <p:sp>
        <p:nvSpPr>
          <p:cNvPr id="1028" name="Google Shape;1028;p51"/>
          <p:cNvSpPr txBox="1"/>
          <p:nvPr/>
        </p:nvSpPr>
        <p:spPr>
          <a:xfrm>
            <a:off x="5250000" y="2790000"/>
            <a:ext cx="9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10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29" name="Google Shape;1029;p51"/>
          <p:cNvSpPr txBox="1"/>
          <p:nvPr/>
        </p:nvSpPr>
        <p:spPr>
          <a:xfrm>
            <a:off x="6620000" y="2790000"/>
            <a:ext cx="8499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1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30" name="Google Shape;1030;p51"/>
          <p:cNvSpPr txBox="1"/>
          <p:nvPr/>
        </p:nvSpPr>
        <p:spPr>
          <a:xfrm>
            <a:off x="830000" y="3195000"/>
            <a:ext cx="42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43652"/>
                </a:solidFill>
              </a:rPr>
              <a:t>Failure (drone ship)</a:t>
            </a:r>
            <a:endParaRPr sz="1800">
              <a:solidFill>
                <a:srgbClr val="243652"/>
              </a:solidFill>
            </a:endParaRPr>
          </a:p>
        </p:txBody>
      </p:sp>
      <p:sp>
        <p:nvSpPr>
          <p:cNvPr id="1031" name="Google Shape;1031;p51"/>
          <p:cNvSpPr txBox="1"/>
          <p:nvPr/>
        </p:nvSpPr>
        <p:spPr>
          <a:xfrm>
            <a:off x="5250000" y="3195000"/>
            <a:ext cx="9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5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32" name="Google Shape;1032;p51"/>
          <p:cNvSpPr txBox="1"/>
          <p:nvPr/>
        </p:nvSpPr>
        <p:spPr>
          <a:xfrm>
            <a:off x="6620000" y="3195000"/>
            <a:ext cx="8499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2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33" name="Google Shape;1033;p51"/>
          <p:cNvSpPr txBox="1"/>
          <p:nvPr/>
        </p:nvSpPr>
        <p:spPr>
          <a:xfrm>
            <a:off x="830000" y="3600000"/>
            <a:ext cx="42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43652"/>
                </a:solidFill>
              </a:rPr>
              <a:t>Success (drone ship)</a:t>
            </a:r>
            <a:endParaRPr sz="1800">
              <a:solidFill>
                <a:srgbClr val="243652"/>
              </a:solidFill>
            </a:endParaRPr>
          </a:p>
        </p:txBody>
      </p:sp>
      <p:sp>
        <p:nvSpPr>
          <p:cNvPr id="1034" name="Google Shape;1034;p51"/>
          <p:cNvSpPr txBox="1"/>
          <p:nvPr/>
        </p:nvSpPr>
        <p:spPr>
          <a:xfrm>
            <a:off x="5250000" y="3600000"/>
            <a:ext cx="9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5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35" name="Google Shape;1035;p51"/>
          <p:cNvSpPr txBox="1"/>
          <p:nvPr/>
        </p:nvSpPr>
        <p:spPr>
          <a:xfrm>
            <a:off x="6620000" y="3600000"/>
            <a:ext cx="8499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2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36" name="Google Shape;1036;p51"/>
          <p:cNvSpPr txBox="1"/>
          <p:nvPr/>
        </p:nvSpPr>
        <p:spPr>
          <a:xfrm>
            <a:off x="830000" y="4005000"/>
            <a:ext cx="42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43652"/>
                </a:solidFill>
              </a:rPr>
              <a:t>Controlled (ocean)</a:t>
            </a:r>
            <a:endParaRPr sz="1800">
              <a:solidFill>
                <a:srgbClr val="243652"/>
              </a:solidFill>
            </a:endParaRPr>
          </a:p>
        </p:txBody>
      </p:sp>
      <p:sp>
        <p:nvSpPr>
          <p:cNvPr id="1037" name="Google Shape;1037;p51"/>
          <p:cNvSpPr txBox="1"/>
          <p:nvPr/>
        </p:nvSpPr>
        <p:spPr>
          <a:xfrm>
            <a:off x="5250000" y="4005000"/>
            <a:ext cx="9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3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38" name="Google Shape;1038;p51"/>
          <p:cNvSpPr txBox="1"/>
          <p:nvPr/>
        </p:nvSpPr>
        <p:spPr>
          <a:xfrm>
            <a:off x="6620000" y="4005000"/>
            <a:ext cx="8499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4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39" name="Google Shape;1039;p51"/>
          <p:cNvSpPr txBox="1"/>
          <p:nvPr/>
        </p:nvSpPr>
        <p:spPr>
          <a:xfrm>
            <a:off x="830000" y="4410000"/>
            <a:ext cx="42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43652"/>
                </a:solidFill>
              </a:rPr>
              <a:t>Success (ground pad)</a:t>
            </a:r>
            <a:endParaRPr sz="1800">
              <a:solidFill>
                <a:srgbClr val="243652"/>
              </a:solidFill>
            </a:endParaRPr>
          </a:p>
        </p:txBody>
      </p:sp>
      <p:sp>
        <p:nvSpPr>
          <p:cNvPr id="1040" name="Google Shape;1040;p51"/>
          <p:cNvSpPr txBox="1"/>
          <p:nvPr/>
        </p:nvSpPr>
        <p:spPr>
          <a:xfrm>
            <a:off x="5250000" y="4410000"/>
            <a:ext cx="9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3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41" name="Google Shape;1041;p51"/>
          <p:cNvSpPr txBox="1"/>
          <p:nvPr/>
        </p:nvSpPr>
        <p:spPr>
          <a:xfrm>
            <a:off x="6620000" y="4410000"/>
            <a:ext cx="8499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4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42" name="Google Shape;1042;p51"/>
          <p:cNvSpPr txBox="1"/>
          <p:nvPr/>
        </p:nvSpPr>
        <p:spPr>
          <a:xfrm>
            <a:off x="830000" y="4815000"/>
            <a:ext cx="42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43652"/>
                </a:solidFill>
              </a:rPr>
              <a:t>Failure (parachute)</a:t>
            </a:r>
            <a:endParaRPr sz="1800">
              <a:solidFill>
                <a:srgbClr val="243652"/>
              </a:solidFill>
            </a:endParaRPr>
          </a:p>
        </p:txBody>
      </p:sp>
      <p:sp>
        <p:nvSpPr>
          <p:cNvPr id="1043" name="Google Shape;1043;p51"/>
          <p:cNvSpPr txBox="1"/>
          <p:nvPr/>
        </p:nvSpPr>
        <p:spPr>
          <a:xfrm>
            <a:off x="5250000" y="4815000"/>
            <a:ext cx="9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2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44" name="Google Shape;1044;p51"/>
          <p:cNvSpPr txBox="1"/>
          <p:nvPr/>
        </p:nvSpPr>
        <p:spPr>
          <a:xfrm>
            <a:off x="6620000" y="4815000"/>
            <a:ext cx="8499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6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45" name="Google Shape;1045;p51"/>
          <p:cNvSpPr txBox="1"/>
          <p:nvPr/>
        </p:nvSpPr>
        <p:spPr>
          <a:xfrm>
            <a:off x="830000" y="5220000"/>
            <a:ext cx="42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43652"/>
                </a:solidFill>
              </a:rPr>
              <a:t>Uncontrolled (ocean)</a:t>
            </a:r>
            <a:endParaRPr sz="1800">
              <a:solidFill>
                <a:srgbClr val="243652"/>
              </a:solidFill>
            </a:endParaRPr>
          </a:p>
        </p:txBody>
      </p:sp>
      <p:sp>
        <p:nvSpPr>
          <p:cNvPr id="1046" name="Google Shape;1046;p51"/>
          <p:cNvSpPr txBox="1"/>
          <p:nvPr/>
        </p:nvSpPr>
        <p:spPr>
          <a:xfrm>
            <a:off x="5250000" y="5220000"/>
            <a:ext cx="9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2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47" name="Google Shape;1047;p51"/>
          <p:cNvSpPr txBox="1"/>
          <p:nvPr/>
        </p:nvSpPr>
        <p:spPr>
          <a:xfrm>
            <a:off x="6620000" y="5220000"/>
            <a:ext cx="8499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6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48" name="Google Shape;1048;p51"/>
          <p:cNvSpPr txBox="1"/>
          <p:nvPr/>
        </p:nvSpPr>
        <p:spPr>
          <a:xfrm>
            <a:off x="830000" y="5625000"/>
            <a:ext cx="42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43652"/>
                </a:solidFill>
              </a:rPr>
              <a:t>Precluded (drone ship)</a:t>
            </a:r>
            <a:endParaRPr sz="1800">
              <a:solidFill>
                <a:srgbClr val="243652"/>
              </a:solidFill>
            </a:endParaRPr>
          </a:p>
        </p:txBody>
      </p:sp>
      <p:sp>
        <p:nvSpPr>
          <p:cNvPr id="1049" name="Google Shape;1049;p51"/>
          <p:cNvSpPr txBox="1"/>
          <p:nvPr/>
        </p:nvSpPr>
        <p:spPr>
          <a:xfrm>
            <a:off x="5250000" y="5625000"/>
            <a:ext cx="9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1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50" name="Google Shape;1050;p51"/>
          <p:cNvSpPr txBox="1"/>
          <p:nvPr/>
        </p:nvSpPr>
        <p:spPr>
          <a:xfrm>
            <a:off x="6620000" y="5625000"/>
            <a:ext cx="8499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D50CE"/>
                </a:solidFill>
              </a:rPr>
              <a:t>8</a:t>
            </a:r>
            <a:endParaRPr b="1" sz="1800">
              <a:solidFill>
                <a:srgbClr val="0D50CE"/>
              </a:solidFill>
            </a:endParaRPr>
          </a:p>
        </p:txBody>
      </p:sp>
      <p:sp>
        <p:nvSpPr>
          <p:cNvPr id="1051" name="Google Shape;1051;p51"/>
          <p:cNvSpPr txBox="1"/>
          <p:nvPr/>
        </p:nvSpPr>
        <p:spPr>
          <a:xfrm>
            <a:off x="830000" y="1400000"/>
            <a:ext cx="68001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C6E85"/>
                </a:solidFill>
              </a:rPr>
              <a:t>No attempt is the most common landing outcome, with 10 records.</a:t>
            </a:r>
            <a:endParaRPr>
              <a:solidFill>
                <a:srgbClr val="5C6E85"/>
              </a:solidFill>
            </a:endParaRPr>
          </a:p>
        </p:txBody>
      </p:sp>
      <p:pic>
        <p:nvPicPr>
          <p:cNvPr id="1052" name="Google Shape;1052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10000" y="1435094"/>
            <a:ext cx="3271201" cy="44613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3" name="Google Shape;1053;p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0000" y="64400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4" name="Google Shape;1054;p51"/>
          <p:cNvSpPr txBox="1"/>
          <p:nvPr/>
        </p:nvSpPr>
        <p:spPr>
          <a:xfrm>
            <a:off x="1260000" y="6380000"/>
            <a:ext cx="9999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50CE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https://github.com/treinart/IBM-Data-Science-Professional-Certificate/blob/main/10_Applied%20Data%20Science%20Capstone/Module%202/jupyter-labs-eda-sql-coursera_sqllite.ipynb</a:t>
            </a:r>
            <a:endParaRPr sz="900" u="sng">
              <a:solidFill>
                <a:srgbClr val="0D50CE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58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p52"/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Section 3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63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p53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65" name="Google Shape;1065;p53"/>
          <p:cNvSpPr txBox="1"/>
          <p:nvPr/>
        </p:nvSpPr>
        <p:spPr>
          <a:xfrm>
            <a:off x="770011" y="538650"/>
            <a:ext cx="10515600" cy="5490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700"/>
              <a:buFont typeface="Arial"/>
              <a:buNone/>
            </a:pPr>
            <a:r>
              <a:rPr b="1" lang="en-US" sz="3600">
                <a:solidFill>
                  <a:schemeClr val="dk1"/>
                </a:solidFill>
              </a:rPr>
              <a:t>Launch Sites and Record Clusters</a:t>
            </a:r>
            <a:endParaRPr b="1" sz="3600">
              <a:solidFill>
                <a:schemeClr val="dk1"/>
              </a:solidFill>
            </a:endParaRPr>
          </a:p>
        </p:txBody>
      </p:sp>
      <p:pic>
        <p:nvPicPr>
          <p:cNvPr id="1066" name="Google Shape;1066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8097" y="1316736"/>
            <a:ext cx="7743256" cy="2729485"/>
          </a:xfrm>
          <a:prstGeom prst="rect">
            <a:avLst/>
          </a:prstGeom>
          <a:noFill/>
          <a:ln>
            <a:noFill/>
          </a:ln>
        </p:spPr>
      </p:pic>
      <p:sp>
        <p:nvSpPr>
          <p:cNvPr id="1067" name="Google Shape;1067;p53"/>
          <p:cNvSpPr txBox="1"/>
          <p:nvPr/>
        </p:nvSpPr>
        <p:spPr>
          <a:xfrm>
            <a:off x="8714232" y="1344168"/>
            <a:ext cx="2578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948CB"/>
                </a:solidFill>
              </a:rPr>
              <a:t>LOCATIONS</a:t>
            </a:r>
            <a:endParaRPr b="1" sz="1200">
              <a:solidFill>
                <a:srgbClr val="0948CB"/>
              </a:solidFill>
            </a:endParaRPr>
          </a:p>
        </p:txBody>
      </p:sp>
      <p:sp>
        <p:nvSpPr>
          <p:cNvPr id="1068" name="Google Shape;1068;p53"/>
          <p:cNvSpPr txBox="1"/>
          <p:nvPr/>
        </p:nvSpPr>
        <p:spPr>
          <a:xfrm>
            <a:off x="8714232" y="1664208"/>
            <a:ext cx="2587800" cy="7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F242E"/>
                </a:solidFill>
              </a:rPr>
              <a:t>VAFB SLC-4E is in California; KSC LC-39A and the two CCAFS pads are in Florida.</a:t>
            </a:r>
            <a:endParaRPr>
              <a:solidFill>
                <a:srgbClr val="1F242E"/>
              </a:solidFill>
            </a:endParaRPr>
          </a:p>
        </p:txBody>
      </p:sp>
      <p:sp>
        <p:nvSpPr>
          <p:cNvPr id="1069" name="Google Shape;1069;p53"/>
          <p:cNvSpPr txBox="1"/>
          <p:nvPr/>
        </p:nvSpPr>
        <p:spPr>
          <a:xfrm>
            <a:off x="8714232" y="2578608"/>
            <a:ext cx="2578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948CB"/>
                </a:solidFill>
              </a:rPr>
              <a:t>LAUNCH RECORDS</a:t>
            </a:r>
            <a:endParaRPr b="1" sz="1200">
              <a:solidFill>
                <a:srgbClr val="0948CB"/>
              </a:solidFill>
            </a:endParaRPr>
          </a:p>
        </p:txBody>
      </p:sp>
      <p:sp>
        <p:nvSpPr>
          <p:cNvPr id="1070" name="Google Shape;1070;p53"/>
          <p:cNvSpPr txBox="1"/>
          <p:nvPr/>
        </p:nvSpPr>
        <p:spPr>
          <a:xfrm>
            <a:off x="8714232" y="2889504"/>
            <a:ext cx="2587800" cy="155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F242E"/>
                </a:solidFill>
              </a:rPr>
              <a:t>Yellow circles group launch records: 10 at VAFB and 46 in Florida. The Florida close-up splits those 46 into 13 at KSC and 33 at the two CCAFS pads.</a:t>
            </a:r>
            <a:endParaRPr>
              <a:solidFill>
                <a:srgbClr val="1F242E"/>
              </a:solidFill>
            </a:endParaRPr>
          </a:p>
        </p:txBody>
      </p:sp>
      <p:sp>
        <p:nvSpPr>
          <p:cNvPr id="1071" name="Google Shape;1071;p53"/>
          <p:cNvSpPr txBox="1"/>
          <p:nvPr/>
        </p:nvSpPr>
        <p:spPr>
          <a:xfrm>
            <a:off x="8714232" y="4599432"/>
            <a:ext cx="2578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948CB"/>
                </a:solidFill>
              </a:rPr>
              <a:t>MAP KEY</a:t>
            </a:r>
            <a:endParaRPr b="1" sz="1200">
              <a:solidFill>
                <a:srgbClr val="0948CB"/>
              </a:solidFill>
            </a:endParaRPr>
          </a:p>
        </p:txBody>
      </p:sp>
      <p:sp>
        <p:nvSpPr>
          <p:cNvPr id="1072" name="Google Shape;1072;p53"/>
          <p:cNvSpPr txBox="1"/>
          <p:nvPr/>
        </p:nvSpPr>
        <p:spPr>
          <a:xfrm>
            <a:off x="8714232" y="4910328"/>
            <a:ext cx="2587800" cy="11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F242E"/>
                </a:solidFill>
              </a:rPr>
              <a:t>Orange rings show a 1 km radius around each site. The upper-right coordinates show the cursor position when each map was captured.</a:t>
            </a:r>
            <a:endParaRPr>
              <a:solidFill>
                <a:srgbClr val="1F242E"/>
              </a:solidFill>
            </a:endParaRPr>
          </a:p>
        </p:txBody>
      </p:sp>
      <p:sp>
        <p:nvSpPr>
          <p:cNvPr id="1073" name="Google Shape;1073;p53"/>
          <p:cNvSpPr txBox="1"/>
          <p:nvPr/>
        </p:nvSpPr>
        <p:spPr>
          <a:xfrm>
            <a:off x="1261872" y="6382512"/>
            <a:ext cx="10058400" cy="26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4DCC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https://github.com/treinart/IBM-Data-Science-Professional-Certificate/blob/main/10_Applied%20Data%20Science%20Capstone/Module%203/lab-jupyter-launch-site-location-v2.ipynb</a:t>
            </a:r>
            <a:endParaRPr sz="900" u="sng">
              <a:solidFill>
                <a:srgbClr val="0D4DCC"/>
              </a:solidFill>
            </a:endParaRPr>
          </a:p>
        </p:txBody>
      </p:sp>
      <p:pic>
        <p:nvPicPr>
          <p:cNvPr id="1074" name="Google Shape;1074;p5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7240" y="4115854"/>
            <a:ext cx="2340865" cy="2119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5" name="Google Shape;1075;p5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55264" y="4114800"/>
            <a:ext cx="5266944" cy="21214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6" name="Google Shape;1076;p5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60120" y="6432804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80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54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82" name="Google Shape;1082;p54"/>
          <p:cNvSpPr txBox="1"/>
          <p:nvPr/>
        </p:nvSpPr>
        <p:spPr>
          <a:xfrm>
            <a:off x="770011" y="538650"/>
            <a:ext cx="10515600" cy="5490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700"/>
              <a:buFont typeface="Arial"/>
              <a:buNone/>
            </a:pPr>
            <a:r>
              <a:rPr b="1" lang="en-US" sz="3600">
                <a:solidFill>
                  <a:schemeClr val="dk1"/>
                </a:solidFill>
              </a:rPr>
              <a:t>Landing Outcomes at KSC LC-39A</a:t>
            </a:r>
            <a:endParaRPr b="1" sz="3600">
              <a:solidFill>
                <a:schemeClr val="dk1"/>
              </a:solidFill>
            </a:endParaRPr>
          </a:p>
        </p:txBody>
      </p:sp>
      <p:pic>
        <p:nvPicPr>
          <p:cNvPr id="1083" name="Google Shape;1083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240" y="1326539"/>
            <a:ext cx="4956048" cy="4872433"/>
          </a:xfrm>
          <a:prstGeom prst="rect">
            <a:avLst/>
          </a:prstGeom>
          <a:noFill/>
          <a:ln>
            <a:noFill/>
          </a:ln>
        </p:spPr>
      </p:pic>
      <p:sp>
        <p:nvSpPr>
          <p:cNvPr id="1084" name="Google Shape;1084;p54"/>
          <p:cNvSpPr txBox="1"/>
          <p:nvPr/>
        </p:nvSpPr>
        <p:spPr>
          <a:xfrm>
            <a:off x="1261872" y="6382512"/>
            <a:ext cx="10058400" cy="26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4DCC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https://github.com/treinart/IBM-Data-Science-Professional-Certificate/blob/main/10_Applied%20Data%20Science%20Capstone/Module%203/lab-jupyter-launch-site-location-v2.ipynb</a:t>
            </a:r>
            <a:endParaRPr sz="900" u="sng">
              <a:solidFill>
                <a:srgbClr val="0D4DCC"/>
              </a:solidFill>
            </a:endParaRPr>
          </a:p>
        </p:txBody>
      </p:sp>
      <p:pic>
        <p:nvPicPr>
          <p:cNvPr id="1085" name="Google Shape;1085;p5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60120" y="6432804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6" name="Google Shape;1086;p54"/>
          <p:cNvSpPr/>
          <p:nvPr/>
        </p:nvSpPr>
        <p:spPr>
          <a:xfrm>
            <a:off x="6096000" y="1285875"/>
            <a:ext cx="5181600" cy="4619700"/>
          </a:xfrm>
          <a:prstGeom prst="roundRect">
            <a:avLst>
              <a:gd fmla="val 2474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7" name="Google Shape;1087;p54"/>
          <p:cNvSpPr/>
          <p:nvPr/>
        </p:nvSpPr>
        <p:spPr>
          <a:xfrm>
            <a:off x="6324600" y="1476375"/>
            <a:ext cx="1619100" cy="228600"/>
          </a:xfrm>
          <a:prstGeom prst="roundRect">
            <a:avLst>
              <a:gd fmla="val 50000" name="adj"/>
            </a:avLst>
          </a:prstGeom>
          <a:solidFill>
            <a:srgbClr val="1E293B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8" name="Google Shape;1088;p54"/>
          <p:cNvSpPr txBox="1"/>
          <p:nvPr/>
        </p:nvSpPr>
        <p:spPr>
          <a:xfrm>
            <a:off x="6419850" y="1504950"/>
            <a:ext cx="14289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LAUNCH SITE METRICS</a:t>
            </a:r>
            <a:endParaRPr b="1" sz="850">
              <a:solidFill>
                <a:srgbClr val="38BDF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89" name="Google Shape;1089;p54"/>
          <p:cNvSpPr txBox="1"/>
          <p:nvPr/>
        </p:nvSpPr>
        <p:spPr>
          <a:xfrm>
            <a:off x="6324600" y="1781175"/>
            <a:ext cx="4724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KSC LC-39A Launch Complex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13 mapped launch records analyzed in this dataset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090" name="Google Shape;1090;p54"/>
          <p:cNvCxnSpPr/>
          <p:nvPr/>
        </p:nvCxnSpPr>
        <p:spPr>
          <a:xfrm>
            <a:off x="6324600" y="2305050"/>
            <a:ext cx="4724400" cy="0"/>
          </a:xfrm>
          <a:prstGeom prst="straightConnector1">
            <a:avLst/>
          </a:prstGeom>
          <a:solidFill>
            <a:srgbClr val="FFFFFF"/>
          </a:solidFill>
          <a:ln cap="flat" cmpd="sng" w="14300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1" name="Google Shape;1091;p54"/>
          <p:cNvSpPr txBox="1"/>
          <p:nvPr/>
        </p:nvSpPr>
        <p:spPr>
          <a:xfrm>
            <a:off x="6324600" y="2419350"/>
            <a:ext cx="22860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90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  <a:endParaRPr b="1" sz="2890">
              <a:solidFill>
                <a:srgbClr val="22C55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02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Successful Landings</a:t>
            </a:r>
            <a:endParaRPr b="1" sz="2890">
              <a:solidFill>
                <a:srgbClr val="22C55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76.9% site success rate</a:t>
            </a:r>
            <a:endParaRPr b="1" sz="2890">
              <a:solidFill>
                <a:srgbClr val="22C55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92" name="Google Shape;1092;p54"/>
          <p:cNvSpPr txBox="1"/>
          <p:nvPr/>
        </p:nvSpPr>
        <p:spPr>
          <a:xfrm>
            <a:off x="8763000" y="2419350"/>
            <a:ext cx="22860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9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1" sz="2890">
              <a:solidFill>
                <a:srgbClr val="EF444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02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Failed Landings</a:t>
            </a:r>
            <a:endParaRPr b="1" sz="2890">
              <a:solidFill>
                <a:srgbClr val="EF444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23.1% landing failure rate</a:t>
            </a:r>
            <a:endParaRPr b="1" sz="2890">
              <a:solidFill>
                <a:srgbClr val="EF444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093" name="Google Shape;1093;p54"/>
          <p:cNvCxnSpPr/>
          <p:nvPr/>
        </p:nvCxnSpPr>
        <p:spPr>
          <a:xfrm>
            <a:off x="6324600" y="3333750"/>
            <a:ext cx="4724400" cy="0"/>
          </a:xfrm>
          <a:prstGeom prst="straightConnector1">
            <a:avLst/>
          </a:prstGeom>
          <a:solidFill>
            <a:srgbClr val="FFFFFF"/>
          </a:solidFill>
          <a:ln cap="flat" cmpd="sng" w="14300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4" name="Google Shape;1094;p54"/>
          <p:cNvSpPr/>
          <p:nvPr/>
        </p:nvSpPr>
        <p:spPr>
          <a:xfrm>
            <a:off x="6324600" y="3448050"/>
            <a:ext cx="4724400" cy="2305200"/>
          </a:xfrm>
          <a:prstGeom prst="roundRect">
            <a:avLst>
              <a:gd fmla="val 4132" name="adj"/>
            </a:avLst>
          </a:prstGeom>
          <a:solidFill>
            <a:srgbClr val="1E293B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5" name="Google Shape;1095;p54"/>
          <p:cNvSpPr txBox="1"/>
          <p:nvPr/>
        </p:nvSpPr>
        <p:spPr>
          <a:xfrm>
            <a:off x="6515100" y="3562350"/>
            <a:ext cx="4343400" cy="2076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READING THE MAP</a:t>
            </a:r>
            <a:endParaRPr b="1" sz="850">
              <a:solidFill>
                <a:srgbClr val="38BDF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Each marker pin represents an individual launch event. </a:t>
            </a:r>
            <a:r>
              <a:rPr b="1" lang="en-US" sz="950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Green</a:t>
            </a:r>
            <a:r>
              <a:rPr b="0" lang="en-US" sz="9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indicates a successful first-stage landing, while </a:t>
            </a:r>
            <a:r>
              <a:rPr b="1" lang="en-US" sz="95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red</a:t>
            </a:r>
            <a:r>
              <a:rPr b="0" lang="en-US" sz="9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denotes a landing failure. The expanded popup details a recorded failure.</a:t>
            </a:r>
            <a:endParaRPr b="1" sz="850">
              <a:solidFill>
                <a:srgbClr val="38BDF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GEOGRAPHIC DETAILS</a:t>
            </a:r>
            <a:endParaRPr b="1" sz="850">
              <a:solidFill>
                <a:srgbClr val="38BDF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orange boundary ring illustrates a 1 km proximity perimeter around the launch complex. Upper-right coordinates mark the active cursor position in this capture.</a:t>
            </a:r>
            <a:endParaRPr b="1" sz="850">
              <a:solidFill>
                <a:srgbClr val="38BDF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99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p55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01" name="Google Shape;1101;p55"/>
          <p:cNvSpPr txBox="1"/>
          <p:nvPr/>
        </p:nvSpPr>
        <p:spPr>
          <a:xfrm>
            <a:off x="770011" y="538650"/>
            <a:ext cx="10515600" cy="5490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700"/>
              <a:buFont typeface="Arial"/>
              <a:buNone/>
            </a:pPr>
            <a:r>
              <a:rPr b="1" lang="en-US" sz="3600">
                <a:solidFill>
                  <a:schemeClr val="dk1"/>
                </a:solidFill>
              </a:rPr>
              <a:t>VAFB SLC-4E: Proximity to Key Features</a:t>
            </a:r>
            <a:endParaRPr b="1" sz="3600">
              <a:solidFill>
                <a:schemeClr val="dk1"/>
              </a:solidFill>
            </a:endParaRPr>
          </a:p>
        </p:txBody>
      </p:sp>
      <p:pic>
        <p:nvPicPr>
          <p:cNvPr id="1102" name="Google Shape;11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240" y="1364052"/>
            <a:ext cx="5623561" cy="3398376"/>
          </a:xfrm>
          <a:prstGeom prst="rect">
            <a:avLst/>
          </a:prstGeom>
          <a:noFill/>
          <a:ln>
            <a:noFill/>
          </a:ln>
        </p:spPr>
      </p:pic>
      <p:sp>
        <p:nvSpPr>
          <p:cNvPr id="1103" name="Google Shape;1103;p55"/>
          <p:cNvSpPr txBox="1"/>
          <p:nvPr/>
        </p:nvSpPr>
        <p:spPr>
          <a:xfrm>
            <a:off x="777240" y="4937760"/>
            <a:ext cx="562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948CB"/>
                </a:solidFill>
              </a:rPr>
              <a:t>VAFB SLC-4E | SELECTED MAP POINTS</a:t>
            </a:r>
            <a:endParaRPr b="1" sz="1200">
              <a:solidFill>
                <a:srgbClr val="0948CB"/>
              </a:solidFill>
            </a:endParaRPr>
          </a:p>
        </p:txBody>
      </p:sp>
      <p:sp>
        <p:nvSpPr>
          <p:cNvPr id="1104" name="Google Shape;1104;p55"/>
          <p:cNvSpPr txBox="1"/>
          <p:nvPr/>
        </p:nvSpPr>
        <p:spPr>
          <a:xfrm>
            <a:off x="777240" y="5266944"/>
            <a:ext cx="56235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1F242E"/>
                </a:solidFill>
              </a:rPr>
              <a:t>Railway 1.26 km  •  Coastline 1.35 km</a:t>
            </a:r>
            <a:endParaRPr sz="1700">
              <a:solidFill>
                <a:srgbClr val="1F242E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1F242E"/>
                </a:solidFill>
              </a:rPr>
              <a:t>Highway 8.85 km  •  City 12.62 km</a:t>
            </a:r>
            <a:endParaRPr sz="1700">
              <a:solidFill>
                <a:srgbClr val="1F242E"/>
              </a:solidFill>
            </a:endParaRPr>
          </a:p>
        </p:txBody>
      </p:sp>
      <p:sp>
        <p:nvSpPr>
          <p:cNvPr id="1105" name="Google Shape;1105;p55"/>
          <p:cNvSpPr txBox="1"/>
          <p:nvPr/>
        </p:nvSpPr>
        <p:spPr>
          <a:xfrm>
            <a:off x="777240" y="5916168"/>
            <a:ext cx="56235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F242E"/>
                </a:solidFill>
              </a:rPr>
              <a:t>Of these selected points, the railway and coast are closest.</a:t>
            </a:r>
            <a:endParaRPr sz="1200">
              <a:solidFill>
                <a:srgbClr val="1F242E"/>
              </a:solidFill>
            </a:endParaRPr>
          </a:p>
        </p:txBody>
      </p:sp>
      <p:sp>
        <p:nvSpPr>
          <p:cNvPr id="1106" name="Google Shape;1106;p55"/>
          <p:cNvSpPr txBox="1"/>
          <p:nvPr/>
        </p:nvSpPr>
        <p:spPr>
          <a:xfrm>
            <a:off x="6556248" y="5166360"/>
            <a:ext cx="4809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F242E"/>
                </a:solidFill>
              </a:rPr>
              <a:t>Blue lines connect VAFB to selected feature points. The VAFB rows show the calculated distances. The upper-right coordinates show the cursor position.</a:t>
            </a:r>
            <a:endParaRPr>
              <a:solidFill>
                <a:srgbClr val="1F242E"/>
              </a:solidFill>
            </a:endParaRPr>
          </a:p>
        </p:txBody>
      </p:sp>
      <p:sp>
        <p:nvSpPr>
          <p:cNvPr id="1107" name="Google Shape;1107;p55"/>
          <p:cNvSpPr txBox="1"/>
          <p:nvPr/>
        </p:nvSpPr>
        <p:spPr>
          <a:xfrm>
            <a:off x="1261872" y="6382512"/>
            <a:ext cx="10058400" cy="26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u="sng">
                <a:solidFill>
                  <a:srgbClr val="0D4DCC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https://github.com/treinart/IBM-Data-Science-Professional-Certificate/blob/main/10_Applied%20Data%20Science%20Capstone/Module%203/lab-jupyter-launch-site-location-v2.ipynb</a:t>
            </a:r>
            <a:endParaRPr sz="900" u="sng">
              <a:solidFill>
                <a:srgbClr val="0D4DCC"/>
              </a:solidFill>
            </a:endParaRPr>
          </a:p>
        </p:txBody>
      </p:sp>
      <p:pic>
        <p:nvPicPr>
          <p:cNvPr id="1108" name="Google Shape;1108;p5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56248" y="1362915"/>
            <a:ext cx="4809745" cy="3546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9" name="Google Shape;1109;p5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60120" y="6432804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0" name="Google Shape;1110;p55"/>
          <p:cNvSpPr/>
          <p:nvPr/>
        </p:nvSpPr>
        <p:spPr>
          <a:xfrm>
            <a:off x="6556248" y="4123944"/>
            <a:ext cx="4809600" cy="786300"/>
          </a:xfrm>
          <a:prstGeom prst="rect">
            <a:avLst/>
          </a:prstGeom>
          <a:noFill/>
          <a:ln cap="flat" cmpd="sng" w="25400">
            <a:solidFill>
              <a:srgbClr val="D64F0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14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56"/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Section 4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19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57"/>
          <p:cNvSpPr txBox="1"/>
          <p:nvPr/>
        </p:nvSpPr>
        <p:spPr>
          <a:xfrm>
            <a:off x="762000" y="381000"/>
            <a:ext cx="106680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SpaceX Launch Analytics • Dashboard Insights</a:t>
            </a:r>
            <a:endParaRPr b="1" i="0" sz="900" u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2800" u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Successful Landings by Launch Site</a:t>
            </a:r>
            <a:endParaRPr b="1" i="0" sz="900" u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121" name="Google Shape;1121;p57"/>
          <p:cNvGrpSpPr/>
          <p:nvPr/>
        </p:nvGrpSpPr>
        <p:grpSpPr>
          <a:xfrm>
            <a:off x="762000" y="1190625"/>
            <a:ext cx="7143900" cy="4333800"/>
            <a:chOff x="762000" y="1190625"/>
            <a:chExt cx="7143900" cy="4333800"/>
          </a:xfrm>
        </p:grpSpPr>
        <p:sp>
          <p:nvSpPr>
            <p:cNvPr id="1122" name="Google Shape;1122;p57"/>
            <p:cNvSpPr/>
            <p:nvPr/>
          </p:nvSpPr>
          <p:spPr>
            <a:xfrm>
              <a:off x="762000" y="1190625"/>
              <a:ext cx="7143900" cy="4333800"/>
            </a:xfrm>
            <a:prstGeom prst="roundRect">
              <a:avLst>
                <a:gd fmla="val 263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123" name="Google Shape;1123;p5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562144" y="1333500"/>
              <a:ext cx="5543700" cy="3190800"/>
            </a:xfrm>
            <a:prstGeom prst="roundRect">
              <a:avLst>
                <a:gd fmla="val 1790" name="adj"/>
              </a:avLst>
            </a:prstGeom>
            <a:noFill/>
            <a:ln>
              <a:noFill/>
            </a:ln>
          </p:spPr>
        </p:pic>
        <p:sp>
          <p:nvSpPr>
            <p:cNvPr id="1124" name="Google Shape;1124;p57"/>
            <p:cNvSpPr/>
            <p:nvPr/>
          </p:nvSpPr>
          <p:spPr>
            <a:xfrm>
              <a:off x="914400" y="4714875"/>
              <a:ext cx="6839100" cy="647700"/>
            </a:xfrm>
            <a:prstGeom prst="roundRect">
              <a:avLst>
                <a:gd fmla="val 11764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" name="Google Shape;1125;p57"/>
            <p:cNvSpPr txBox="1"/>
            <p:nvPr/>
          </p:nvSpPr>
          <p:spPr>
            <a:xfrm>
              <a:off x="1066800" y="4781550"/>
              <a:ext cx="6534300" cy="5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 u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Key Takeaway: </a:t>
              </a:r>
              <a:r>
                <a:rPr b="0" i="0" lang="en-US" sz="1100" u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Pie slices show landing success share across sites, not individual site launch success rates.</a:t>
              </a:r>
              <a:endParaRPr b="1" i="0" sz="1100" u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26" name="Google Shape;1126;p57"/>
          <p:cNvGrpSpPr/>
          <p:nvPr/>
        </p:nvGrpSpPr>
        <p:grpSpPr>
          <a:xfrm>
            <a:off x="8096250" y="1190625"/>
            <a:ext cx="3333900" cy="4333800"/>
            <a:chOff x="8096250" y="1190625"/>
            <a:chExt cx="3333900" cy="4333800"/>
          </a:xfrm>
        </p:grpSpPr>
        <p:sp>
          <p:nvSpPr>
            <p:cNvPr id="1127" name="Google Shape;1127;p57"/>
            <p:cNvSpPr/>
            <p:nvPr/>
          </p:nvSpPr>
          <p:spPr>
            <a:xfrm>
              <a:off x="8096250" y="1190625"/>
              <a:ext cx="3333900" cy="4333800"/>
            </a:xfrm>
            <a:prstGeom prst="roundRect">
              <a:avLst>
                <a:gd fmla="val 3428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" name="Google Shape;1128;p57"/>
            <p:cNvSpPr/>
            <p:nvPr/>
          </p:nvSpPr>
          <p:spPr>
            <a:xfrm>
              <a:off x="8324850" y="1428750"/>
              <a:ext cx="1190700" cy="228600"/>
            </a:xfrm>
            <a:prstGeom prst="roundRect">
              <a:avLst>
                <a:gd fmla="val 50000" name="adj"/>
              </a:avLst>
            </a:pr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" name="Google Shape;1129;p57"/>
            <p:cNvSpPr txBox="1"/>
            <p:nvPr/>
          </p:nvSpPr>
          <p:spPr>
            <a:xfrm>
              <a:off x="8420100" y="1457325"/>
              <a:ext cx="10002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850" u="none" strike="noStrike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ALL-SITE VIEW</a:t>
              </a:r>
              <a:endParaRPr b="1" i="0" sz="850" u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0" name="Google Shape;1130;p57"/>
            <p:cNvSpPr txBox="1"/>
            <p:nvPr/>
          </p:nvSpPr>
          <p:spPr>
            <a:xfrm>
              <a:off x="8324850" y="1771650"/>
              <a:ext cx="28767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65" u="none" strike="noStrike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Total Success Distribution</a:t>
              </a:r>
              <a:endParaRPr b="1" i="0" sz="1665" u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i="0" lang="en-US" sz="971" u="none" strike="noStrike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Across four active launch sites</a:t>
              </a:r>
              <a:endParaRPr b="1" i="0" sz="1665" u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31" name="Google Shape;1131;p57"/>
            <p:cNvCxnSpPr/>
            <p:nvPr/>
          </p:nvCxnSpPr>
          <p:spPr>
            <a:xfrm>
              <a:off x="8324850" y="2362200"/>
              <a:ext cx="28767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1E293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32" name="Google Shape;1132;p57"/>
            <p:cNvSpPr txBox="1"/>
            <p:nvPr/>
          </p:nvSpPr>
          <p:spPr>
            <a:xfrm>
              <a:off x="8324850" y="2495550"/>
              <a:ext cx="28767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800" u="none" strike="noStrike">
                  <a:solidFill>
                    <a:srgbClr val="22C55E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41.7%</a:t>
              </a:r>
              <a:endParaRPr b="0" i="0" sz="3800" u="none" strike="noStrike">
                <a:solidFill>
                  <a:srgbClr val="22C55E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i="0" lang="en-US" sz="1200" u="none" strike="noStrike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KSC LC-39A Share</a:t>
              </a:r>
              <a:endParaRPr b="0" i="0" sz="1200" u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i="0" lang="en-US" sz="1000" u="none" strike="noStrike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Contributed 10 of 24 successful landings</a:t>
              </a:r>
              <a:endParaRPr b="0" i="0" sz="3800" u="none" strike="noStrike">
                <a:solidFill>
                  <a:srgbClr val="22C55E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cxnSp>
          <p:nvCxnSpPr>
            <p:cNvPr id="1133" name="Google Shape;1133;p57"/>
            <p:cNvCxnSpPr/>
            <p:nvPr/>
          </p:nvCxnSpPr>
          <p:spPr>
            <a:xfrm>
              <a:off x="8324850" y="3562350"/>
              <a:ext cx="28767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1E293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34" name="Google Shape;1134;p57"/>
            <p:cNvSpPr/>
            <p:nvPr/>
          </p:nvSpPr>
          <p:spPr>
            <a:xfrm>
              <a:off x="8324850" y="3714750"/>
              <a:ext cx="2876700" cy="1571700"/>
            </a:xfrm>
            <a:prstGeom prst="roundRect">
              <a:avLst>
                <a:gd fmla="val 6060" name="adj"/>
              </a:avLst>
            </a:pr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" name="Google Shape;1135;p57"/>
            <p:cNvSpPr txBox="1"/>
            <p:nvPr/>
          </p:nvSpPr>
          <p:spPr>
            <a:xfrm>
              <a:off x="8496300" y="3848100"/>
              <a:ext cx="2533800" cy="13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850" u="none" strike="noStrike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TOTAL SUCCESSES</a:t>
              </a:r>
              <a:endParaRPr b="1" i="0" sz="850" u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i="0" lang="en-US" sz="2000" u="none" strike="noStrike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24 Landings</a:t>
              </a:r>
              <a:endParaRPr b="1" i="0" sz="2000" u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i="0" lang="en-US" sz="1100" u="none" strike="noStrike">
                  <a:solidFill>
                    <a:srgbClr val="CBD5E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Across all 4 sites</a:t>
              </a:r>
              <a:endParaRPr b="0" i="0" sz="1100" u="none" strike="noStrike">
                <a:solidFill>
                  <a:srgbClr val="CBD5E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i="0" lang="en-US" sz="950" u="none" strike="noStrike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KSC LC-39A (10), VAFB SLC-4E (4), CCAFS LC-40 (7), CCAFS SLC-40 (3).</a:t>
              </a:r>
              <a:endParaRPr b="1" i="0" sz="850" u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36" name="Google Shape;1136;p57"/>
          <p:cNvGrpSpPr/>
          <p:nvPr/>
        </p:nvGrpSpPr>
        <p:grpSpPr>
          <a:xfrm>
            <a:off x="762000" y="5734050"/>
            <a:ext cx="10668150" cy="609750"/>
            <a:chOff x="762000" y="5734050"/>
            <a:chExt cx="10668150" cy="609750"/>
          </a:xfrm>
        </p:grpSpPr>
        <p:cxnSp>
          <p:nvCxnSpPr>
            <p:cNvPr id="1137" name="Google Shape;1137;p57"/>
            <p:cNvCxnSpPr/>
            <p:nvPr/>
          </p:nvCxnSpPr>
          <p:spPr>
            <a:xfrm>
              <a:off x="762000" y="5734050"/>
              <a:ext cx="106680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38" name="Google Shape;1138;p57"/>
            <p:cNvSpPr txBox="1"/>
            <p:nvPr/>
          </p:nvSpPr>
          <p:spPr>
            <a:xfrm>
              <a:off x="762000" y="5867400"/>
              <a:ext cx="5715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u="sng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  <a:hlinkClick r:id="rId5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Live app: https://spacex-launch-analytics.netlify.app/</a:t>
              </a:r>
              <a:endParaRPr sz="950">
                <a:latin typeface="Inter"/>
                <a:ea typeface="Inter"/>
                <a:cs typeface="Inter"/>
                <a:sym typeface="Inter"/>
              </a:endParaRPr>
            </a:p>
          </p:txBody>
        </p:sp>
        <p:pic>
          <p:nvPicPr>
            <p:cNvPr id="1139" name="Google Shape;1139;p5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62000" y="6153150"/>
              <a:ext cx="171600" cy="171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40" name="Google Shape;1140;p57"/>
            <p:cNvSpPr txBox="1"/>
            <p:nvPr/>
          </p:nvSpPr>
          <p:spPr>
            <a:xfrm>
              <a:off x="1009650" y="6134100"/>
              <a:ext cx="104205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u="sng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  <a:hlinkClick r:id="rId7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https://github.com/treinart/IBM-Data-Science-Professional-Certificate/blob/main/10_Applied%20Data%20Science%20Capstone/Module%203/spacex-dash-app.py</a:t>
              </a:r>
              <a:endParaRPr sz="850"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44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58"/>
          <p:cNvSpPr txBox="1"/>
          <p:nvPr/>
        </p:nvSpPr>
        <p:spPr>
          <a:xfrm>
            <a:off x="762000" y="381000"/>
            <a:ext cx="106680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SpaceX Launch Analytics • Dashboard Insights</a:t>
            </a:r>
            <a:endParaRPr b="1" i="0" sz="900" u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2800" u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KSC LC-39A: 76.9% Success Rate</a:t>
            </a:r>
            <a:endParaRPr b="1" i="0" sz="900" u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146" name="Google Shape;1146;p58"/>
          <p:cNvGrpSpPr/>
          <p:nvPr/>
        </p:nvGrpSpPr>
        <p:grpSpPr>
          <a:xfrm>
            <a:off x="762000" y="1190625"/>
            <a:ext cx="7143900" cy="4333800"/>
            <a:chOff x="762000" y="1190625"/>
            <a:chExt cx="7143900" cy="4333800"/>
          </a:xfrm>
        </p:grpSpPr>
        <p:sp>
          <p:nvSpPr>
            <p:cNvPr id="1147" name="Google Shape;1147;p58"/>
            <p:cNvSpPr/>
            <p:nvPr/>
          </p:nvSpPr>
          <p:spPr>
            <a:xfrm>
              <a:off x="762000" y="1190625"/>
              <a:ext cx="7143900" cy="4333800"/>
            </a:xfrm>
            <a:prstGeom prst="roundRect">
              <a:avLst>
                <a:gd fmla="val 263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148" name="Google Shape;1148;p5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422414" y="1333500"/>
              <a:ext cx="5823000" cy="3190800"/>
            </a:xfrm>
            <a:prstGeom prst="roundRect">
              <a:avLst>
                <a:gd fmla="val 1790" name="adj"/>
              </a:avLst>
            </a:prstGeom>
            <a:noFill/>
            <a:ln>
              <a:noFill/>
            </a:ln>
          </p:spPr>
        </p:pic>
        <p:sp>
          <p:nvSpPr>
            <p:cNvPr id="1149" name="Google Shape;1149;p58"/>
            <p:cNvSpPr/>
            <p:nvPr/>
          </p:nvSpPr>
          <p:spPr>
            <a:xfrm>
              <a:off x="914400" y="4714875"/>
              <a:ext cx="6839100" cy="647700"/>
            </a:xfrm>
            <a:prstGeom prst="roundRect">
              <a:avLst>
                <a:gd fmla="val 11764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" name="Google Shape;1150;p58"/>
            <p:cNvSpPr txBox="1"/>
            <p:nvPr/>
          </p:nvSpPr>
          <p:spPr>
            <a:xfrm>
              <a:off x="1066800" y="4781550"/>
              <a:ext cx="6534300" cy="5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100" u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Interactive Feature: </a:t>
              </a:r>
              <a:r>
                <a:rPr b="0" i="0" lang="en-US" sz="1100" u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Selecting KSC LC-39A in the dropdown changes the pie chart from all-site share to KSC's specific launch outcomes.</a:t>
              </a:r>
              <a:endParaRPr b="1" i="0" sz="1100" u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51" name="Google Shape;1151;p58"/>
          <p:cNvGrpSpPr/>
          <p:nvPr/>
        </p:nvGrpSpPr>
        <p:grpSpPr>
          <a:xfrm>
            <a:off x="8096250" y="1190625"/>
            <a:ext cx="3333900" cy="4333800"/>
            <a:chOff x="8096250" y="1190625"/>
            <a:chExt cx="3333900" cy="4333800"/>
          </a:xfrm>
        </p:grpSpPr>
        <p:sp>
          <p:nvSpPr>
            <p:cNvPr id="1152" name="Google Shape;1152;p58"/>
            <p:cNvSpPr/>
            <p:nvPr/>
          </p:nvSpPr>
          <p:spPr>
            <a:xfrm>
              <a:off x="8096250" y="1190625"/>
              <a:ext cx="3333900" cy="4333800"/>
            </a:xfrm>
            <a:prstGeom prst="roundRect">
              <a:avLst>
                <a:gd fmla="val 3428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" name="Google Shape;1153;p58"/>
            <p:cNvSpPr/>
            <p:nvPr/>
          </p:nvSpPr>
          <p:spPr>
            <a:xfrm>
              <a:off x="8324850" y="1428750"/>
              <a:ext cx="1190700" cy="228600"/>
            </a:xfrm>
            <a:prstGeom prst="roundRect">
              <a:avLst>
                <a:gd fmla="val 50000" name="adj"/>
              </a:avLst>
            </a:pr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" name="Google Shape;1154;p58"/>
            <p:cNvSpPr txBox="1"/>
            <p:nvPr/>
          </p:nvSpPr>
          <p:spPr>
            <a:xfrm>
              <a:off x="8420100" y="1457325"/>
              <a:ext cx="10002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850" u="none" strike="noStrike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KSC LC-39A</a:t>
              </a:r>
              <a:endParaRPr b="1" i="0" sz="850" u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5" name="Google Shape;1155;p58"/>
            <p:cNvSpPr txBox="1"/>
            <p:nvPr/>
          </p:nvSpPr>
          <p:spPr>
            <a:xfrm>
              <a:off x="8324850" y="1771650"/>
              <a:ext cx="28767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strike="noStrike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Site Success Breakdown</a:t>
              </a:r>
              <a:endParaRPr b="1" i="0" sz="1800" u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i="0" lang="en-US" sz="1050" u="none" strike="noStrike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Highest success rate in this dataset</a:t>
              </a:r>
              <a:endParaRPr b="1" i="0" sz="1800" u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56" name="Google Shape;1156;p58"/>
            <p:cNvCxnSpPr/>
            <p:nvPr/>
          </p:nvCxnSpPr>
          <p:spPr>
            <a:xfrm>
              <a:off x="8324850" y="2362200"/>
              <a:ext cx="28767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1E293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57" name="Google Shape;1157;p58"/>
            <p:cNvSpPr txBox="1"/>
            <p:nvPr/>
          </p:nvSpPr>
          <p:spPr>
            <a:xfrm>
              <a:off x="8324850" y="2495550"/>
              <a:ext cx="28767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800" u="none" strike="noStrike">
                  <a:solidFill>
                    <a:srgbClr val="22C55E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76.9%</a:t>
              </a:r>
              <a:endParaRPr b="0" i="0" sz="3800" u="none" strike="noStrike">
                <a:solidFill>
                  <a:srgbClr val="22C55E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i="0" lang="en-US" sz="1200" u="none" strike="noStrike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10 / 13 Successful Landings</a:t>
              </a:r>
              <a:endParaRPr b="0" i="0" sz="1200" u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i="0" lang="en-US" sz="1000" u="none" strike="noStrike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Only 3 landing failures out of 13 total attempts</a:t>
              </a:r>
              <a:endParaRPr b="0" i="0" sz="3800" u="none" strike="noStrike">
                <a:solidFill>
                  <a:srgbClr val="22C55E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cxnSp>
          <p:nvCxnSpPr>
            <p:cNvPr id="1158" name="Google Shape;1158;p58"/>
            <p:cNvCxnSpPr/>
            <p:nvPr/>
          </p:nvCxnSpPr>
          <p:spPr>
            <a:xfrm>
              <a:off x="8324850" y="3562350"/>
              <a:ext cx="28767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1E293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59" name="Google Shape;1159;p58"/>
            <p:cNvSpPr/>
            <p:nvPr/>
          </p:nvSpPr>
          <p:spPr>
            <a:xfrm>
              <a:off x="8324850" y="3714750"/>
              <a:ext cx="2876700" cy="1571700"/>
            </a:xfrm>
            <a:prstGeom prst="roundRect">
              <a:avLst>
                <a:gd fmla="val 6060" name="adj"/>
              </a:avLst>
            </a:pr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" name="Google Shape;1160;p58"/>
            <p:cNvSpPr txBox="1"/>
            <p:nvPr/>
          </p:nvSpPr>
          <p:spPr>
            <a:xfrm>
              <a:off x="8496300" y="3848100"/>
              <a:ext cx="2533800" cy="13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850" u="none" strike="noStrike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OUTCOME SUMMARY</a:t>
              </a:r>
              <a:endParaRPr b="1" i="0" sz="850" u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i="0" lang="en-US" sz="2000" u="none" strike="noStrike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3 Failures</a:t>
              </a:r>
              <a:endParaRPr b="1" i="0" sz="2000" u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i="0" lang="en-US" sz="1100" u="none" strike="noStrike">
                  <a:solidFill>
                    <a:srgbClr val="CBD5E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23.1% failure rate</a:t>
              </a:r>
              <a:endParaRPr b="0" i="0" sz="1100" u="none" strike="noStrike">
                <a:solidFill>
                  <a:srgbClr val="CBD5E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i="0" lang="en-US" sz="950" u="none" strike="noStrike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KSC LC-39A demonstrates the highest reliability among all four SpaceX launch facilities.</a:t>
              </a:r>
              <a:endParaRPr b="1" i="0" sz="850" u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61" name="Google Shape;1161;p58"/>
          <p:cNvGrpSpPr/>
          <p:nvPr/>
        </p:nvGrpSpPr>
        <p:grpSpPr>
          <a:xfrm>
            <a:off x="762000" y="5734050"/>
            <a:ext cx="10668150" cy="609750"/>
            <a:chOff x="762000" y="5734050"/>
            <a:chExt cx="10668150" cy="609750"/>
          </a:xfrm>
        </p:grpSpPr>
        <p:cxnSp>
          <p:nvCxnSpPr>
            <p:cNvPr id="1162" name="Google Shape;1162;p58"/>
            <p:cNvCxnSpPr/>
            <p:nvPr/>
          </p:nvCxnSpPr>
          <p:spPr>
            <a:xfrm>
              <a:off x="762000" y="5734050"/>
              <a:ext cx="106680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63" name="Google Shape;1163;p58"/>
            <p:cNvSpPr txBox="1"/>
            <p:nvPr/>
          </p:nvSpPr>
          <p:spPr>
            <a:xfrm>
              <a:off x="762000" y="5867400"/>
              <a:ext cx="5715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u="sng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  <a:hlinkClick r:id="rId5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Live app: https://spacex-launch-analytics.netlify.app/</a:t>
              </a:r>
              <a:endParaRPr sz="950">
                <a:latin typeface="Inter"/>
                <a:ea typeface="Inter"/>
                <a:cs typeface="Inter"/>
                <a:sym typeface="Inter"/>
              </a:endParaRPr>
            </a:p>
          </p:txBody>
        </p:sp>
        <p:pic>
          <p:nvPicPr>
            <p:cNvPr id="1164" name="Google Shape;1164;p5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62000" y="6153150"/>
              <a:ext cx="171600" cy="171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65" name="Google Shape;1165;p58"/>
            <p:cNvSpPr txBox="1"/>
            <p:nvPr/>
          </p:nvSpPr>
          <p:spPr>
            <a:xfrm>
              <a:off x="1009650" y="6134100"/>
              <a:ext cx="104205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u="sng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  <a:hlinkClick r:id="rId7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https://github.com/treinart/IBM-Data-Science-Professional-Certificate/blob/main/10_Applied%20Data%20Science%20Capstone/Module%203/spacex-dash-app.py</a:t>
              </a:r>
              <a:endParaRPr sz="850"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69" name="Shape 1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Google Shape;1170;p59"/>
          <p:cNvSpPr txBox="1"/>
          <p:nvPr/>
        </p:nvSpPr>
        <p:spPr>
          <a:xfrm>
            <a:off x="762000" y="381000"/>
            <a:ext cx="106680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SpaceX Launch Analytics • Dashboard Insights</a:t>
            </a:r>
            <a:endParaRPr b="1" sz="9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Payload Mass vs. Landing Outcome</a:t>
            </a:r>
            <a:endParaRPr b="1" sz="280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171" name="Google Shape;1171;p59"/>
          <p:cNvGrpSpPr/>
          <p:nvPr/>
        </p:nvGrpSpPr>
        <p:grpSpPr>
          <a:xfrm>
            <a:off x="762000" y="1190625"/>
            <a:ext cx="7143900" cy="4333800"/>
            <a:chOff x="762000" y="1190625"/>
            <a:chExt cx="7143900" cy="4333800"/>
          </a:xfrm>
        </p:grpSpPr>
        <p:sp>
          <p:nvSpPr>
            <p:cNvPr id="1172" name="Google Shape;1172;p59"/>
            <p:cNvSpPr/>
            <p:nvPr/>
          </p:nvSpPr>
          <p:spPr>
            <a:xfrm>
              <a:off x="762000" y="1190625"/>
              <a:ext cx="7143900" cy="4333800"/>
            </a:xfrm>
            <a:prstGeom prst="roundRect">
              <a:avLst>
                <a:gd fmla="val 263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173" name="Google Shape;1173;p59"/>
            <p:cNvPicPr preferRelativeResize="0"/>
            <p:nvPr/>
          </p:nvPicPr>
          <p:blipFill rotWithShape="1">
            <a:blip r:embed="rId4">
              <a:alphaModFix/>
            </a:blip>
            <a:srcRect b="1324" l="0" r="0" t="1324"/>
            <a:stretch/>
          </p:blipFill>
          <p:spPr>
            <a:xfrm>
              <a:off x="914400" y="1333500"/>
              <a:ext cx="6839100" cy="3190800"/>
            </a:xfrm>
            <a:prstGeom prst="roundRect">
              <a:avLst>
                <a:gd fmla="val 1791" name="adj"/>
              </a:avLst>
            </a:prstGeom>
            <a:noFill/>
            <a:ln>
              <a:noFill/>
            </a:ln>
          </p:spPr>
        </p:pic>
        <p:sp>
          <p:nvSpPr>
            <p:cNvPr id="1174" name="Google Shape;1174;p59"/>
            <p:cNvSpPr/>
            <p:nvPr/>
          </p:nvSpPr>
          <p:spPr>
            <a:xfrm>
              <a:off x="914400" y="4714875"/>
              <a:ext cx="6839100" cy="647700"/>
            </a:xfrm>
            <a:prstGeom prst="roundRect">
              <a:avLst>
                <a:gd fmla="val 11764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" name="Google Shape;1175;p59"/>
            <p:cNvSpPr txBox="1"/>
            <p:nvPr/>
          </p:nvSpPr>
          <p:spPr>
            <a:xfrm>
              <a:off x="1066800" y="4781550"/>
              <a:ext cx="6534300" cy="5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Key Observation:</a:t>
              </a:r>
              <a:r>
                <a:rPr lang="en-US" sz="11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Each dot represents one launch. Color marks booster category; the hover state details specific failures (e.g., 5,600 kg KSC FT failure).</a:t>
              </a:r>
              <a:endParaRPr sz="11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76" name="Google Shape;1176;p59"/>
          <p:cNvGrpSpPr/>
          <p:nvPr/>
        </p:nvGrpSpPr>
        <p:grpSpPr>
          <a:xfrm>
            <a:off x="8096250" y="1190625"/>
            <a:ext cx="3333900" cy="4333800"/>
            <a:chOff x="8096250" y="1190625"/>
            <a:chExt cx="3333900" cy="4333800"/>
          </a:xfrm>
        </p:grpSpPr>
        <p:sp>
          <p:nvSpPr>
            <p:cNvPr id="1177" name="Google Shape;1177;p59"/>
            <p:cNvSpPr/>
            <p:nvPr/>
          </p:nvSpPr>
          <p:spPr>
            <a:xfrm>
              <a:off x="8096250" y="1190625"/>
              <a:ext cx="3333900" cy="4333800"/>
            </a:xfrm>
            <a:prstGeom prst="roundRect">
              <a:avLst>
                <a:gd fmla="val 3428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" name="Google Shape;1178;p59"/>
            <p:cNvSpPr/>
            <p:nvPr/>
          </p:nvSpPr>
          <p:spPr>
            <a:xfrm>
              <a:off x="8324850" y="1428750"/>
              <a:ext cx="1190700" cy="228600"/>
            </a:xfrm>
            <a:prstGeom prst="roundRect">
              <a:avLst>
                <a:gd fmla="val 50000" name="adj"/>
              </a:avLst>
            </a:pr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" name="Google Shape;1179;p59"/>
            <p:cNvSpPr txBox="1"/>
            <p:nvPr/>
          </p:nvSpPr>
          <p:spPr>
            <a:xfrm>
              <a:off x="8420100" y="1457325"/>
              <a:ext cx="10002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PAYLOAD FILTER</a:t>
              </a:r>
              <a:endParaRPr b="1" sz="85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80" name="Google Shape;1180;p59"/>
            <p:cNvSpPr txBox="1"/>
            <p:nvPr/>
          </p:nvSpPr>
          <p:spPr>
            <a:xfrm>
              <a:off x="8324850" y="1771650"/>
              <a:ext cx="28767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2,000 – 6,000 kg</a:t>
              </a:r>
              <a:endParaRPr b="1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Applied across all launch sites</a:t>
              </a:r>
              <a:endParaRPr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81" name="Google Shape;1181;p59"/>
            <p:cNvCxnSpPr/>
            <p:nvPr/>
          </p:nvCxnSpPr>
          <p:spPr>
            <a:xfrm>
              <a:off x="8324850" y="2362200"/>
              <a:ext cx="28767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1E293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82" name="Google Shape;1182;p59"/>
            <p:cNvSpPr txBox="1"/>
            <p:nvPr/>
          </p:nvSpPr>
          <p:spPr>
            <a:xfrm>
              <a:off x="8324850" y="2495550"/>
              <a:ext cx="28767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22C55E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18 / 34</a:t>
              </a:r>
              <a:endParaRPr b="0" sz="3800">
                <a:solidFill>
                  <a:srgbClr val="22C55E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Landings Succeeded</a:t>
              </a:r>
              <a:endParaRPr b="0" sz="120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52.9% success rate in this range</a:t>
              </a:r>
              <a:endParaRPr sz="10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83" name="Google Shape;1183;p59"/>
            <p:cNvCxnSpPr/>
            <p:nvPr/>
          </p:nvCxnSpPr>
          <p:spPr>
            <a:xfrm>
              <a:off x="8324850" y="3562350"/>
              <a:ext cx="28767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1E293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84" name="Google Shape;1184;p59"/>
            <p:cNvSpPr/>
            <p:nvPr/>
          </p:nvSpPr>
          <p:spPr>
            <a:xfrm>
              <a:off x="8324850" y="3714750"/>
              <a:ext cx="2876700" cy="1571700"/>
            </a:xfrm>
            <a:prstGeom prst="roundRect">
              <a:avLst>
                <a:gd fmla="val 6060" name="adj"/>
              </a:avLst>
            </a:pr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" name="Google Shape;1185;p59"/>
            <p:cNvSpPr txBox="1"/>
            <p:nvPr/>
          </p:nvSpPr>
          <p:spPr>
            <a:xfrm>
              <a:off x="8496300" y="3848100"/>
              <a:ext cx="2533800" cy="13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FT BOOSTER HIGHLIGHT</a:t>
              </a:r>
              <a:endParaRPr b="1" sz="85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13 of 18</a:t>
              </a:r>
              <a:endParaRPr b="1" sz="2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CBD5E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Successes in FT category</a:t>
              </a:r>
              <a:endParaRPr b="0" sz="1100">
                <a:solidFill>
                  <a:srgbClr val="CBD5E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9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FT boosters achieve a 72.2% success rate in this specific payload bracket.</a:t>
              </a:r>
              <a:endParaRPr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86" name="Google Shape;1186;p59"/>
          <p:cNvGrpSpPr/>
          <p:nvPr/>
        </p:nvGrpSpPr>
        <p:grpSpPr>
          <a:xfrm>
            <a:off x="762000" y="5734050"/>
            <a:ext cx="10668150" cy="609750"/>
            <a:chOff x="762000" y="5734050"/>
            <a:chExt cx="10668150" cy="609750"/>
          </a:xfrm>
        </p:grpSpPr>
        <p:cxnSp>
          <p:nvCxnSpPr>
            <p:cNvPr id="1187" name="Google Shape;1187;p59"/>
            <p:cNvCxnSpPr/>
            <p:nvPr/>
          </p:nvCxnSpPr>
          <p:spPr>
            <a:xfrm>
              <a:off x="762000" y="5734050"/>
              <a:ext cx="106680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88" name="Google Shape;1188;p59"/>
            <p:cNvSpPr txBox="1"/>
            <p:nvPr/>
          </p:nvSpPr>
          <p:spPr>
            <a:xfrm>
              <a:off x="762000" y="5867400"/>
              <a:ext cx="5715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u="sng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  <a:hlinkClick r:id="rId5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Live app: https://spacex-launch-analytics.netlify.app/</a:t>
              </a:r>
              <a:endParaRPr sz="950">
                <a:latin typeface="Inter"/>
                <a:ea typeface="Inter"/>
                <a:cs typeface="Inter"/>
                <a:sym typeface="Inter"/>
              </a:endParaRPr>
            </a:p>
          </p:txBody>
        </p:sp>
        <p:pic>
          <p:nvPicPr>
            <p:cNvPr id="1189" name="Google Shape;1189;p59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762000" y="6153150"/>
              <a:ext cx="171600" cy="171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90" name="Google Shape;1190;p59"/>
            <p:cNvSpPr txBox="1"/>
            <p:nvPr/>
          </p:nvSpPr>
          <p:spPr>
            <a:xfrm>
              <a:off x="1009650" y="6134100"/>
              <a:ext cx="104205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u="sng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  <a:hlinkClick r:id="rId7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https://github.com/treinart/IBM-Data-Science-Professional-Certificate/blob/main/10_Applied%20Data%20Science%20Capstone/Module%203/spacex-dash-app.py</a:t>
              </a:r>
              <a:endParaRPr sz="850"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94" name="Shape 1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Google Shape;1195;p60"/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Section 5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99" name="Shape 1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Google Shape;1200;p61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01" name="Google Shape;1201;p61"/>
          <p:cNvSpPr txBox="1"/>
          <p:nvPr/>
        </p:nvSpPr>
        <p:spPr>
          <a:xfrm>
            <a:off x="770011" y="538650"/>
            <a:ext cx="10515600" cy="5490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700"/>
              <a:buFont typeface="Arial"/>
              <a:buNone/>
            </a:pPr>
            <a:r>
              <a:rPr b="1" lang="en-US" sz="3600">
                <a:solidFill>
                  <a:schemeClr val="dk1"/>
                </a:solidFill>
              </a:rPr>
              <a:t>Classification Accuracy</a:t>
            </a:r>
            <a:endParaRPr b="1" sz="3600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1202" name="Google Shape;1202;p61"/>
          <p:cNvSpPr/>
          <p:nvPr/>
        </p:nvSpPr>
        <p:spPr>
          <a:xfrm>
            <a:off x="8979408" y="1435608"/>
            <a:ext cx="2304300" cy="4334400"/>
          </a:xfrm>
          <a:prstGeom prst="rect">
            <a:avLst/>
          </a:prstGeom>
          <a:solidFill>
            <a:srgbClr val="0B1B3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3" name="Google Shape;1203;p61"/>
          <p:cNvSpPr/>
          <p:nvPr/>
        </p:nvSpPr>
        <p:spPr>
          <a:xfrm>
            <a:off x="8979408" y="1435608"/>
            <a:ext cx="2304300" cy="63900"/>
          </a:xfrm>
          <a:prstGeom prst="rect">
            <a:avLst/>
          </a:prstGeom>
          <a:solidFill>
            <a:srgbClr val="0B49C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04" name="Google Shape;1204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8096" y="1448388"/>
            <a:ext cx="8000998" cy="4312353"/>
          </a:xfrm>
          <a:prstGeom prst="rect">
            <a:avLst/>
          </a:prstGeom>
          <a:noFill/>
          <a:ln>
            <a:noFill/>
          </a:ln>
        </p:spPr>
      </p:pic>
      <p:sp>
        <p:nvSpPr>
          <p:cNvPr id="1205" name="Google Shape;1205;p61"/>
          <p:cNvSpPr txBox="1"/>
          <p:nvPr/>
        </p:nvSpPr>
        <p:spPr>
          <a:xfrm>
            <a:off x="9208008" y="1682496"/>
            <a:ext cx="189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82CCF0"/>
                </a:solidFill>
              </a:rPr>
              <a:t>TEST SET</a:t>
            </a:r>
            <a:endParaRPr b="1" sz="1100">
              <a:solidFill>
                <a:srgbClr val="82CCF0"/>
              </a:solidFill>
            </a:endParaRPr>
          </a:p>
        </p:txBody>
      </p:sp>
      <p:sp>
        <p:nvSpPr>
          <p:cNvPr id="1206" name="Google Shape;1206;p61"/>
          <p:cNvSpPr txBox="1"/>
          <p:nvPr/>
        </p:nvSpPr>
        <p:spPr>
          <a:xfrm>
            <a:off x="9208008" y="2112264"/>
            <a:ext cx="1902000" cy="5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FFFFFF"/>
                </a:solidFill>
              </a:rPr>
              <a:t>83.3%</a:t>
            </a:r>
            <a:endParaRPr b="1" sz="2900">
              <a:solidFill>
                <a:srgbClr val="FFFFFF"/>
              </a:solidFill>
            </a:endParaRPr>
          </a:p>
        </p:txBody>
      </p:sp>
      <p:sp>
        <p:nvSpPr>
          <p:cNvPr id="1207" name="Google Shape;1207;p61"/>
          <p:cNvSpPr txBox="1"/>
          <p:nvPr/>
        </p:nvSpPr>
        <p:spPr>
          <a:xfrm>
            <a:off x="9208008" y="2788920"/>
            <a:ext cx="1920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Three models tie across 18 launches.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208" name="Google Shape;1208;p61"/>
          <p:cNvSpPr/>
          <p:nvPr/>
        </p:nvSpPr>
        <p:spPr>
          <a:xfrm>
            <a:off x="9208008" y="3657600"/>
            <a:ext cx="1819800" cy="16500"/>
          </a:xfrm>
          <a:prstGeom prst="rect">
            <a:avLst/>
          </a:prstGeom>
          <a:solidFill>
            <a:srgbClr val="82CC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9" name="Google Shape;1209;p61"/>
          <p:cNvSpPr txBox="1"/>
          <p:nvPr/>
        </p:nvSpPr>
        <p:spPr>
          <a:xfrm>
            <a:off x="9208008" y="3831336"/>
            <a:ext cx="18927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rgbClr val="FFFFFF"/>
                </a:solidFill>
              </a:rPr>
              <a:t>72.2%</a:t>
            </a:r>
            <a:endParaRPr b="1" sz="2300">
              <a:solidFill>
                <a:srgbClr val="FFFFFF"/>
              </a:solidFill>
            </a:endParaRPr>
          </a:p>
        </p:txBody>
      </p:sp>
      <p:sp>
        <p:nvSpPr>
          <p:cNvPr id="1210" name="Google Shape;1210;p61"/>
          <p:cNvSpPr txBox="1"/>
          <p:nvPr/>
        </p:nvSpPr>
        <p:spPr>
          <a:xfrm>
            <a:off x="9208008" y="4361688"/>
            <a:ext cx="1892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FFFFFF"/>
                </a:solidFill>
              </a:rPr>
              <a:t>Decision tree</a:t>
            </a:r>
            <a:endParaRPr sz="1300">
              <a:solidFill>
                <a:srgbClr val="FFFFFF"/>
              </a:solidFill>
            </a:endParaRPr>
          </a:p>
        </p:txBody>
      </p:sp>
      <p:sp>
        <p:nvSpPr>
          <p:cNvPr id="1211" name="Google Shape;1211;p61"/>
          <p:cNvSpPr txBox="1"/>
          <p:nvPr/>
        </p:nvSpPr>
        <p:spPr>
          <a:xfrm>
            <a:off x="9208008" y="4882896"/>
            <a:ext cx="1920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0">
                <a:solidFill>
                  <a:srgbClr val="C9DBF0"/>
                </a:solidFill>
              </a:rPr>
              <a:t>SVM selected by 84.8% cross-validation accuracy.</a:t>
            </a:r>
            <a:endParaRPr sz="1120">
              <a:solidFill>
                <a:srgbClr val="C9DBF0"/>
              </a:solidFill>
            </a:endParaRPr>
          </a:p>
        </p:txBody>
      </p:sp>
      <p:sp>
        <p:nvSpPr>
          <p:cNvPr id="1212" name="Google Shape;1212;p61"/>
          <p:cNvSpPr/>
          <p:nvPr/>
        </p:nvSpPr>
        <p:spPr>
          <a:xfrm>
            <a:off x="768096" y="5879592"/>
            <a:ext cx="10652700" cy="11100"/>
          </a:xfrm>
          <a:prstGeom prst="rect">
            <a:avLst/>
          </a:prstGeom>
          <a:solidFill>
            <a:srgbClr val="0B49C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3" name="Google Shape;1213;p61"/>
          <p:cNvSpPr txBox="1"/>
          <p:nvPr/>
        </p:nvSpPr>
        <p:spPr>
          <a:xfrm>
            <a:off x="1115568" y="6382512"/>
            <a:ext cx="10058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30" u="sng">
                <a:solidFill>
                  <a:srgbClr val="0B49CB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https://github.com/treinart/IBM-Data-Science-Professional-Certificate/blob/main/10_Applied%20Data%20Science%20Capstone/Module%204/SpaceX-Machine-Learning-Prediction-Part-5-v1.ipynb</a:t>
            </a:r>
            <a:endParaRPr sz="830" u="sng">
              <a:solidFill>
                <a:srgbClr val="0B49CB"/>
              </a:solidFill>
            </a:endParaRPr>
          </a:p>
        </p:txBody>
      </p:sp>
      <p:pic>
        <p:nvPicPr>
          <p:cNvPr id="1214" name="Google Shape;1214;p6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2104" y="6391656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18" name="Shape 1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9" name="Google Shape;1219;p62"/>
          <p:cNvSpPr txBox="1"/>
          <p:nvPr>
            <p:ph idx="12" type="sldNum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20" name="Google Shape;1220;p62"/>
          <p:cNvSpPr txBox="1"/>
          <p:nvPr/>
        </p:nvSpPr>
        <p:spPr>
          <a:xfrm>
            <a:off x="770011" y="538650"/>
            <a:ext cx="10515600" cy="5490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700"/>
              <a:buFont typeface="Arial"/>
              <a:buNone/>
            </a:pPr>
            <a:r>
              <a:rPr b="1" lang="en-US" sz="3600">
                <a:solidFill>
                  <a:schemeClr val="dk1"/>
                </a:solidFill>
              </a:rPr>
              <a:t>Confusion Matrix</a:t>
            </a:r>
            <a:endParaRPr b="1" sz="3600">
              <a:solidFill>
                <a:schemeClr val="dk1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1221" name="Google Shape;1221;p62"/>
          <p:cNvSpPr/>
          <p:nvPr/>
        </p:nvSpPr>
        <p:spPr>
          <a:xfrm>
            <a:off x="749808" y="1417320"/>
            <a:ext cx="5111400" cy="4370700"/>
          </a:xfrm>
          <a:prstGeom prst="rect">
            <a:avLst/>
          </a:prstGeom>
          <a:solidFill>
            <a:srgbClr val="0B49C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2" name="Google Shape;1222;p62"/>
          <p:cNvSpPr/>
          <p:nvPr/>
        </p:nvSpPr>
        <p:spPr>
          <a:xfrm>
            <a:off x="6080760" y="3922776"/>
            <a:ext cx="5212200" cy="1828800"/>
          </a:xfrm>
          <a:prstGeom prst="rect">
            <a:avLst/>
          </a:prstGeom>
          <a:solidFill>
            <a:srgbClr val="0B1B3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3" name="Google Shape;1223;p62"/>
          <p:cNvSpPr/>
          <p:nvPr/>
        </p:nvSpPr>
        <p:spPr>
          <a:xfrm>
            <a:off x="6080760" y="3922776"/>
            <a:ext cx="5212200" cy="63900"/>
          </a:xfrm>
          <a:prstGeom prst="rect">
            <a:avLst/>
          </a:prstGeom>
          <a:solidFill>
            <a:srgbClr val="0B49C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24" name="Google Shape;1224;p6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80760" y="1417320"/>
            <a:ext cx="5212080" cy="2345436"/>
          </a:xfrm>
          <a:prstGeom prst="rect">
            <a:avLst/>
          </a:prstGeom>
          <a:noFill/>
          <a:ln>
            <a:noFill/>
          </a:ln>
        </p:spPr>
      </p:pic>
      <p:sp>
        <p:nvSpPr>
          <p:cNvPr id="1225" name="Google Shape;1225;p62"/>
          <p:cNvSpPr txBox="1"/>
          <p:nvPr/>
        </p:nvSpPr>
        <p:spPr>
          <a:xfrm>
            <a:off x="6373368" y="4160520"/>
            <a:ext cx="46635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82CCF0"/>
                </a:solidFill>
              </a:rPr>
              <a:t>SVM MODEL | 18 TEST LAUNCHES</a:t>
            </a:r>
            <a:endParaRPr b="1" sz="1100">
              <a:solidFill>
                <a:srgbClr val="82CCF0"/>
              </a:solidFill>
            </a:endParaRPr>
          </a:p>
        </p:txBody>
      </p:sp>
      <p:sp>
        <p:nvSpPr>
          <p:cNvPr id="1226" name="Google Shape;1226;p62"/>
          <p:cNvSpPr txBox="1"/>
          <p:nvPr/>
        </p:nvSpPr>
        <p:spPr>
          <a:xfrm>
            <a:off x="6373368" y="4535424"/>
            <a:ext cx="46635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00">
                <a:solidFill>
                  <a:srgbClr val="FFFFFF"/>
                </a:solidFill>
              </a:rPr>
              <a:t>15 / 18 correct</a:t>
            </a:r>
            <a:endParaRPr b="1" sz="2500">
              <a:solidFill>
                <a:srgbClr val="FFFFFF"/>
              </a:solidFill>
            </a:endParaRPr>
          </a:p>
        </p:txBody>
      </p:sp>
      <p:sp>
        <p:nvSpPr>
          <p:cNvPr id="1227" name="Google Shape;1227;p62"/>
          <p:cNvSpPr txBox="1"/>
          <p:nvPr/>
        </p:nvSpPr>
        <p:spPr>
          <a:xfrm>
            <a:off x="6373368" y="5074920"/>
            <a:ext cx="46818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12/12 successful landings identified.</a:t>
            </a:r>
            <a:endParaRPr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3/6 failures caught; the other 3 predicted to land.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228" name="Google Shape;1228;p62"/>
          <p:cNvSpPr/>
          <p:nvPr/>
        </p:nvSpPr>
        <p:spPr>
          <a:xfrm>
            <a:off x="768096" y="5879592"/>
            <a:ext cx="10652700" cy="11100"/>
          </a:xfrm>
          <a:prstGeom prst="rect">
            <a:avLst/>
          </a:prstGeom>
          <a:solidFill>
            <a:srgbClr val="0B49C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9" name="Google Shape;1229;p62"/>
          <p:cNvSpPr txBox="1"/>
          <p:nvPr/>
        </p:nvSpPr>
        <p:spPr>
          <a:xfrm>
            <a:off x="1115568" y="6382512"/>
            <a:ext cx="10058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30" u="sng">
                <a:solidFill>
                  <a:srgbClr val="0B49CB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https://github.com/treinart/IBM-Data-Science-Professional-Certificate/blob/main/10_Applied%20Data%20Science%20Capstone/Module%204/SpaceX-Machine-Learning-Prediction-Part-5-v1.ipynb</a:t>
            </a:r>
            <a:endParaRPr sz="830" u="sng">
              <a:solidFill>
                <a:srgbClr val="0B49CB"/>
              </a:solidFill>
            </a:endParaRPr>
          </a:p>
        </p:txBody>
      </p:sp>
      <p:pic>
        <p:nvPicPr>
          <p:cNvPr id="1230" name="Google Shape;1230;p6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0875" y="1435608"/>
            <a:ext cx="5069361" cy="4334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1" name="Google Shape;1231;p6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32104" y="6391656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35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p63"/>
          <p:cNvSpPr txBox="1"/>
          <p:nvPr>
            <p:ph idx="12" type="sldNum"/>
          </p:nvPr>
        </p:nvSpPr>
        <p:spPr>
          <a:xfrm>
            <a:off x="8714772" y="6134236"/>
            <a:ext cx="27432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37" name="Google Shape;1237;p63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700"/>
              <a:buFont typeface="Arial"/>
              <a:buNone/>
            </a:pPr>
            <a:r>
              <a:rPr b="1" lang="en-US" sz="3600"/>
              <a:t>Conclusions</a:t>
            </a:r>
            <a:endParaRPr b="1" sz="3600"/>
          </a:p>
        </p:txBody>
      </p:sp>
      <p:sp>
        <p:nvSpPr>
          <p:cNvPr id="1238" name="Google Shape;1238;p63"/>
          <p:cNvSpPr/>
          <p:nvPr/>
        </p:nvSpPr>
        <p:spPr>
          <a:xfrm>
            <a:off x="771525" y="1333500"/>
            <a:ext cx="10649100" cy="4905300"/>
          </a:xfrm>
          <a:prstGeom prst="rect">
            <a:avLst/>
          </a:prstGeom>
          <a:solidFill>
            <a:srgbClr val="0B1B3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9" name="Google Shape;1239;p63"/>
          <p:cNvSpPr/>
          <p:nvPr/>
        </p:nvSpPr>
        <p:spPr>
          <a:xfrm>
            <a:off x="771525" y="1333500"/>
            <a:ext cx="10649100" cy="47700"/>
          </a:xfrm>
          <a:prstGeom prst="rect">
            <a:avLst/>
          </a:prstGeom>
          <a:solidFill>
            <a:srgbClr val="0B49C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0" name="Google Shape;1240;p63"/>
          <p:cNvSpPr txBox="1"/>
          <p:nvPr/>
        </p:nvSpPr>
        <p:spPr>
          <a:xfrm>
            <a:off x="1047750" y="1524000"/>
            <a:ext cx="10096500" cy="714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2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By 2019 - 20, landings were common.</a:t>
            </a:r>
            <a:endParaRPr b="1" sz="222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20">
                <a:solidFill>
                  <a:srgbClr val="82CCF0"/>
                </a:solidFill>
                <a:latin typeface="Arial"/>
                <a:ea typeface="Arial"/>
                <a:cs typeface="Arial"/>
                <a:sym typeface="Arial"/>
              </a:rPr>
              <a:t>The selected SVM still missed half the failures.</a:t>
            </a:r>
            <a:endParaRPr b="1" sz="2220">
              <a:solidFill>
                <a:srgbClr val="82CC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1" name="Google Shape;1241;p63"/>
          <p:cNvSpPr/>
          <p:nvPr/>
        </p:nvSpPr>
        <p:spPr>
          <a:xfrm>
            <a:off x="1047750" y="2333625"/>
            <a:ext cx="10096500" cy="9600"/>
          </a:xfrm>
          <a:prstGeom prst="rect">
            <a:avLst/>
          </a:prstGeom>
          <a:solidFill>
            <a:srgbClr val="233A5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2" name="Google Shape;1242;p63"/>
          <p:cNvSpPr/>
          <p:nvPr/>
        </p:nvSpPr>
        <p:spPr>
          <a:xfrm>
            <a:off x="1047750" y="2476500"/>
            <a:ext cx="3190800" cy="2762400"/>
          </a:xfrm>
          <a:prstGeom prst="roundRect">
            <a:avLst>
              <a:gd fmla="val 2758" name="adj"/>
            </a:avLst>
          </a:prstGeom>
          <a:solidFill>
            <a:srgbClr val="132748"/>
          </a:solidFill>
          <a:ln cap="flat" cmpd="sng" w="9525">
            <a:solidFill>
              <a:srgbClr val="1E3A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3" name="Google Shape;1243;p63"/>
          <p:cNvSpPr txBox="1"/>
          <p:nvPr/>
        </p:nvSpPr>
        <p:spPr>
          <a:xfrm>
            <a:off x="1219200" y="2619375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82CCF0"/>
                </a:solidFill>
                <a:latin typeface="Arial"/>
                <a:ea typeface="Arial"/>
                <a:cs typeface="Arial"/>
                <a:sym typeface="Arial"/>
              </a:rPr>
              <a:t>LANDING RECORD</a:t>
            </a:r>
            <a:endParaRPr b="1" sz="1100">
              <a:solidFill>
                <a:srgbClr val="82CC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63"/>
          <p:cNvSpPr txBox="1"/>
          <p:nvPr/>
        </p:nvSpPr>
        <p:spPr>
          <a:xfrm>
            <a:off x="1219200" y="2933700"/>
            <a:ext cx="28575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 / 10</a:t>
            </a:r>
            <a:endParaRPr b="1" sz="255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63"/>
          <p:cNvSpPr txBox="1"/>
          <p:nvPr/>
        </p:nvSpPr>
        <p:spPr>
          <a:xfrm>
            <a:off x="1219200" y="333375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9DBF0"/>
                </a:solidFill>
                <a:latin typeface="Arial"/>
                <a:ea typeface="Arial"/>
                <a:cs typeface="Arial"/>
                <a:sym typeface="Arial"/>
              </a:rPr>
              <a:t>Successful landings in 2019</a:t>
            </a:r>
            <a:endParaRPr sz="1200">
              <a:solidFill>
                <a:srgbClr val="C9DB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63"/>
          <p:cNvSpPr txBox="1"/>
          <p:nvPr/>
        </p:nvSpPr>
        <p:spPr>
          <a:xfrm>
            <a:off x="1219200" y="3905250"/>
            <a:ext cx="28575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16 / 19</a:t>
            </a:r>
            <a:endParaRPr b="1" sz="255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7" name="Google Shape;1247;p63"/>
          <p:cNvSpPr txBox="1"/>
          <p:nvPr/>
        </p:nvSpPr>
        <p:spPr>
          <a:xfrm>
            <a:off x="1219200" y="430530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9DBF0"/>
                </a:solidFill>
                <a:latin typeface="Arial"/>
                <a:ea typeface="Arial"/>
                <a:cs typeface="Arial"/>
                <a:sym typeface="Arial"/>
              </a:rPr>
              <a:t>Successful landings in 2020</a:t>
            </a:r>
            <a:endParaRPr sz="1200">
              <a:solidFill>
                <a:srgbClr val="C9DB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8" name="Google Shape;1248;p63"/>
          <p:cNvSpPr/>
          <p:nvPr/>
        </p:nvSpPr>
        <p:spPr>
          <a:xfrm>
            <a:off x="4495800" y="2476500"/>
            <a:ext cx="3190800" cy="2762400"/>
          </a:xfrm>
          <a:prstGeom prst="roundRect">
            <a:avLst>
              <a:gd fmla="val 2758" name="adj"/>
            </a:avLst>
          </a:prstGeom>
          <a:solidFill>
            <a:srgbClr val="132748"/>
          </a:solidFill>
          <a:ln cap="flat" cmpd="sng" w="9525">
            <a:solidFill>
              <a:srgbClr val="1E3A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9" name="Google Shape;1249;p63"/>
          <p:cNvSpPr txBox="1"/>
          <p:nvPr/>
        </p:nvSpPr>
        <p:spPr>
          <a:xfrm>
            <a:off x="4667250" y="2619375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82CCF0"/>
                </a:solidFill>
                <a:latin typeface="Arial"/>
                <a:ea typeface="Arial"/>
                <a:cs typeface="Arial"/>
                <a:sym typeface="Arial"/>
              </a:rPr>
              <a:t>REUSE AND ORBIT</a:t>
            </a:r>
            <a:endParaRPr b="1" sz="1100">
              <a:solidFill>
                <a:srgbClr val="82CC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0" name="Google Shape;1250;p63"/>
          <p:cNvSpPr txBox="1"/>
          <p:nvPr/>
        </p:nvSpPr>
        <p:spPr>
          <a:xfrm>
            <a:off x="4667250" y="2933700"/>
            <a:ext cx="28575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78.4% </a:t>
            </a:r>
            <a:r>
              <a:rPr b="0" lang="en-US" sz="1400">
                <a:solidFill>
                  <a:srgbClr val="82CCF0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58.5%</a:t>
            </a:r>
            <a:endParaRPr b="1" sz="2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1" name="Google Shape;1251;p63"/>
          <p:cNvSpPr txBox="1"/>
          <p:nvPr/>
        </p:nvSpPr>
        <p:spPr>
          <a:xfrm>
            <a:off x="4667250" y="333375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C9DBF0"/>
                </a:solidFill>
                <a:latin typeface="Arial"/>
                <a:ea typeface="Arial"/>
                <a:cs typeface="Arial"/>
                <a:sym typeface="Arial"/>
              </a:rPr>
              <a:t>Reused (29/37) vs not reused (31/53)</a:t>
            </a:r>
            <a:endParaRPr sz="1150">
              <a:solidFill>
                <a:srgbClr val="C9DB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2" name="Google Shape;1252;p63"/>
          <p:cNvSpPr txBox="1"/>
          <p:nvPr/>
        </p:nvSpPr>
        <p:spPr>
          <a:xfrm>
            <a:off x="4667250" y="3905250"/>
            <a:ext cx="28575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85.7% </a:t>
            </a:r>
            <a:r>
              <a:rPr b="0" lang="en-US" sz="1400">
                <a:solidFill>
                  <a:srgbClr val="82CCF0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51.9%</a:t>
            </a:r>
            <a:endParaRPr b="1" sz="2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3" name="Google Shape;1253;p63"/>
          <p:cNvSpPr txBox="1"/>
          <p:nvPr/>
        </p:nvSpPr>
        <p:spPr>
          <a:xfrm>
            <a:off x="4667250" y="4305300"/>
            <a:ext cx="2857500" cy="809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C9DBF0"/>
                </a:solidFill>
                <a:latin typeface="Arial"/>
                <a:ea typeface="Arial"/>
                <a:cs typeface="Arial"/>
                <a:sym typeface="Arial"/>
              </a:rPr>
              <a:t>VLEO (12/14) vs GTO (14/27).</a:t>
            </a:r>
            <a:endParaRPr sz="1150">
              <a:solidFill>
                <a:srgbClr val="C9DBF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C9DBF0"/>
                </a:solidFill>
                <a:latin typeface="Arial"/>
                <a:ea typeface="Arial"/>
                <a:cs typeface="Arial"/>
                <a:sym typeface="Arial"/>
              </a:rPr>
              <a:t>No clear payload mass cutoff.</a:t>
            </a:r>
            <a:endParaRPr sz="1150">
              <a:solidFill>
                <a:srgbClr val="C9DB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4" name="Google Shape;1254;p63"/>
          <p:cNvSpPr/>
          <p:nvPr/>
        </p:nvSpPr>
        <p:spPr>
          <a:xfrm>
            <a:off x="7953375" y="2476500"/>
            <a:ext cx="3190800" cy="2762400"/>
          </a:xfrm>
          <a:prstGeom prst="roundRect">
            <a:avLst>
              <a:gd fmla="val 2758" name="adj"/>
            </a:avLst>
          </a:prstGeom>
          <a:solidFill>
            <a:srgbClr val="132748"/>
          </a:solidFill>
          <a:ln cap="flat" cmpd="sng" w="9525">
            <a:solidFill>
              <a:srgbClr val="3A2B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5" name="Google Shape;1255;p63"/>
          <p:cNvSpPr txBox="1"/>
          <p:nvPr/>
        </p:nvSpPr>
        <p:spPr>
          <a:xfrm>
            <a:off x="8124825" y="2619375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82CCF0"/>
                </a:solidFill>
                <a:latin typeface="Arial"/>
                <a:ea typeface="Arial"/>
                <a:cs typeface="Arial"/>
                <a:sym typeface="Arial"/>
              </a:rPr>
              <a:t>MODEL TEST</a:t>
            </a:r>
            <a:endParaRPr b="1" sz="1100">
              <a:solidFill>
                <a:srgbClr val="82CC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6" name="Google Shape;1256;p63"/>
          <p:cNvSpPr txBox="1"/>
          <p:nvPr/>
        </p:nvSpPr>
        <p:spPr>
          <a:xfrm>
            <a:off x="8124825" y="2933700"/>
            <a:ext cx="28575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15 / 18</a:t>
            </a:r>
            <a:endParaRPr b="1" sz="255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p63"/>
          <p:cNvSpPr txBox="1"/>
          <p:nvPr/>
        </p:nvSpPr>
        <p:spPr>
          <a:xfrm>
            <a:off x="8124825" y="333375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9DBF0"/>
                </a:solidFill>
                <a:latin typeface="Arial"/>
                <a:ea typeface="Arial"/>
                <a:cs typeface="Arial"/>
                <a:sym typeface="Arial"/>
              </a:rPr>
              <a:t>Three models tied at 83.3%.</a:t>
            </a:r>
            <a:endParaRPr sz="1200">
              <a:solidFill>
                <a:srgbClr val="C9DB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Google Shape;1258;p63"/>
          <p:cNvSpPr txBox="1"/>
          <p:nvPr/>
        </p:nvSpPr>
        <p:spPr>
          <a:xfrm>
            <a:off x="8124825" y="3905250"/>
            <a:ext cx="28575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FA9E4F"/>
                </a:solidFill>
                <a:latin typeface="Arial"/>
                <a:ea typeface="Arial"/>
                <a:cs typeface="Arial"/>
                <a:sym typeface="Arial"/>
              </a:rPr>
              <a:t>3 / 6</a:t>
            </a:r>
            <a:endParaRPr b="1" sz="2550">
              <a:solidFill>
                <a:srgbClr val="FA9E4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63"/>
          <p:cNvSpPr txBox="1"/>
          <p:nvPr/>
        </p:nvSpPr>
        <p:spPr>
          <a:xfrm>
            <a:off x="8124825" y="4305300"/>
            <a:ext cx="2857500" cy="809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FA9E4F"/>
                </a:solidFill>
                <a:latin typeface="Arial"/>
                <a:ea typeface="Arial"/>
                <a:cs typeface="Arial"/>
                <a:sym typeface="Arial"/>
              </a:rPr>
              <a:t>Failed landings the SVM</a:t>
            </a:r>
            <a:endParaRPr sz="1150">
              <a:solidFill>
                <a:srgbClr val="FA9E4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FA9E4F"/>
                </a:solidFill>
                <a:latin typeface="Arial"/>
                <a:ea typeface="Arial"/>
                <a:cs typeface="Arial"/>
                <a:sym typeface="Arial"/>
              </a:rPr>
              <a:t>predicted would land.</a:t>
            </a:r>
            <a:endParaRPr sz="1150">
              <a:solidFill>
                <a:srgbClr val="FA9E4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0" name="Google Shape;1260;p63"/>
          <p:cNvSpPr/>
          <p:nvPr/>
        </p:nvSpPr>
        <p:spPr>
          <a:xfrm>
            <a:off x="1047750" y="5476875"/>
            <a:ext cx="10096500" cy="495300"/>
          </a:xfrm>
          <a:prstGeom prst="roundRect">
            <a:avLst>
              <a:gd fmla="val 15384" name="adj"/>
            </a:avLst>
          </a:prstGeom>
          <a:solidFill>
            <a:srgbClr val="162E52"/>
          </a:solidFill>
          <a:ln cap="flat" cmpd="sng" w="9525">
            <a:solidFill>
              <a:srgbClr val="2343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1" name="Google Shape;1261;p63"/>
          <p:cNvSpPr txBox="1"/>
          <p:nvPr/>
        </p:nvSpPr>
        <p:spPr>
          <a:xfrm>
            <a:off x="1219200" y="5476875"/>
            <a:ext cx="9753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82CCF0"/>
                </a:solidFill>
                <a:latin typeface="Arial"/>
                <a:ea typeface="Arial"/>
                <a:cs typeface="Arial"/>
                <a:sym typeface="Arial"/>
              </a:rPr>
              <a:t>NEXT STEPS: </a:t>
            </a: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Fit scaling within training, test on later flights, and track missed failures alongside accuracy.</a:t>
            </a:r>
            <a:endParaRPr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66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64"/>
          <p:cNvSpPr txBox="1"/>
          <p:nvPr>
            <p:ph idx="12" type="sldNum"/>
          </p:nvPr>
        </p:nvSpPr>
        <p:spPr>
          <a:xfrm>
            <a:off x="8714772" y="6188568"/>
            <a:ext cx="27432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68" name="Google Shape;1268;p64"/>
          <p:cNvSpPr txBox="1"/>
          <p:nvPr/>
        </p:nvSpPr>
        <p:spPr>
          <a:xfrm>
            <a:off x="770011" y="538650"/>
            <a:ext cx="105156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B49CB"/>
              </a:buClr>
              <a:buSzPts val="3700"/>
              <a:buFont typeface="Arial"/>
              <a:buNone/>
            </a:pPr>
            <a:r>
              <a:rPr b="1" lang="en-US" sz="3800">
                <a:latin typeface="Inter"/>
                <a:ea typeface="Inter"/>
                <a:cs typeface="Inter"/>
                <a:sym typeface="Inter"/>
              </a:rPr>
              <a:t>Appendix: Standalone Web App</a:t>
            </a:r>
            <a:endParaRPr b="1" sz="38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9" name="Google Shape;1269;p64"/>
          <p:cNvSpPr/>
          <p:nvPr/>
        </p:nvSpPr>
        <p:spPr>
          <a:xfrm>
            <a:off x="762000" y="1381125"/>
            <a:ext cx="5143500" cy="4905300"/>
          </a:xfrm>
          <a:prstGeom prst="roundRect">
            <a:avLst>
              <a:gd fmla="val 1553" name="adj"/>
            </a:avLst>
          </a:prstGeom>
          <a:solidFill>
            <a:srgbClr val="0B1B34"/>
          </a:solidFill>
          <a:ln cap="flat" cmpd="sng" w="9525">
            <a:solidFill>
              <a:srgbClr val="1E3A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0" name="Google Shape;1270;p64"/>
          <p:cNvSpPr/>
          <p:nvPr/>
        </p:nvSpPr>
        <p:spPr>
          <a:xfrm>
            <a:off x="6286500" y="1381125"/>
            <a:ext cx="5143500" cy="4905300"/>
          </a:xfrm>
          <a:prstGeom prst="rect">
            <a:avLst/>
          </a:prstGeom>
          <a:solidFill>
            <a:srgbClr val="0B1B34"/>
          </a:solidFill>
          <a:ln cap="flat" cmpd="sng" w="9525">
            <a:solidFill>
              <a:srgbClr val="1E3A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1" name="Google Shape;1271;p64"/>
          <p:cNvSpPr/>
          <p:nvPr/>
        </p:nvSpPr>
        <p:spPr>
          <a:xfrm>
            <a:off x="762000" y="1381125"/>
            <a:ext cx="5143500" cy="57300"/>
          </a:xfrm>
          <a:prstGeom prst="roundRect">
            <a:avLst>
              <a:gd fmla="val 50000" name="adj"/>
            </a:avLst>
          </a:prstGeom>
          <a:solidFill>
            <a:srgbClr val="0B49C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2" name="Google Shape;1272;p64"/>
          <p:cNvSpPr/>
          <p:nvPr/>
        </p:nvSpPr>
        <p:spPr>
          <a:xfrm>
            <a:off x="6286500" y="1381125"/>
            <a:ext cx="5143500" cy="57300"/>
          </a:xfrm>
          <a:prstGeom prst="roundRect">
            <a:avLst>
              <a:gd fmla="val 50000" name="adj"/>
            </a:avLst>
          </a:prstGeom>
          <a:solidFill>
            <a:srgbClr val="0B49C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3" name="Google Shape;1273;p64"/>
          <p:cNvSpPr txBox="1"/>
          <p:nvPr/>
        </p:nvSpPr>
        <p:spPr>
          <a:xfrm>
            <a:off x="990600" y="1600200"/>
            <a:ext cx="4686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82CCF0"/>
                </a:solidFill>
                <a:latin typeface="Inter"/>
                <a:ea typeface="Inter"/>
                <a:cs typeface="Inter"/>
                <a:sym typeface="Inter"/>
              </a:rPr>
              <a:t>APP.JS: PRECISE PAYLOAD INPUTS</a:t>
            </a:r>
            <a:endParaRPr b="1" sz="1100">
              <a:solidFill>
                <a:srgbClr val="82CCF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4" name="Google Shape;1274;p64"/>
          <p:cNvSpPr txBox="1"/>
          <p:nvPr/>
        </p:nvSpPr>
        <p:spPr>
          <a:xfrm>
            <a:off x="6515100" y="1600200"/>
            <a:ext cx="4686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82CCF0"/>
                </a:solidFill>
                <a:latin typeface="Inter"/>
                <a:ea typeface="Inter"/>
                <a:cs typeface="Inter"/>
                <a:sym typeface="Inter"/>
              </a:rPr>
              <a:t>ADDITIONAL BUILD</a:t>
            </a:r>
            <a:endParaRPr b="1" sz="1100">
              <a:solidFill>
                <a:srgbClr val="82CCF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275" name="Google Shape;1275;p64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40" l="0" r="0" t="40"/>
          <a:stretch/>
        </p:blipFill>
        <p:spPr>
          <a:xfrm>
            <a:off x="990600" y="1924050"/>
            <a:ext cx="4686300" cy="2114700"/>
          </a:xfrm>
          <a:prstGeom prst="roundRect">
            <a:avLst>
              <a:gd fmla="val 2702" name="adj"/>
            </a:avLst>
          </a:prstGeom>
          <a:noFill/>
          <a:ln>
            <a:noFill/>
          </a:ln>
        </p:spPr>
      </p:pic>
      <p:sp>
        <p:nvSpPr>
          <p:cNvPr id="1276" name="Google Shape;1276;p64"/>
          <p:cNvSpPr txBox="1"/>
          <p:nvPr/>
        </p:nvSpPr>
        <p:spPr>
          <a:xfrm>
            <a:off x="6515100" y="1866900"/>
            <a:ext cx="4686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 browser version of the Python Dash dashboard</a:t>
            </a:r>
            <a:endParaRPr b="1" sz="185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7" name="Google Shape;1277;p64"/>
          <p:cNvSpPr txBox="1"/>
          <p:nvPr/>
        </p:nvSpPr>
        <p:spPr>
          <a:xfrm>
            <a:off x="990600" y="4171950"/>
            <a:ext cx="46863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E4EDF8"/>
                </a:solidFill>
                <a:latin typeface="Inter"/>
                <a:ea typeface="Inter"/>
                <a:cs typeface="Inter"/>
                <a:sym typeface="Inter"/>
              </a:rPr>
              <a:t>The function limits entries to 0–10,000 kg and refreshes the scatter plot.</a:t>
            </a:r>
            <a:endParaRPr b="0" sz="1350">
              <a:solidFill>
                <a:srgbClr val="E4EDF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8" name="Google Shape;1278;p64"/>
          <p:cNvSpPr txBox="1"/>
          <p:nvPr/>
        </p:nvSpPr>
        <p:spPr>
          <a:xfrm>
            <a:off x="6515100" y="2495550"/>
            <a:ext cx="4686300" cy="809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C9DBF0"/>
                </a:solidFill>
                <a:latin typeface="Inter"/>
                <a:ea typeface="Inter"/>
                <a:cs typeface="Inter"/>
                <a:sym typeface="Inter"/>
              </a:rPr>
              <a:t>HTML, CSS, and JavaScript use the same 56 launch records. Plotly.js redraws the charts when users change the site or payload range. Netlify serves the app as static files.</a:t>
            </a:r>
            <a:endParaRPr b="0" sz="1300">
              <a:solidFill>
                <a:srgbClr val="C9DBF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9" name="Google Shape;1279;p64"/>
          <p:cNvSpPr/>
          <p:nvPr/>
        </p:nvSpPr>
        <p:spPr>
          <a:xfrm>
            <a:off x="6515100" y="3409950"/>
            <a:ext cx="4686300" cy="9600"/>
          </a:xfrm>
          <a:prstGeom prst="rect">
            <a:avLst/>
          </a:prstGeom>
          <a:solidFill>
            <a:srgbClr val="233A5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0" name="Google Shape;1280;p64">
            <a:hlinkClick r:id="rId6"/>
          </p:cNvPr>
          <p:cNvSpPr txBox="1"/>
          <p:nvPr/>
        </p:nvSpPr>
        <p:spPr>
          <a:xfrm>
            <a:off x="990600" y="4810125"/>
            <a:ext cx="4686300" cy="333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 u="sng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View this function in app.js →</a:t>
            </a:r>
            <a:endParaRPr b="1" sz="1350">
              <a:solidFill>
                <a:srgbClr val="60A5F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1" name="Google Shape;1281;p64"/>
          <p:cNvSpPr txBox="1"/>
          <p:nvPr/>
        </p:nvSpPr>
        <p:spPr>
          <a:xfrm>
            <a:off x="6515100" y="3524250"/>
            <a:ext cx="468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82CCF0"/>
                </a:solidFill>
                <a:latin typeface="Inter"/>
                <a:ea typeface="Inter"/>
                <a:cs typeface="Inter"/>
                <a:sym typeface="Inter"/>
              </a:rPr>
              <a:t>SOURCE AND DEMO LINKS</a:t>
            </a:r>
            <a:endParaRPr b="1" sz="1100">
              <a:solidFill>
                <a:srgbClr val="82CCF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2" name="Google Shape;1282;p64">
            <a:hlinkClick r:id="rId7"/>
          </p:cNvPr>
          <p:cNvSpPr txBox="1"/>
          <p:nvPr/>
        </p:nvSpPr>
        <p:spPr>
          <a:xfrm>
            <a:off x="6515100" y="3829050"/>
            <a:ext cx="4686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 u="sng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Open live dashboard</a:t>
            </a:r>
            <a:endParaRPr b="1" sz="135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3" name="Google Shape;1283;p64">
            <a:hlinkClick r:id="rId8"/>
          </p:cNvPr>
          <p:cNvSpPr txBox="1"/>
          <p:nvPr/>
        </p:nvSpPr>
        <p:spPr>
          <a:xfrm>
            <a:off x="6515100" y="4191000"/>
            <a:ext cx="4686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 u="sng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Read the project README</a:t>
            </a:r>
            <a:endParaRPr b="1" sz="135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4" name="Google Shape;1284;p64">
            <a:hlinkClick r:id="rId9"/>
          </p:cNvPr>
          <p:cNvSpPr txBox="1"/>
          <p:nvPr/>
        </p:nvSpPr>
        <p:spPr>
          <a:xfrm>
            <a:off x="6515100" y="4552950"/>
            <a:ext cx="4686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 u="sng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Browse app.js source</a:t>
            </a:r>
            <a:endParaRPr b="1" sz="135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5" name="Google Shape;1285;p64">
            <a:hlinkClick r:id="rId10"/>
          </p:cNvPr>
          <p:cNvSpPr txBox="1"/>
          <p:nvPr/>
        </p:nvSpPr>
        <p:spPr>
          <a:xfrm>
            <a:off x="6515100" y="4914900"/>
            <a:ext cx="4686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 u="sng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View Python Dash script</a:t>
            </a:r>
            <a:endParaRPr b="1" sz="135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6" name="Google Shape;1286;p64">
            <a:hlinkClick r:id="rId11"/>
          </p:cNvPr>
          <p:cNvSpPr txBox="1"/>
          <p:nvPr/>
        </p:nvSpPr>
        <p:spPr>
          <a:xfrm>
            <a:off x="6515100" y="5276850"/>
            <a:ext cx="4686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 u="sng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View dashboard CSV</a:t>
            </a:r>
            <a:endParaRPr b="1" sz="135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90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p65"/>
          <p:cNvSpPr/>
          <p:nvPr/>
        </p:nvSpPr>
        <p:spPr>
          <a:xfrm>
            <a:off x="696800" y="4133725"/>
            <a:ext cx="6086400" cy="2495700"/>
          </a:xfrm>
          <a:prstGeom prst="roundRect">
            <a:avLst>
              <a:gd fmla="val 3870" name="adj"/>
            </a:avLst>
          </a:prstGeom>
          <a:solidFill>
            <a:srgbClr val="0B132B">
              <a:alpha val="88000"/>
            </a:srgbClr>
          </a:solidFill>
          <a:ln cap="flat" cmpd="sng" w="14300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2" name="Google Shape;1292;p65"/>
          <p:cNvSpPr/>
          <p:nvPr/>
        </p:nvSpPr>
        <p:spPr>
          <a:xfrm>
            <a:off x="696800" y="337675"/>
            <a:ext cx="6086400" cy="2259300"/>
          </a:xfrm>
          <a:prstGeom prst="roundRect">
            <a:avLst>
              <a:gd fmla="val 3870" name="adj"/>
            </a:avLst>
          </a:prstGeom>
          <a:solidFill>
            <a:srgbClr val="0B132B">
              <a:alpha val="88000"/>
            </a:srgbClr>
          </a:solidFill>
          <a:ln cap="flat" cmpd="sng" w="14300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BM Skills Network Logo" id="1293" name="Google Shape;1293;p65"/>
          <p:cNvPicPr preferRelativeResize="0"/>
          <p:nvPr/>
        </p:nvPicPr>
        <p:blipFill rotWithShape="1">
          <a:blip r:embed="rId4">
            <a:alphaModFix/>
          </a:blip>
          <a:srcRect b="0" l="2153" r="2153" t="0"/>
          <a:stretch/>
        </p:blipFill>
        <p:spPr>
          <a:xfrm>
            <a:off x="985750" y="522425"/>
            <a:ext cx="1905000" cy="5697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4" name="Google Shape;1294;p65"/>
          <p:cNvSpPr/>
          <p:nvPr/>
        </p:nvSpPr>
        <p:spPr>
          <a:xfrm>
            <a:off x="993132" y="1132498"/>
            <a:ext cx="3238500" cy="373200"/>
          </a:xfrm>
          <a:prstGeom prst="roundRect">
            <a:avLst>
              <a:gd fmla="val 50000" name="adj"/>
            </a:avLst>
          </a:prstGeom>
          <a:solidFill>
            <a:srgbClr val="1E3A8A">
              <a:alpha val="60000"/>
            </a:srgbClr>
          </a:solidFill>
          <a:ln cap="flat" cmpd="sng" w="9525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5" name="Google Shape;1295;p65"/>
          <p:cNvSpPr txBox="1"/>
          <p:nvPr/>
        </p:nvSpPr>
        <p:spPr>
          <a:xfrm>
            <a:off x="1135932" y="1158073"/>
            <a:ext cx="2952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60A5FA"/>
                </a:solidFill>
                <a:latin typeface="Arial"/>
                <a:ea typeface="Arial"/>
                <a:cs typeface="Arial"/>
                <a:sym typeface="Arial"/>
              </a:rPr>
              <a:t>IBM APPLIED DATA SCIENCE CAPSTONE</a:t>
            </a:r>
            <a:endParaRPr b="1" sz="1150">
              <a:solidFill>
                <a:srgbClr val="60A5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p65"/>
          <p:cNvSpPr txBox="1"/>
          <p:nvPr/>
        </p:nvSpPr>
        <p:spPr>
          <a:xfrm>
            <a:off x="985750" y="1594975"/>
            <a:ext cx="51435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6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SpaceX Falcon 9 First-Stage Landing Prediction</a:t>
            </a:r>
            <a:endParaRPr b="1" sz="296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65"/>
          <p:cNvSpPr txBox="1"/>
          <p:nvPr/>
        </p:nvSpPr>
        <p:spPr>
          <a:xfrm>
            <a:off x="1189983" y="4381450"/>
            <a:ext cx="5143500" cy="573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Travis Reinart</a:t>
            </a:r>
            <a:endParaRPr b="1" sz="18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October 18, 2026</a:t>
            </a:r>
            <a:endParaRPr b="0" sz="180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65"/>
          <p:cNvSpPr/>
          <p:nvPr/>
        </p:nvSpPr>
        <p:spPr>
          <a:xfrm>
            <a:off x="1168250" y="4999225"/>
            <a:ext cx="5143500" cy="1371600"/>
          </a:xfrm>
          <a:prstGeom prst="roundRect">
            <a:avLst>
              <a:gd fmla="val 8333" name="adj"/>
            </a:avLst>
          </a:prstGeom>
          <a:solidFill>
            <a:srgbClr val="0F172A">
              <a:alpha val="80000"/>
            </a:srgbClr>
          </a:solidFill>
          <a:ln cap="flat" cmpd="sng" w="9525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99" name="Google Shape;1299;p6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58750" y="5225025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0" name="Google Shape;1300;p65"/>
          <p:cNvSpPr txBox="1"/>
          <p:nvPr/>
        </p:nvSpPr>
        <p:spPr>
          <a:xfrm>
            <a:off x="1614443" y="5186925"/>
            <a:ext cx="453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 u="sng">
                <a:solidFill>
                  <a:srgbClr val="60A5FA"/>
                </a:solidFill>
                <a:latin typeface="Arial"/>
                <a:ea typeface="Arial"/>
                <a:cs typeface="Arial"/>
                <a:sym typeface="Arial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github.com/treinart/IBM-Data-Science-Professional-Certificate</a:t>
            </a:r>
            <a:endParaRPr b="1" sz="1100">
              <a:solidFill>
                <a:srgbClr val="60A5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1" name="Google Shape;1301;p65"/>
          <p:cNvSpPr txBox="1"/>
          <p:nvPr/>
        </p:nvSpPr>
        <p:spPr>
          <a:xfrm>
            <a:off x="1358750" y="5600650"/>
            <a:ext cx="4762500" cy="373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AVAILABLE FORMATS</a:t>
            </a:r>
            <a:endParaRPr b="1"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450"/>
              </a:spcBef>
              <a:spcAft>
                <a:spcPts val="45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2" name="Google Shape;1302;p65">
            <a:hlinkClick r:id="rId7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35024" y="5820156"/>
            <a:ext cx="174000" cy="17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3" name="Google Shape;1303;p65">
            <a:hlinkClick r:id="rId8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77296" y="5812872"/>
            <a:ext cx="174000" cy="17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4" name="Google Shape;1304;p65">
            <a:hlinkClick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630441" y="5791127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1305" name="Google Shape;1305;p65"/>
          <p:cNvSpPr txBox="1"/>
          <p:nvPr/>
        </p:nvSpPr>
        <p:spPr>
          <a:xfrm>
            <a:off x="1470660" y="5715000"/>
            <a:ext cx="1430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u="sng">
                <a:solidFill>
                  <a:schemeClr val="hlink"/>
                </a:solidFill>
                <a:hlinkClick r:id="rId11"/>
              </a:rPr>
              <a:t>PowerPoint Deck</a:t>
            </a:r>
            <a:endParaRPr b="1" sz="1200" u="sng">
              <a:solidFill>
                <a:schemeClr val="hlink"/>
              </a:solidFill>
            </a:endParaRPr>
          </a:p>
        </p:txBody>
      </p:sp>
      <p:sp>
        <p:nvSpPr>
          <p:cNvPr id="1306" name="Google Shape;1306;p65"/>
          <p:cNvSpPr txBox="1"/>
          <p:nvPr/>
        </p:nvSpPr>
        <p:spPr>
          <a:xfrm>
            <a:off x="3101340" y="5715000"/>
            <a:ext cx="1490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u="sng">
                <a:solidFill>
                  <a:schemeClr val="hlink"/>
                </a:solidFill>
                <a:hlinkClick r:id="rId12"/>
              </a:rPr>
              <a:t>PDF Presentation</a:t>
            </a:r>
            <a:endParaRPr b="1" sz="1200" u="sng">
              <a:solidFill>
                <a:schemeClr val="hlink"/>
              </a:solidFill>
            </a:endParaRPr>
          </a:p>
        </p:txBody>
      </p:sp>
      <p:sp>
        <p:nvSpPr>
          <p:cNvPr id="1307" name="Google Shape;1307;p65"/>
          <p:cNvSpPr txBox="1"/>
          <p:nvPr/>
        </p:nvSpPr>
        <p:spPr>
          <a:xfrm>
            <a:off x="4762500" y="5715000"/>
            <a:ext cx="129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u="sng">
                <a:solidFill>
                  <a:schemeClr val="hlink"/>
                </a:solidFill>
                <a:hlinkClick r:id="rId13"/>
              </a:rPr>
              <a:t>Google Slides</a:t>
            </a:r>
            <a:endParaRPr b="1" sz="1200" u="sng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