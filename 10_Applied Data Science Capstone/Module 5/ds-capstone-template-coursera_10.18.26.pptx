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12192000"/>
  <p:notesSz cx="6858000" cy="1857375"/>
  <p:embeddedFontLst>
    <p:embeddedFont>
      <p:font typeface="Inter SemiBold"/>
      <p:regular r:id="rId57"/>
      <p:bold r:id="rId58"/>
      <p:italic r:id="rId59"/>
      <p:boldItalic r:id="rId60"/>
    </p:embeddedFont>
    <p:embeddedFont>
      <p:font typeface="Inter"/>
      <p:bold r:id="rId61"/>
      <p:boldItalic r:id="rId62"/>
    </p:embeddedFont>
    <p:embeddedFont>
      <p:font typeface="IBM Plex Mono SemiBold"/>
      <p:regular r:id="rId63"/>
      <p:bold r:id="rId64"/>
      <p:italic r:id="rId65"/>
      <p:boldItalic r:id="rId66"/>
    </p:embeddedFont>
    <p:embeddedFont>
      <p:font typeface="Inter ExtraBold"/>
      <p:bold r:id="rId67"/>
      <p:boldItalic r:id="rId68"/>
    </p:embeddedFont>
    <p:embeddedFont>
      <p:font typeface="IBM Plex Mono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2" Type="http://schemas.openxmlformats.org/officeDocument/2006/relationships/font" Target="fonts/IBMPlexMon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IBMPlexMono-italic.fntdata"/><Relationship Id="rId70" Type="http://schemas.openxmlformats.org/officeDocument/2006/relationships/font" Target="fonts/IBMPlexMono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-boldItalic.fntdata"/><Relationship Id="rId61" Type="http://schemas.openxmlformats.org/officeDocument/2006/relationships/font" Target="fonts/Inter-bold.fntdata"/><Relationship Id="rId20" Type="http://schemas.openxmlformats.org/officeDocument/2006/relationships/slide" Target="slides/slide15.xml"/><Relationship Id="rId64" Type="http://schemas.openxmlformats.org/officeDocument/2006/relationships/font" Target="fonts/IBMPlexMonoSemiBold-bold.fntdata"/><Relationship Id="rId63" Type="http://schemas.openxmlformats.org/officeDocument/2006/relationships/font" Target="fonts/IBMPlexMonoSemiBold-regular.fntdata"/><Relationship Id="rId22" Type="http://schemas.openxmlformats.org/officeDocument/2006/relationships/slide" Target="slides/slide17.xml"/><Relationship Id="rId66" Type="http://schemas.openxmlformats.org/officeDocument/2006/relationships/font" Target="fonts/IBMPlexMonoSemiBold-boldItalic.fntdata"/><Relationship Id="rId21" Type="http://schemas.openxmlformats.org/officeDocument/2006/relationships/slide" Target="slides/slide16.xml"/><Relationship Id="rId65" Type="http://schemas.openxmlformats.org/officeDocument/2006/relationships/font" Target="fonts/IBMPlexMonoSemiBold-italic.fntdata"/><Relationship Id="rId24" Type="http://schemas.openxmlformats.org/officeDocument/2006/relationships/slide" Target="slides/slide19.xml"/><Relationship Id="rId68" Type="http://schemas.openxmlformats.org/officeDocument/2006/relationships/font" Target="fonts/InterExtraBold-boldItalic.fntdata"/><Relationship Id="rId23" Type="http://schemas.openxmlformats.org/officeDocument/2006/relationships/slide" Target="slides/slide18.xml"/><Relationship Id="rId67" Type="http://schemas.openxmlformats.org/officeDocument/2006/relationships/font" Target="fonts/InterExtraBold-bold.fntdata"/><Relationship Id="rId60" Type="http://schemas.openxmlformats.org/officeDocument/2006/relationships/font" Target="fonts/InterSemiBold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IBMPlexMono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58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91" name="Google Shape;5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capres17sql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capres17sql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24" name="Google Shape;624;capres17sql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capres18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capres18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55" name="Google Shape;655;capres18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capres19dash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capres19dash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0" name="Google Shape;670;capres19dash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capres20model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capres20model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97" name="Google Shape;697;capres20model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b="0" i="0" sz="4800" u="none" cap="none" strike="noStrike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ertical Title and Text">
  <p:cSld name="1_Vertical Title and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hyperlink" Target="https://github.com/treinart/IBM-Data-Science-Professional-Certificate" TargetMode="External"/><Relationship Id="rId6" Type="http://schemas.openxmlformats.org/officeDocument/2006/relationships/hyperlink" Target="https://github.com/treinart/IBM-Data-Science-Professional-Certificate" TargetMode="External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50.xml"/><Relationship Id="rId11" Type="http://schemas.openxmlformats.org/officeDocument/2006/relationships/slide" Target="/ppt/slides/slide21.xml"/><Relationship Id="rId10" Type="http://schemas.openxmlformats.org/officeDocument/2006/relationships/slide" Target="/ppt/slides/slide21.xml"/><Relationship Id="rId21" Type="http://schemas.openxmlformats.org/officeDocument/2006/relationships/slide" Target="/ppt/slides/slide50.xml"/><Relationship Id="rId13" Type="http://schemas.openxmlformats.org/officeDocument/2006/relationships/slide" Target="/ppt/slides/slide38.xml"/><Relationship Id="rId12" Type="http://schemas.openxmlformats.org/officeDocument/2006/relationships/slide" Target="/ppt/slides/slide38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slide" Target="/ppt/slides/slide3.xml"/><Relationship Id="rId9" Type="http://schemas.openxmlformats.org/officeDocument/2006/relationships/slide" Target="/ppt/slides/slide5.xml"/><Relationship Id="rId15" Type="http://schemas.openxmlformats.org/officeDocument/2006/relationships/slide" Target="/ppt/slides/slide42.xml"/><Relationship Id="rId14" Type="http://schemas.openxmlformats.org/officeDocument/2006/relationships/slide" Target="/ppt/slides/slide42.xml"/><Relationship Id="rId17" Type="http://schemas.openxmlformats.org/officeDocument/2006/relationships/slide" Target="/ppt/slides/slide46.xml"/><Relationship Id="rId16" Type="http://schemas.openxmlformats.org/officeDocument/2006/relationships/slide" Target="/ppt/slides/slide46.xml"/><Relationship Id="rId5" Type="http://schemas.openxmlformats.org/officeDocument/2006/relationships/slide" Target="/ppt/slides/slide3.xml"/><Relationship Id="rId19" Type="http://schemas.openxmlformats.org/officeDocument/2006/relationships/slide" Target="/ppt/slides/slide49.xml"/><Relationship Id="rId6" Type="http://schemas.openxmlformats.org/officeDocument/2006/relationships/slide" Target="/ppt/slides/slide4.xml"/><Relationship Id="rId18" Type="http://schemas.openxmlformats.org/officeDocument/2006/relationships/slide" Target="/ppt/slides/slide49.xml"/><Relationship Id="rId7" Type="http://schemas.openxmlformats.org/officeDocument/2006/relationships/slide" Target="/ppt/slides/slide4.xml"/><Relationship Id="rId8" Type="http://schemas.openxmlformats.org/officeDocument/2006/relationships/slide" Target="/ppt/slides/slide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5.png"/><Relationship Id="rId1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17.png"/><Relationship Id="rId5" Type="http://schemas.openxmlformats.org/officeDocument/2006/relationships/hyperlink" Target="https://github.com/treinart/IBM-Data-Science-Professional-Certificate/blob/main/10_Applied%20Data%20Science%20Capstone/Module%201/jupyter-labs-spacex-data-collection-api-v2.ipynb" TargetMode="External"/><Relationship Id="rId6" Type="http://schemas.openxmlformats.org/officeDocument/2006/relationships/hyperlink" Target="https://github.com/treinart/IBM-Data-Science-Professional-Certificate/blob/main/10_Applied%20Data%20Science%20Capstone/Module%201/dataset_part_1.csv" TargetMode="External"/><Relationship Id="rId7" Type="http://schemas.openxmlformats.org/officeDocument/2006/relationships/hyperlink" Target="https://github.com/treinart/IBM-Data-Science-Professional-Certificate/blob/main/10_Applied%20Data%20Science%20Capstone/Module%201/jupyter-labs-webscraping.ipynb" TargetMode="External"/><Relationship Id="rId8" Type="http://schemas.openxmlformats.org/officeDocument/2006/relationships/hyperlink" Target="https://github.com/treinart/IBM-Data-Science-Professional-Certificate/blob/main/10_Applied%20Data%20Science%20Capstone/Module%201/spacex_web_scraped.csv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hyperlink" Target="https://github.com/treinart/IBM-Data-Science-Professional-Certificate/blob/main/10_Applied%20Data%20Science%20Capstone/Module%201/jupyter-labs-spacex-data-collection-api-v2.ipynb" TargetMode="External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hyperlink" Target="https://github.com/treinart/IBM-Data-Science-Professional-Certificate/blob/main/10_Applied%20Data%20Science%20Capstone/Module%201/jupyter-labs-webscraping.ipynb" TargetMode="External"/><Relationship Id="rId5" Type="http://schemas.openxmlformats.org/officeDocument/2006/relationships/image" Target="../media/image27.png"/><Relationship Id="rId6" Type="http://schemas.openxmlformats.org/officeDocument/2006/relationships/hyperlink" Target="https://github.com/treinart/IBM-Data-Science-Professional-Certificate/blob/main/10_Applied%20Data%20Science%20Capstone/Module%201/jupyter-labs-webscraping.ipynb" TargetMode="External"/><Relationship Id="rId7" Type="http://schemas.openxmlformats.org/officeDocument/2006/relationships/image" Target="../media/image17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hyperlink" Target="https://github.com/treinart/IBM-Data-Science-Professional-Certificate/blob/main/10_Applied%20Data%20Science%20Capstone/Module%201/labs-jupyter-spacex-Data%20wrangling-v2.ipynb" TargetMode="External"/><Relationship Id="rId5" Type="http://schemas.openxmlformats.org/officeDocument/2006/relationships/image" Target="../media/image29.png"/><Relationship Id="rId6" Type="http://schemas.openxmlformats.org/officeDocument/2006/relationships/hyperlink" Target="https://github.com/treinart/IBM-Data-Science-Professional-Certificate/blob/main/10_Applied%20Data%20Science%20Capstone/Module%201/labs-jupyter-spacex-Data%20wrangling-v2.ipynb" TargetMode="External"/><Relationship Id="rId7" Type="http://schemas.openxmlformats.org/officeDocument/2006/relationships/image" Target="../media/image17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Relationship Id="rId5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Relationship Id="rId6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Relationship Id="rId7" Type="http://schemas.openxmlformats.org/officeDocument/2006/relationships/image" Target="../media/image17.png"/><Relationship Id="rId8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hyperlink" Target="https://spacex-launch-analytics.netlify.app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hyperlink" Target="https://github.com/treinart/IBM-Data-Science-Professional-Certificate/blob/main/10_Applied%20Data%20Science%20Capstone/Module%203/spacex-dash-app.py" TargetMode="External"/><Relationship Id="rId9" Type="http://schemas.openxmlformats.org/officeDocument/2006/relationships/hyperlink" Target="https://spacex-launch-analytics.netlify.app/" TargetMode="External"/><Relationship Id="rId5" Type="http://schemas.openxmlformats.org/officeDocument/2006/relationships/hyperlink" Target="https://github.com/treinart/IBM-Data-Science-Professional-Certificate/blob/main/10_Applied%20Data%20Science%20Capstone/Module%203/spacex-dash-app.py" TargetMode="External"/><Relationship Id="rId6" Type="http://schemas.openxmlformats.org/officeDocument/2006/relationships/image" Target="../media/image44.png"/><Relationship Id="rId7" Type="http://schemas.openxmlformats.org/officeDocument/2006/relationships/hyperlink" Target="https://github.com/treinart/IBM-Data-Science-Professional-Certificate/blob/main/10_Applied%20Data%20Science%20Capstone/Module%203/spacex-dash-app.py" TargetMode="External"/><Relationship Id="rId8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5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43.png"/><Relationship Id="rId8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10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13" Type="http://schemas.openxmlformats.org/officeDocument/2006/relationships/image" Target="../media/image47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Relationship Id="rId4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Relationship Id="rId9" Type="http://schemas.openxmlformats.org/officeDocument/2006/relationships/hyperlink" Target="https://spacex-launch-analytics.netlify.app/" TargetMode="External"/><Relationship Id="rId15" Type="http://schemas.openxmlformats.org/officeDocument/2006/relationships/image" Target="../media/image48.png"/><Relationship Id="rId14" Type="http://schemas.openxmlformats.org/officeDocument/2006/relationships/image" Target="../media/image46.png"/><Relationship Id="rId16" Type="http://schemas.openxmlformats.org/officeDocument/2006/relationships/image" Target="../media/image17.png"/><Relationship Id="rId5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Relationship Id="rId6" Type="http://schemas.openxmlformats.org/officeDocument/2006/relationships/hyperlink" Target="https://github.com/treinart/IBM-Data-Science-Professional-Certificate/blob/main/10_Applied%20Data%20Science%20Capstone/Module%203/spacex-dash-app.py" TargetMode="External"/><Relationship Id="rId7" Type="http://schemas.openxmlformats.org/officeDocument/2006/relationships/hyperlink" Target="https://github.com/treinart/IBM-Data-Science-Professional-Certificate/blob/main/10_Applied%20Data%20Science%20Capstone/Module%203/spacex-dash-app.py" TargetMode="External"/><Relationship Id="rId8" Type="http://schemas.openxmlformats.org/officeDocument/2006/relationships/hyperlink" Target="https://spacex-launch-analytics.netlify.app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Relationship Id="rId7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17.png"/><Relationship Id="rId7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hyperlink" Target="https://spacex-launch-analytics.netlify.app/" TargetMode="External"/><Relationship Id="rId7" Type="http://schemas.openxmlformats.org/officeDocument/2006/relationships/hyperlink" Target="https://github.com/treinart/IBM-Data-Science-Professional-Certificate/blob/main/10_Applied%20Data%20Science%20Capstone/Module%203/01-all-sites-dashboard.png" TargetMode="External"/><Relationship Id="rId8" Type="http://schemas.openxmlformats.org/officeDocument/2006/relationships/hyperlink" Target="https://github.com/treinart/IBM-Data-Science-Professional-Certificate/blob/main/10_Applied%20Data%20Science%20Capstone/Module%203/02-selected-site-dashboard.p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61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78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83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74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82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95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85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dataviz-v2.ipynb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65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68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77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76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80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87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84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89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Relationship Id="rId4" Type="http://schemas.openxmlformats.org/officeDocument/2006/relationships/image" Target="../media/image94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Relationship Id="rId4" Type="http://schemas.openxmlformats.org/officeDocument/2006/relationships/image" Target="../media/image92.png"/><Relationship Id="rId5" Type="http://schemas.openxmlformats.org/officeDocument/2006/relationships/image" Target="../media/image17.png"/><Relationship Id="rId6" Type="http://schemas.openxmlformats.org/officeDocument/2006/relationships/hyperlink" Target="https://github.com/treinart/IBM-Data-Science-Professional-Certificate/blob/main/10_Applied%20Data%20Science%20Capstone/Module%202/jupyter-labs-eda-sql-coursera_sqllite.ipynb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103.png"/><Relationship Id="rId5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Relationship Id="rId6" Type="http://schemas.openxmlformats.org/officeDocument/2006/relationships/image" Target="../media/image96.png"/><Relationship Id="rId7" Type="http://schemas.openxmlformats.org/officeDocument/2006/relationships/image" Target="../media/image98.png"/><Relationship Id="rId8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110.png"/><Relationship Id="rId5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Relationship Id="rId6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107.png"/><Relationship Id="rId5" Type="http://schemas.openxmlformats.org/officeDocument/2006/relationships/hyperlink" Target="https://github.com/treinart/IBM-Data-Science-Professional-Certificate/blob/main/10_Applied%20Data%20Science%20Capstone/Module%203/lab-jupyter-launch-site-location-v2.ipynb" TargetMode="External"/><Relationship Id="rId6" Type="http://schemas.openxmlformats.org/officeDocument/2006/relationships/image" Target="../media/image100.png"/><Relationship Id="rId7" Type="http://schemas.openxmlformats.org/officeDocument/2006/relationships/image" Target="../media/image1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111.png"/><Relationship Id="rId5" Type="http://schemas.openxmlformats.org/officeDocument/2006/relationships/hyperlink" Target="https://spacex-launch-analytics.netlify.app/" TargetMode="External"/><Relationship Id="rId6" Type="http://schemas.openxmlformats.org/officeDocument/2006/relationships/image" Target="../media/image17.png"/><Relationship Id="rId7" Type="http://schemas.openxmlformats.org/officeDocument/2006/relationships/hyperlink" Target="https://github.com/treinart/IBM-Data-Science-Professional-Certificate/blob/main/10_Applied%20Data%20Science%20Capstone/Module%203/spacex-dash-app.py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109.png"/><Relationship Id="rId5" Type="http://schemas.openxmlformats.org/officeDocument/2006/relationships/hyperlink" Target="https://spacex-launch-analytics.netlify.app/" TargetMode="External"/><Relationship Id="rId6" Type="http://schemas.openxmlformats.org/officeDocument/2006/relationships/image" Target="../media/image17.png"/><Relationship Id="rId7" Type="http://schemas.openxmlformats.org/officeDocument/2006/relationships/hyperlink" Target="https://github.com/treinart/IBM-Data-Science-Professional-Certificate/blob/main/10_Applied%20Data%20Science%20Capstone/Module%203/spacex-dash-app.py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115.png"/><Relationship Id="rId5" Type="http://schemas.openxmlformats.org/officeDocument/2006/relationships/hyperlink" Target="https://spacex-launch-analytics.netlify.app/" TargetMode="External"/><Relationship Id="rId6" Type="http://schemas.openxmlformats.org/officeDocument/2006/relationships/image" Target="../media/image17.png"/><Relationship Id="rId7" Type="http://schemas.openxmlformats.org/officeDocument/2006/relationships/hyperlink" Target="https://github.com/treinart/IBM-Data-Science-Professional-Certificate/blob/main/10_Applied%20Data%20Science%20Capstone/Module%203/spacex-dash-app.py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7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Relationship Id="rId4" Type="http://schemas.openxmlformats.org/officeDocument/2006/relationships/image" Target="../media/image118.png"/><Relationship Id="rId5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6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Relationship Id="rId4" Type="http://schemas.openxmlformats.org/officeDocument/2006/relationships/image" Target="../media/image119.png"/><Relationship Id="rId5" Type="http://schemas.openxmlformats.org/officeDocument/2006/relationships/hyperlink" Target="https://github.com/treinart/IBM-Data-Science-Professional-Certificate/blob/main/10_Applied%20Data%20Science%20Capstone/Module%204/SpaceX-Machine-Learning-Prediction-Part-5-v1.ipynb" TargetMode="External"/><Relationship Id="rId6" Type="http://schemas.openxmlformats.org/officeDocument/2006/relationships/image" Target="../media/image61.png"/><Relationship Id="rId7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3476575" y="489525"/>
            <a:ext cx="8000100" cy="1500000"/>
          </a:xfrm>
          <a:prstGeom prst="roundRect">
            <a:avLst>
              <a:gd fmla="val 16667" name="adj"/>
            </a:avLst>
          </a:prstGeom>
          <a:solidFill>
            <a:srgbClr val="042C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899996" y="4764334"/>
            <a:ext cx="251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Travis Reinart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October 18, 2026</a:t>
            </a:r>
            <a:endParaRPr/>
          </a:p>
        </p:txBody>
      </p:sp>
      <p:pic>
        <p:nvPicPr>
          <p:cNvPr descr="IBM Skills Network Logo - Horizontal-noai copy.png" id="88" name="Google Shape;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820" y="676828"/>
            <a:ext cx="2104103" cy="62918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4056625" y="543250"/>
            <a:ext cx="68400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</a:rPr>
              <a:t>SpaceX Falcon 9</a:t>
            </a:r>
            <a:endParaRPr b="1" sz="3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</a:rPr>
              <a:t>First-Stage Landing Prediction</a:t>
            </a:r>
            <a:endParaRPr b="1" sz="3600">
              <a:solidFill>
                <a:srgbClr val="FFFFFF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900000" y="4025000"/>
            <a:ext cx="48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IBM Applied Data Science Capstone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900000" y="4260000"/>
            <a:ext cx="399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</a:rPr>
              <a:t>Final Project Presentation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269455" y="5540000"/>
            <a:ext cx="80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github.com/treinart/IBM-Data-Science-Professional-Certificate</a:t>
            </a:r>
            <a:endParaRPr u="sng">
              <a:solidFill>
                <a:srgbClr val="FFFFFF"/>
              </a:solidFill>
            </a:endParaRPr>
          </a:p>
        </p:txBody>
      </p:sp>
      <p:pic>
        <p:nvPicPr>
          <p:cNvPr id="93" name="Google Shape;93;p15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8081" y="560723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713232" y="438912"/>
            <a:ext cx="6400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0F172A"/>
                </a:solidFill>
              </a:rPr>
              <a:t>Outline</a:t>
            </a:r>
            <a:endParaRPr b="1" sz="3100">
              <a:solidFill>
                <a:srgbClr val="0F172A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315200" y="630936"/>
            <a:ext cx="4142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4748B"/>
                </a:solidFill>
              </a:rPr>
              <a:t>CLICK AN ENTRY TO JUMP TO ITS PAGE</a:t>
            </a:r>
            <a:endParaRPr b="1" sz="1000">
              <a:solidFill>
                <a:srgbClr val="64748B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722376" y="1298448"/>
            <a:ext cx="822900" cy="50400"/>
          </a:xfrm>
          <a:prstGeom prst="rect">
            <a:avLst/>
          </a:prstGeom>
          <a:solidFill>
            <a:srgbClr val="0B49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932688" y="1536192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Executive Summary</a:t>
            </a:r>
            <a:endParaRPr sz="1600">
              <a:solidFill>
                <a:srgbClr val="0F172A"/>
              </a:solidFill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9802368" y="1536192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3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731520" y="1956816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932688" y="2020824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</a:t>
            </a:r>
            <a:endParaRPr sz="1600">
              <a:solidFill>
                <a:srgbClr val="0F172A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9802368" y="2020824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4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31520" y="2441448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932688" y="2505456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Section 1  Methodology</a:t>
            </a:r>
            <a:endParaRPr b="1" sz="1600">
              <a:solidFill>
                <a:srgbClr val="0F172A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9802368" y="2505456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5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731520" y="2926080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932688" y="2990088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Section 2  Insights drawn from EDA</a:t>
            </a:r>
            <a:endParaRPr b="1" sz="1600">
              <a:solidFill>
                <a:srgbClr val="0F172A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9802368" y="2990088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21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731520" y="3410712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932688" y="3474720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Section 3  Launch Sites Proximities Analysis</a:t>
            </a:r>
            <a:endParaRPr b="1" sz="1600">
              <a:solidFill>
                <a:srgbClr val="0F172A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9802368" y="3474720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38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731520" y="3895344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32688" y="3959352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Section 4  Build a Dashboard with Plotly Dash</a:t>
            </a:r>
            <a:endParaRPr b="1" sz="1600">
              <a:solidFill>
                <a:srgbClr val="0F172A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9802368" y="3959352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42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31520" y="4379976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32688" y="4443984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Section 5  Predictive Analysis</a:t>
            </a:r>
            <a:endParaRPr b="1" sz="1600">
              <a:solidFill>
                <a:srgbClr val="0F172A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9802368" y="4443984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46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731520" y="4864608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32688" y="4928616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Conclusion</a:t>
            </a:r>
            <a:endParaRPr sz="1600">
              <a:solidFill>
                <a:srgbClr val="0F172A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802368" y="4928616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49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31520" y="5349240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32688" y="5413248"/>
            <a:ext cx="882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F172A"/>
                </a:solidFill>
                <a:uFill>
                  <a:noFill/>
                </a:uFill>
                <a:hlinkClick action="ppaction://hlinksldjump"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Appendix</a:t>
            </a:r>
            <a:endParaRPr sz="1600">
              <a:solidFill>
                <a:srgbClr val="0F172A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9802368" y="5413248"/>
            <a:ext cx="158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B49C9"/>
                </a:solidFill>
                <a:uFill>
                  <a:noFill/>
                </a:uFill>
                <a:hlinkClick action="ppaction://hlinksldjump"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Page 50</a:t>
            </a:r>
            <a:endParaRPr b="1" sz="1350">
              <a:solidFill>
                <a:srgbClr val="0B49C9"/>
              </a:solidFill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31520" y="5833872"/>
            <a:ext cx="10671000" cy="111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1018520" y="6190488"/>
            <a:ext cx="384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B49C9"/>
                </a:solidFill>
              </a:rPr>
              <a:t>2</a:t>
            </a:r>
            <a:endParaRPr>
              <a:solidFill>
                <a:srgbClr val="0B49C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685800" y="266700"/>
            <a:ext cx="8229600" cy="43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1" sz="2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85800" y="742950"/>
            <a:ext cx="10820400" cy="400200"/>
          </a:xfrm>
          <a:prstGeom prst="roundRect">
            <a:avLst>
              <a:gd fmla="val 14285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38200" y="742950"/>
            <a:ext cx="10515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Key Finding: </a:t>
            </a:r>
            <a:r>
              <a:rPr b="1" lang="en-US" sz="12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Landing success improved on later flights. The final model identified every success, but only half of failures.</a:t>
            </a:r>
            <a:endParaRPr b="1" sz="125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1257300" y="1257300"/>
            <a:ext cx="333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METHODOLOGY USED</a:t>
            </a:r>
            <a:endParaRPr b="1" sz="95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4991100" y="1257300"/>
            <a:ext cx="571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SUMMARY OF RESULTS</a:t>
            </a:r>
            <a:endParaRPr b="1" sz="95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85800" y="1485900"/>
            <a:ext cx="10820400" cy="457200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257300" y="148590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API collection, web scraping, outcome labeling</a:t>
            </a:r>
            <a:endParaRPr b="1" sz="11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800600" y="1581150"/>
            <a:ext cx="9600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991100" y="1485900"/>
            <a:ext cx="628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90-launch model set: 60 successful landings, 30 unsuccessful outcomes.</a:t>
            </a:r>
            <a:endParaRPr b="0"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85800" y="2000250"/>
            <a:ext cx="10820400" cy="4572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57300" y="200025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Visual EDA by flight, payload, orbit, site and year</a:t>
            </a:r>
            <a:endParaRPr b="1" sz="11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800600" y="2095500"/>
            <a:ext cx="9600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991100" y="2000250"/>
            <a:ext cx="628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Later flights improved. 2019: 9/10; 2020: 16/19. VLEO: 12/14; GTO: 14/27.</a:t>
            </a:r>
            <a:endParaRPr b="0"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85800" y="2514600"/>
            <a:ext cx="10820400" cy="457200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257300" y="251460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SQL queries on sites, payloads, missions and landings</a:t>
            </a:r>
            <a:endParaRPr b="1" sz="11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800600" y="2609850"/>
            <a:ext cx="9600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991100" y="2514600"/>
            <a:ext cx="628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Four sites; NASA (CRS) payload totaled 45,596 kg; first ground-pad success: Dec 22, 2015.</a:t>
            </a:r>
            <a:endParaRPr b="0"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85800" y="3028950"/>
            <a:ext cx="10820400" cy="457200"/>
          </a:xfrm>
          <a:prstGeom prst="roundRect">
            <a:avLst>
              <a:gd fmla="val 1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257300" y="302895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Folium mapping of outcomes and nearby features</a:t>
            </a:r>
            <a:endParaRPr b="1" sz="11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800600" y="3124200"/>
            <a:ext cx="9600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991100" y="3028950"/>
            <a:ext cx="628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Four sites mapped in California and Florida; launch clusters and proximity distances measured.</a:t>
            </a:r>
            <a:endParaRPr b="0"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85800" y="3543300"/>
            <a:ext cx="10820400" cy="457200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257300" y="3543300"/>
            <a:ext cx="342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Dash site and payload filters with pie and scatter views</a:t>
            </a:r>
            <a:endParaRPr b="1" sz="11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800600" y="3638550"/>
            <a:ext cx="9600" cy="266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991100" y="3543300"/>
            <a:ext cx="6286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Dashboard sample: 24 successes across sites; 2,000–6,000 kg range: 18/34 successes.</a:t>
            </a:r>
            <a:endParaRPr b="0" sz="11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85800" y="4323676"/>
            <a:ext cx="10820400" cy="2000100"/>
          </a:xfrm>
          <a:prstGeom prst="roundRect">
            <a:avLst>
              <a:gd fmla="val 761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685800" y="4171950"/>
            <a:ext cx="10820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000500" y="4457700"/>
            <a:ext cx="9600" cy="1409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762750" y="4457700"/>
            <a:ext cx="9600" cy="1409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90450" y="4562475"/>
            <a:ext cx="2762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PREDICTIVE MODELING</a:t>
            </a:r>
            <a:endParaRPr b="1" sz="1450">
              <a:solidFill>
                <a:srgbClr val="93C5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990450" y="4914900"/>
            <a:ext cx="27624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tuned classifiers</a:t>
            </a:r>
            <a:endParaRPr b="1" sz="2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952500" y="5410200"/>
            <a:ext cx="27624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One-hot encoding, scaling, 72/18 split and 10-fold grid search.</a:t>
            </a:r>
            <a:endParaRPr b="0" i="1"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4243425" y="45625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SELECTED SVM</a:t>
            </a:r>
            <a:endParaRPr b="1" sz="1450">
              <a:solidFill>
                <a:srgbClr val="93C5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4188625" y="4848300"/>
            <a:ext cx="2286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6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83.3%</a:t>
            </a:r>
            <a:endParaRPr b="0" sz="336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229100" y="5410350"/>
            <a:ext cx="2286000" cy="57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15/18 test • LR + KNN tied</a:t>
            </a:r>
            <a:endParaRPr b="0" i="1" sz="12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84.8% cross-validation</a:t>
            </a:r>
            <a:endParaRPr b="0" i="1" sz="12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7005675" y="4554563"/>
            <a:ext cx="419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FINAL CLASS RESULTS</a:t>
            </a:r>
            <a:endParaRPr b="1" sz="1450">
              <a:solidFill>
                <a:srgbClr val="93C5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910400" y="4914900"/>
            <a:ext cx="4191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Success (12):</a:t>
            </a:r>
            <a:r>
              <a:rPr b="1" lang="en-US" sz="1350">
                <a:solidFill>
                  <a:srgbClr val="F8FAFC"/>
                </a:solidFill>
              </a:rPr>
              <a:t> precision .80 | recall 1.00 | F1 .89</a:t>
            </a:r>
            <a:endParaRPr b="1" sz="1350">
              <a:solidFill>
                <a:srgbClr val="F8FAFC"/>
              </a:solidFill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910400" y="5299125"/>
            <a:ext cx="4191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Failure (6):</a:t>
            </a:r>
            <a:r>
              <a:rPr b="1" lang="en-US" sz="1350">
                <a:solidFill>
                  <a:srgbClr val="F8FAFC"/>
                </a:solidFill>
              </a:rPr>
              <a:t> precision 1.00 | recall .50 | F1 .67</a:t>
            </a:r>
            <a:endParaRPr b="1" sz="1350">
              <a:solidFill>
                <a:srgbClr val="F8FAFC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910400" y="5683350"/>
            <a:ext cx="419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 false positives • 0 false negatives</a:t>
            </a:r>
            <a:endParaRPr b="1" sz="1350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00100" y="158115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00100" y="20955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00100" y="260985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800100" y="312420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800100" y="3638550"/>
            <a:ext cx="342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11049000" y="636270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/>
        </p:nvSpPr>
        <p:spPr>
          <a:xfrm>
            <a:off x="685800" y="342900"/>
            <a:ext cx="1082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do some Falcon 9 first stages land while others do not?</a:t>
            </a:r>
            <a:endParaRPr b="0" sz="16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18"/>
          <p:cNvGrpSpPr/>
          <p:nvPr/>
        </p:nvGrpSpPr>
        <p:grpSpPr>
          <a:xfrm>
            <a:off x="685800" y="1333500"/>
            <a:ext cx="3810000" cy="4953000"/>
            <a:chOff x="0" y="0"/>
            <a:chExt cx="3810000" cy="4953000"/>
          </a:xfrm>
        </p:grpSpPr>
        <p:sp>
          <p:nvSpPr>
            <p:cNvPr id="185" name="Google Shape;185;p18"/>
            <p:cNvSpPr/>
            <p:nvPr/>
          </p:nvSpPr>
          <p:spPr>
            <a:xfrm>
              <a:off x="0" y="0"/>
              <a:ext cx="3810000" cy="4953000"/>
            </a:xfrm>
            <a:prstGeom prst="roundRect">
              <a:avLst>
                <a:gd fmla="val 4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266700" y="266700"/>
              <a:ext cx="3276600" cy="44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3C5FD"/>
                  </a:solidFill>
                  <a:latin typeface="Arial"/>
                  <a:ea typeface="Arial"/>
                  <a:cs typeface="Arial"/>
                  <a:sym typeface="Arial"/>
                </a:rPr>
                <a:t>THE WORK BEHIND THIS DECK</a:t>
              </a:r>
              <a:endParaRPr b="1" sz="16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8FAFC"/>
                  </a:solidFill>
                </a:rPr>
                <a:t>I worked through the launch records to see whether flight history, payload, orbit, and launch site had anything to do with the landing result.</a:t>
              </a:r>
              <a:endParaRPr b="1" sz="1600">
                <a:solidFill>
                  <a:srgbClr val="F8FAFC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</a:rPr>
                <a:t>I checked the records with charts and SQL, mapped the launch sites, built a dashboard, and tested four prediction models.</a:t>
              </a:r>
              <a:endParaRPr b="1" sz="16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</a:rPr>
                <a:t>This presentation shows what I found and where the models still missed.</a:t>
              </a:r>
              <a:endParaRPr b="1" sz="1600">
                <a:solidFill>
                  <a:schemeClr val="lt1"/>
                </a:solidFill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4724400" y="1333500"/>
            <a:ext cx="6781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WHAT I WANTED TO FIND OUT</a:t>
            </a:r>
            <a:endParaRPr b="1" sz="105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18"/>
          <p:cNvGrpSpPr/>
          <p:nvPr/>
        </p:nvGrpSpPr>
        <p:grpSpPr>
          <a:xfrm>
            <a:off x="4724400" y="1714500"/>
            <a:ext cx="3276600" cy="2190900"/>
            <a:chOff x="0" y="0"/>
            <a:chExt cx="3276600" cy="2190900"/>
          </a:xfrm>
        </p:grpSpPr>
        <p:sp>
          <p:nvSpPr>
            <p:cNvPr id="189" name="Google Shape;189;p18"/>
            <p:cNvSpPr/>
            <p:nvPr/>
          </p:nvSpPr>
          <p:spPr>
            <a:xfrm>
              <a:off x="0" y="0"/>
              <a:ext cx="3276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228600" y="2286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22860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228600" y="762000"/>
              <a:ext cx="28194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Did successful landings become more common as Falcon 9 flew more missions?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18"/>
          <p:cNvGrpSpPr/>
          <p:nvPr/>
        </p:nvGrpSpPr>
        <p:grpSpPr>
          <a:xfrm>
            <a:off x="8229600" y="1714500"/>
            <a:ext cx="3276600" cy="2190900"/>
            <a:chOff x="0" y="0"/>
            <a:chExt cx="3276600" cy="2190900"/>
          </a:xfrm>
        </p:grpSpPr>
        <p:sp>
          <p:nvSpPr>
            <p:cNvPr id="194" name="Google Shape;194;p18"/>
            <p:cNvSpPr/>
            <p:nvPr/>
          </p:nvSpPr>
          <p:spPr>
            <a:xfrm>
              <a:off x="0" y="0"/>
              <a:ext cx="3276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228600" y="2286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22860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228600" y="762000"/>
              <a:ext cx="28194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Did outcomes differ by payload, orbit, booster, or launch site?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4724400" y="4095750"/>
            <a:ext cx="3276600" cy="2190900"/>
            <a:chOff x="0" y="0"/>
            <a:chExt cx="3276600" cy="2190900"/>
          </a:xfrm>
        </p:grpSpPr>
        <p:sp>
          <p:nvSpPr>
            <p:cNvPr id="199" name="Google Shape;199;p18"/>
            <p:cNvSpPr/>
            <p:nvPr/>
          </p:nvSpPr>
          <p:spPr>
            <a:xfrm>
              <a:off x="0" y="0"/>
              <a:ext cx="3276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228600" y="2286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22860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228600" y="762000"/>
              <a:ext cx="28194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What did the SQL results and maps reveal that the charts alone could not?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8229600" y="4095750"/>
            <a:ext cx="3276600" cy="2190900"/>
            <a:chOff x="0" y="0"/>
            <a:chExt cx="3276600" cy="21909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32766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228600" y="2286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22860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228600" y="762000"/>
              <a:ext cx="2819400" cy="12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How well could the models identify both successful and unsuccessful landings?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18"/>
          <p:cNvSpPr txBox="1"/>
          <p:nvPr/>
        </p:nvSpPr>
        <p:spPr>
          <a:xfrm>
            <a:off x="11125200" y="6400800"/>
            <a:ext cx="38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idx="12" type="sldNum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/>
        </p:nvSpPr>
        <p:spPr>
          <a:xfrm>
            <a:off x="685800" y="40005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Methodology Executive Summary</a:t>
            </a:r>
            <a:endParaRPr b="1" sz="28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Structured 5-stage data science pipeline from raw flight records to tested landing models</a:t>
            </a:r>
            <a:endParaRPr b="0" sz="14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685800" y="1257300"/>
            <a:ext cx="10820400" cy="304800"/>
            <a:chOff x="0" y="0"/>
            <a:chExt cx="10820400" cy="304800"/>
          </a:xfrm>
        </p:grpSpPr>
        <p:sp>
          <p:nvSpPr>
            <p:cNvPr id="222" name="Google Shape;222;p20"/>
            <p:cNvSpPr/>
            <p:nvPr/>
          </p:nvSpPr>
          <p:spPr>
            <a:xfrm>
              <a:off x="0" y="0"/>
              <a:ext cx="10820400" cy="304800"/>
            </a:xfrm>
            <a:prstGeom prst="roundRect">
              <a:avLst>
                <a:gd fmla="val 1875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190500" y="0"/>
              <a:ext cx="1905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STAGE / PHASE</a:t>
              </a:r>
              <a:endParaRPr b="1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2286000" y="0"/>
              <a:ext cx="523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METHODOLOGY &amp; KEY ACTIVITIES</a:t>
              </a:r>
              <a:endParaRPr b="1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7715250" y="0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TOOLS &amp; LIBRARIES</a:t>
              </a:r>
              <a:endParaRPr b="1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685800" y="1638300"/>
            <a:ext cx="10820400" cy="800100"/>
            <a:chOff x="0" y="0"/>
            <a:chExt cx="10820400" cy="800100"/>
          </a:xfrm>
        </p:grpSpPr>
        <p:sp>
          <p:nvSpPr>
            <p:cNvPr id="227" name="Google Shape;227;p20"/>
            <p:cNvSpPr/>
            <p:nvPr/>
          </p:nvSpPr>
          <p:spPr>
            <a:xfrm>
              <a:off x="0" y="0"/>
              <a:ext cx="10820400" cy="8001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152400" y="1714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152400" y="1714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742950" y="0"/>
              <a:ext cx="142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COLLECT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2286000" y="0"/>
              <a:ext cx="523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Fetched SpaceX launch records via REST API and scraped archived Falcon 9 launch tables from Wikipedia.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" name="Google Shape;232;p20"/>
            <p:cNvGrpSpPr/>
            <p:nvPr/>
          </p:nvGrpSpPr>
          <p:grpSpPr>
            <a:xfrm>
              <a:off x="7715250" y="228600"/>
              <a:ext cx="2667150" cy="342900"/>
              <a:chOff x="0" y="0"/>
              <a:chExt cx="2667150" cy="342900"/>
            </a:xfrm>
          </p:grpSpPr>
          <p:sp>
            <p:nvSpPr>
              <p:cNvPr id="233" name="Google Shape;233;p20"/>
              <p:cNvSpPr/>
              <p:nvPr/>
            </p:nvSpPr>
            <p:spPr>
              <a:xfrm>
                <a:off x="0" y="0"/>
                <a:ext cx="11430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34" name="Google Shape;234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200" y="66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20"/>
              <p:cNvSpPr txBox="1"/>
              <p:nvPr/>
            </p:nvSpPr>
            <p:spPr>
              <a:xfrm>
                <a:off x="323850" y="0"/>
                <a:ext cx="762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Requests</a:t>
                </a:r>
                <a:endParaRPr b="1" sz="9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1238250" y="0"/>
                <a:ext cx="1428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37" name="Google Shape;237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314450" y="66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" name="Google Shape;238;p20"/>
              <p:cNvSpPr txBox="1"/>
              <p:nvPr/>
            </p:nvSpPr>
            <p:spPr>
              <a:xfrm>
                <a:off x="1562100" y="0"/>
                <a:ext cx="1047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Beautiful Soup</a:t>
                </a:r>
                <a:endParaRPr b="1" sz="9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9" name="Google Shape;239;p20"/>
          <p:cNvGrpSpPr/>
          <p:nvPr/>
        </p:nvGrpSpPr>
        <p:grpSpPr>
          <a:xfrm>
            <a:off x="685800" y="2533650"/>
            <a:ext cx="10820400" cy="800100"/>
            <a:chOff x="0" y="0"/>
            <a:chExt cx="10820400" cy="800100"/>
          </a:xfrm>
        </p:grpSpPr>
        <p:sp>
          <p:nvSpPr>
            <p:cNvPr id="240" name="Google Shape;240;p20"/>
            <p:cNvSpPr/>
            <p:nvPr/>
          </p:nvSpPr>
          <p:spPr>
            <a:xfrm>
              <a:off x="0" y="0"/>
              <a:ext cx="10820400" cy="8001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52400" y="1714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152400" y="1714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742950" y="0"/>
              <a:ext cx="142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WRANGLE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2286000" y="0"/>
              <a:ext cx="523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Filtered Falcon 9 flights, imputed missing payload mass by mean, and encoded binary landing outcomes (0/1).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5" name="Google Shape;245;p20"/>
            <p:cNvGrpSpPr/>
            <p:nvPr/>
          </p:nvGrpSpPr>
          <p:grpSpPr>
            <a:xfrm>
              <a:off x="7715250" y="228600"/>
              <a:ext cx="2190900" cy="342900"/>
              <a:chOff x="0" y="0"/>
              <a:chExt cx="2190900" cy="3429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0" y="0"/>
                <a:ext cx="1047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47" name="Google Shape;247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0" y="66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" name="Google Shape;248;p20"/>
              <p:cNvSpPr txBox="1"/>
              <p:nvPr/>
            </p:nvSpPr>
            <p:spPr>
              <a:xfrm>
                <a:off x="323850" y="0"/>
                <a:ext cx="666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Pandas</a:t>
                </a:r>
                <a:endParaRPr b="1" sz="9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1143000" y="0"/>
                <a:ext cx="1047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50" name="Google Shape;250;p2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219200" y="66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p20"/>
              <p:cNvSpPr txBox="1"/>
              <p:nvPr/>
            </p:nvSpPr>
            <p:spPr>
              <a:xfrm>
                <a:off x="1466850" y="0"/>
                <a:ext cx="666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NumPy</a:t>
                </a:r>
                <a:endParaRPr b="1" sz="9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2" name="Google Shape;252;p20"/>
          <p:cNvGrpSpPr/>
          <p:nvPr/>
        </p:nvGrpSpPr>
        <p:grpSpPr>
          <a:xfrm>
            <a:off x="685800" y="3429000"/>
            <a:ext cx="10820400" cy="800100"/>
            <a:chOff x="0" y="0"/>
            <a:chExt cx="10820400" cy="800100"/>
          </a:xfrm>
        </p:grpSpPr>
        <p:sp>
          <p:nvSpPr>
            <p:cNvPr id="253" name="Google Shape;253;p20"/>
            <p:cNvSpPr/>
            <p:nvPr/>
          </p:nvSpPr>
          <p:spPr>
            <a:xfrm>
              <a:off x="0" y="0"/>
              <a:ext cx="10820400" cy="8001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152400" y="1714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152400" y="1714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742950" y="0"/>
              <a:ext cx="142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EDA + SQL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2286000" y="0"/>
              <a:ext cx="523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Analyzed flight correlations by launch site, orbit, and payload mass using statistical queries and visual plots.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20"/>
            <p:cNvGrpSpPr/>
            <p:nvPr/>
          </p:nvGrpSpPr>
          <p:grpSpPr>
            <a:xfrm>
              <a:off x="7715250" y="228600"/>
              <a:ext cx="2800425" cy="342900"/>
              <a:chOff x="0" y="0"/>
              <a:chExt cx="2800425" cy="342900"/>
            </a:xfrm>
          </p:grpSpPr>
          <p:sp>
            <p:nvSpPr>
              <p:cNvPr id="259" name="Google Shape;259;p20"/>
              <p:cNvSpPr/>
              <p:nvPr/>
            </p:nvSpPr>
            <p:spPr>
              <a:xfrm>
                <a:off x="0" y="0"/>
                <a:ext cx="9717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0" name="Google Shape;260;p2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6200" y="762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1" name="Google Shape;261;p20"/>
              <p:cNvSpPr txBox="1"/>
              <p:nvPr/>
            </p:nvSpPr>
            <p:spPr>
              <a:xfrm>
                <a:off x="304800" y="0"/>
                <a:ext cx="619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Matplotlib</a:t>
                </a:r>
                <a:endParaRPr b="1" sz="9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0"/>
              <p:cNvSpPr/>
              <p:nvPr/>
            </p:nvSpPr>
            <p:spPr>
              <a:xfrm>
                <a:off x="1028700" y="0"/>
                <a:ext cx="9048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3" name="Google Shape;263;p20"/>
              <p:cNvPicPr preferRelativeResize="0"/>
              <p:nvPr/>
            </p:nvPicPr>
            <p:blipFill rotWithShape="1">
              <a:blip r:embed="rId9">
                <a:alphaModFix/>
              </a:blip>
              <a:srcRect b="0" l="2345" r="2345" t="0"/>
              <a:stretch/>
            </p:blipFill>
            <p:spPr>
              <a:xfrm>
                <a:off x="1104900" y="762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4" name="Google Shape;264;p20"/>
              <p:cNvSpPr txBox="1"/>
              <p:nvPr/>
            </p:nvSpPr>
            <p:spPr>
              <a:xfrm>
                <a:off x="1333500" y="0"/>
                <a:ext cx="571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Seaborn</a:t>
                </a:r>
                <a:endParaRPr b="1" sz="9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0"/>
              <p:cNvSpPr/>
              <p:nvPr/>
            </p:nvSpPr>
            <p:spPr>
              <a:xfrm>
                <a:off x="1990725" y="0"/>
                <a:ext cx="8097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66" name="Google Shape;266;p2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066925" y="762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20"/>
              <p:cNvSpPr txBox="1"/>
              <p:nvPr/>
            </p:nvSpPr>
            <p:spPr>
              <a:xfrm>
                <a:off x="2295525" y="0"/>
                <a:ext cx="476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SQLite</a:t>
                </a:r>
                <a:endParaRPr b="1" sz="9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8" name="Google Shape;268;p20"/>
          <p:cNvGrpSpPr/>
          <p:nvPr/>
        </p:nvGrpSpPr>
        <p:grpSpPr>
          <a:xfrm>
            <a:off x="685800" y="4324350"/>
            <a:ext cx="10820400" cy="800100"/>
            <a:chOff x="0" y="0"/>
            <a:chExt cx="10820400" cy="800100"/>
          </a:xfrm>
        </p:grpSpPr>
        <p:sp>
          <p:nvSpPr>
            <p:cNvPr id="269" name="Google Shape;269;p20"/>
            <p:cNvSpPr/>
            <p:nvPr/>
          </p:nvSpPr>
          <p:spPr>
            <a:xfrm>
              <a:off x="0" y="0"/>
              <a:ext cx="10820400" cy="8001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152400" y="1714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152400" y="1714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742950" y="0"/>
              <a:ext cx="142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MAP + DASH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0"/>
            <p:cNvSpPr txBox="1"/>
            <p:nvPr/>
          </p:nvSpPr>
          <p:spPr>
            <a:xfrm>
              <a:off x="2286000" y="0"/>
              <a:ext cx="523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Built interactive maps of launch sites, landing outcomes, and coastal distances alongside real-time payload filters.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" name="Google Shape;274;p20"/>
            <p:cNvGrpSpPr/>
            <p:nvPr/>
          </p:nvGrpSpPr>
          <p:grpSpPr>
            <a:xfrm>
              <a:off x="7715250" y="228600"/>
              <a:ext cx="2514600" cy="342900"/>
              <a:chOff x="0" y="0"/>
              <a:chExt cx="2514600" cy="342900"/>
            </a:xfrm>
          </p:grpSpPr>
          <p:sp>
            <p:nvSpPr>
              <p:cNvPr id="275" name="Google Shape;275;p20"/>
              <p:cNvSpPr/>
              <p:nvPr/>
            </p:nvSpPr>
            <p:spPr>
              <a:xfrm>
                <a:off x="0" y="0"/>
                <a:ext cx="8382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76" name="Google Shape;276;p2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6200" y="762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20"/>
              <p:cNvSpPr txBox="1"/>
              <p:nvPr/>
            </p:nvSpPr>
            <p:spPr>
              <a:xfrm>
                <a:off x="304800" y="0"/>
                <a:ext cx="476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Folium</a:t>
                </a:r>
                <a:endParaRPr b="1" sz="9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895350" y="0"/>
                <a:ext cx="8001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79" name="Google Shape;279;p2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971550" y="762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20"/>
              <p:cNvSpPr txBox="1"/>
              <p:nvPr/>
            </p:nvSpPr>
            <p:spPr>
              <a:xfrm>
                <a:off x="1200150" y="0"/>
                <a:ext cx="457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Plotly</a:t>
                </a:r>
                <a:endParaRPr b="1" sz="9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1752600" y="0"/>
                <a:ext cx="7620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82" name="Google Shape;282;p2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1828800" y="762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" name="Google Shape;283;p20"/>
              <p:cNvSpPr txBox="1"/>
              <p:nvPr/>
            </p:nvSpPr>
            <p:spPr>
              <a:xfrm>
                <a:off x="2057400" y="0"/>
                <a:ext cx="419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Dash</a:t>
                </a:r>
                <a:endParaRPr b="1" sz="9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4" name="Google Shape;284;p20"/>
          <p:cNvGrpSpPr/>
          <p:nvPr/>
        </p:nvGrpSpPr>
        <p:grpSpPr>
          <a:xfrm>
            <a:off x="685800" y="5219700"/>
            <a:ext cx="10820400" cy="800100"/>
            <a:chOff x="0" y="0"/>
            <a:chExt cx="10820400" cy="800100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10820400" cy="800100"/>
            </a:xfrm>
            <a:prstGeom prst="roundRect">
              <a:avLst>
                <a:gd fmla="val 1428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152400" y="1714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152400" y="17145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0"/>
            <p:cNvSpPr txBox="1"/>
            <p:nvPr/>
          </p:nvSpPr>
          <p:spPr>
            <a:xfrm>
              <a:off x="742950" y="0"/>
              <a:ext cx="142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PREDICT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0"/>
            <p:cNvSpPr txBox="1"/>
            <p:nvPr/>
          </p:nvSpPr>
          <p:spPr>
            <a:xfrm>
              <a:off x="2286000" y="0"/>
              <a:ext cx="52389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Standardized features, tuned 4 classifiers (Logistic Regression, SVM, Decision Tree, KNN) via 10-fold CV, and evaluated test accuracy.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0" name="Google Shape;290;p20"/>
            <p:cNvGrpSpPr/>
            <p:nvPr/>
          </p:nvGrpSpPr>
          <p:grpSpPr>
            <a:xfrm>
              <a:off x="7715250" y="228600"/>
              <a:ext cx="1428900" cy="342900"/>
              <a:chOff x="0" y="0"/>
              <a:chExt cx="1428900" cy="342900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0" y="0"/>
                <a:ext cx="1428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92" name="Google Shape;292;p20"/>
              <p:cNvPicPr preferRelativeResize="0"/>
              <p:nvPr/>
            </p:nvPicPr>
            <p:blipFill rotWithShape="1">
              <a:blip r:embed="rId14">
                <a:alphaModFix/>
              </a:blip>
              <a:srcRect b="1105" l="0" r="0" t="1115"/>
              <a:stretch/>
            </p:blipFill>
            <p:spPr>
              <a:xfrm>
                <a:off x="76200" y="66675"/>
                <a:ext cx="3429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3" name="Google Shape;293;p20"/>
              <p:cNvSpPr txBox="1"/>
              <p:nvPr/>
            </p:nvSpPr>
            <p:spPr>
              <a:xfrm>
                <a:off x="457200" y="0"/>
                <a:ext cx="9048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scikit-learn</a:t>
                </a:r>
                <a:endParaRPr b="1" sz="9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4" name="Google Shape;294;p20"/>
          <p:cNvSpPr txBox="1"/>
          <p:nvPr/>
        </p:nvSpPr>
        <p:spPr>
          <a:xfrm>
            <a:off x="11125200" y="6305550"/>
            <a:ext cx="38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 txBox="1"/>
          <p:nvPr/>
        </p:nvSpPr>
        <p:spPr>
          <a:xfrm>
            <a:off x="685800" y="361950"/>
            <a:ext cx="108204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the Launch Datasets Were Collected</a:t>
            </a:r>
            <a:endParaRPr b="1" sz="259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3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Structured dual-pipeline strategy combining official REST API retrieval and HTML table scraping</a:t>
            </a:r>
            <a:endParaRPr b="0" sz="1203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85800" y="1143000"/>
            <a:ext cx="10820400" cy="33813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21"/>
          <p:cNvPicPr preferRelativeResize="0"/>
          <p:nvPr/>
        </p:nvPicPr>
        <p:blipFill rotWithShape="1">
          <a:blip r:embed="rId4">
            <a:alphaModFix/>
          </a:blip>
          <a:srcRect b="9430" l="0" r="0" t="7782"/>
          <a:stretch/>
        </p:blipFill>
        <p:spPr>
          <a:xfrm>
            <a:off x="762000" y="1190625"/>
            <a:ext cx="10668000" cy="3286200"/>
          </a:xfrm>
          <a:prstGeom prst="roundRect">
            <a:avLst>
              <a:gd fmla="val 2318" name="adj"/>
            </a:avLst>
          </a:prstGeom>
          <a:noFill/>
          <a:ln>
            <a:noFill/>
          </a:ln>
        </p:spPr>
      </p:pic>
      <p:grpSp>
        <p:nvGrpSpPr>
          <p:cNvPr id="302" name="Google Shape;302;p21"/>
          <p:cNvGrpSpPr/>
          <p:nvPr/>
        </p:nvGrpSpPr>
        <p:grpSpPr>
          <a:xfrm>
            <a:off x="685800" y="4686300"/>
            <a:ext cx="5295900" cy="1447800"/>
            <a:chOff x="0" y="0"/>
            <a:chExt cx="5295900" cy="1447800"/>
          </a:xfrm>
        </p:grpSpPr>
        <p:sp>
          <p:nvSpPr>
            <p:cNvPr id="303" name="Google Shape;303;p21"/>
            <p:cNvSpPr/>
            <p:nvPr/>
          </p:nvSpPr>
          <p:spPr>
            <a:xfrm>
              <a:off x="0" y="0"/>
              <a:ext cx="5295900" cy="1447800"/>
            </a:xfrm>
            <a:prstGeom prst="roundRect">
              <a:avLst>
                <a:gd fmla="val 657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0" y="0"/>
              <a:ext cx="5295900" cy="57300"/>
            </a:xfrm>
            <a:prstGeom prst="roundRect">
              <a:avLst>
                <a:gd fmla="val 50000" name="adj"/>
              </a:avLst>
            </a:prstGeom>
            <a:solidFill>
              <a:srgbClr val="1550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190500" y="152400"/>
              <a:ext cx="49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550C7"/>
                  </a:solidFill>
                  <a:latin typeface="Arial"/>
                  <a:ea typeface="Arial"/>
                  <a:cs typeface="Arial"/>
                  <a:sym typeface="Arial"/>
                </a:rPr>
                <a:t>SPACEX API PIPELINE</a:t>
              </a:r>
              <a:endParaRPr b="1" sz="1100">
                <a:solidFill>
                  <a:srgbClr val="1550C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Notebook: </a:t>
              </a:r>
              <a:r>
                <a:rPr b="1" lang="en-US" sz="1000" u="sng">
                  <a:solidFill>
                    <a:srgbClr val="1550C7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jupyter-labs-spacex-data-collection-api-v2.ipynb</a:t>
              </a:r>
              <a:endParaRPr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Output File: </a:t>
              </a:r>
              <a:r>
                <a:rPr lang="en-US" sz="1000" u="sng">
                  <a:solidFill>
                    <a:srgbClr val="1550C7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dataset_part_1.csv</a:t>
              </a:r>
              <a:r>
                <a:rPr lang="en-US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(90 rows × 17 fields)</a:t>
              </a:r>
              <a:endParaRPr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21"/>
          <p:cNvGrpSpPr/>
          <p:nvPr/>
        </p:nvGrpSpPr>
        <p:grpSpPr>
          <a:xfrm>
            <a:off x="6210300" y="4686300"/>
            <a:ext cx="5295900" cy="1447800"/>
            <a:chOff x="0" y="0"/>
            <a:chExt cx="5295900" cy="1447800"/>
          </a:xfrm>
        </p:grpSpPr>
        <p:sp>
          <p:nvSpPr>
            <p:cNvPr id="307" name="Google Shape;307;p21"/>
            <p:cNvSpPr/>
            <p:nvPr/>
          </p:nvSpPr>
          <p:spPr>
            <a:xfrm>
              <a:off x="0" y="0"/>
              <a:ext cx="5295900" cy="1447800"/>
            </a:xfrm>
            <a:prstGeom prst="roundRect">
              <a:avLst>
                <a:gd fmla="val 6578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0" y="0"/>
              <a:ext cx="5295900" cy="57300"/>
            </a:xfrm>
            <a:prstGeom prst="roundRect">
              <a:avLst>
                <a:gd fmla="val 50000" name="adj"/>
              </a:avLst>
            </a:prstGeom>
            <a:solidFill>
              <a:srgbClr val="007F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1"/>
            <p:cNvSpPr txBox="1"/>
            <p:nvPr/>
          </p:nvSpPr>
          <p:spPr>
            <a:xfrm>
              <a:off x="190500" y="152400"/>
              <a:ext cx="49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7F88"/>
                  </a:solidFill>
                  <a:latin typeface="Arial"/>
                  <a:ea typeface="Arial"/>
                  <a:cs typeface="Arial"/>
                  <a:sym typeface="Arial"/>
                </a:rPr>
                <a:t>WEB SCRAPING PIPELINE</a:t>
              </a:r>
              <a:endParaRPr b="1" sz="1100">
                <a:solidFill>
                  <a:srgbClr val="007F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Notebook: </a:t>
              </a:r>
              <a:r>
                <a:rPr b="1" lang="en-US" sz="1000" u="sng">
                  <a:solidFill>
                    <a:srgbClr val="007F88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jupyter-labs-webscraping.ipynb</a:t>
              </a:r>
              <a:endParaRPr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Output File: </a:t>
              </a:r>
              <a:r>
                <a:rPr lang="en-US" sz="1000" u="sng">
                  <a:solidFill>
                    <a:srgbClr val="007F88"/>
                  </a:solidFill>
                  <a:latin typeface="Arial"/>
                  <a:ea typeface="Arial"/>
                  <a:cs typeface="Arial"/>
                  <a:sym typeface="Arial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spacex_web_scraped.csv</a:t>
              </a:r>
              <a:r>
                <a:rPr lang="en-US" sz="10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(121 rows × 11 fields)</a:t>
              </a:r>
              <a:endParaRPr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0" name="Google Shape;31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5638800"/>
            <a:ext cx="209700" cy="2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5638800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1"/>
          <p:cNvSpPr txBox="1"/>
          <p:nvPr>
            <p:ph idx="12" type="sldNum"/>
          </p:nvPr>
        </p:nvSpPr>
        <p:spPr>
          <a:xfrm>
            <a:off x="11125200" y="63055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>
            <p:ph idx="12" type="sldNum"/>
          </p:nvPr>
        </p:nvSpPr>
        <p:spPr>
          <a:xfrm>
            <a:off x="8801702" y="6047306"/>
            <a:ext cx="2743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Collection – SpaceX API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850000" y="1382278"/>
            <a:ext cx="50499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850000" y="1382278"/>
            <a:ext cx="5049900" cy="51900"/>
          </a:xfrm>
          <a:prstGeom prst="rect">
            <a:avLst/>
          </a:prstGeom>
          <a:solidFill>
            <a:srgbClr val="0B4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1100000" y="1492278"/>
            <a:ext cx="440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49CB"/>
                </a:solidFill>
              </a:rPr>
              <a:t>KEY PHRASES</a:t>
            </a:r>
            <a:endParaRPr b="1" sz="1200">
              <a:solidFill>
                <a:srgbClr val="0B49CB"/>
              </a:solidFill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1100000" y="1792278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B49CB"/>
                </a:solidFill>
              </a:rPr>
              <a:t>PRIMARY CALL</a:t>
            </a:r>
            <a:endParaRPr b="1" sz="1050">
              <a:solidFill>
                <a:srgbClr val="0B49CB"/>
              </a:solidFill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1100000" y="1967278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GET /v4/launches/past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1100000" y="2332278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B49CB"/>
                </a:solidFill>
              </a:rPr>
              <a:t>RECORD PREP</a:t>
            </a:r>
            <a:endParaRPr b="1" sz="1050">
              <a:solidFill>
                <a:srgbClr val="0B49CB"/>
              </a:solidFill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1100000" y="2507278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Normalize JSON; one core and one payload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26" name="Google Shape;326;p22"/>
          <p:cNvSpPr txBox="1"/>
          <p:nvPr/>
        </p:nvSpPr>
        <p:spPr>
          <a:xfrm>
            <a:off x="1100000" y="2872278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B49CB"/>
                </a:solidFill>
              </a:rPr>
              <a:t>LINKED LOOKUPS</a:t>
            </a:r>
            <a:endParaRPr b="1" sz="1050">
              <a:solidFill>
                <a:srgbClr val="0B49CB"/>
              </a:solidFill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1100000" y="3047278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Rocket, launchpad, payload, and core IDs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1100000" y="3412278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B49CB"/>
                </a:solidFill>
              </a:rPr>
              <a:t>TARGET OUTPUT</a:t>
            </a:r>
            <a:endParaRPr b="1" sz="1050">
              <a:solidFill>
                <a:srgbClr val="0B49CB"/>
              </a:solidFill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1100000" y="3587278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Falcon 9 launch table → dataset_part_1.csv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1143390" y="4099283"/>
            <a:ext cx="1040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u="sng">
                <a:solidFill>
                  <a:srgbClr val="0B49CB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https://github.com/treinart/IBM-Data-Science-Professional-Certificate/blob/main/10_Applied%20Data%20Science%20Capstone/Module%201/jupyter-labs-spacex-data-collection-api-v2.ipynb</a:t>
            </a:r>
            <a:endParaRPr sz="930" u="sng">
              <a:solidFill>
                <a:srgbClr val="0B49CB"/>
              </a:solidFill>
            </a:endParaRPr>
          </a:p>
        </p:txBody>
      </p:sp>
      <p:pic>
        <p:nvPicPr>
          <p:cNvPr id="331" name="Google Shape;3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659" y="4381882"/>
            <a:ext cx="10396681" cy="1848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7600" y="1338800"/>
            <a:ext cx="3897050" cy="28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2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3540" y="4111087"/>
            <a:ext cx="240000" cy="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Collection – Web Scraping</a:t>
            </a:r>
            <a:endParaRPr b="1" i="0" sz="40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6250000" y="1380000"/>
            <a:ext cx="50499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6250000" y="1380000"/>
            <a:ext cx="5049900" cy="51900"/>
          </a:xfrm>
          <a:prstGeom prst="rect">
            <a:avLst/>
          </a:prstGeom>
          <a:solidFill>
            <a:srgbClr val="007F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6500000" y="1490000"/>
            <a:ext cx="440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F88"/>
                </a:solidFill>
              </a:rPr>
              <a:t>KEY PHRASES</a:t>
            </a:r>
            <a:endParaRPr b="1" sz="1200">
              <a:solidFill>
                <a:srgbClr val="007F88"/>
              </a:solidFill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6500000" y="179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F88"/>
                </a:solidFill>
              </a:rPr>
              <a:t>SOURCE PAGE</a:t>
            </a:r>
            <a:endParaRPr b="1" sz="1050">
              <a:solidFill>
                <a:srgbClr val="007F88"/>
              </a:solidFill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6500000" y="196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Archived Falcon 9 and Falcon Heavy launches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6500000" y="233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F88"/>
                </a:solidFill>
              </a:rPr>
              <a:t>REQUEST + PARSE</a:t>
            </a:r>
            <a:endParaRPr b="1" sz="1050">
              <a:solidFill>
                <a:srgbClr val="007F88"/>
              </a:solidFill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6500000" y="250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requests.get() and BeautifulSoup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6500000" y="287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F88"/>
                </a:solidFill>
              </a:rPr>
              <a:t>TABLE EXTRACTION</a:t>
            </a:r>
            <a:endParaRPr b="1" sz="1050">
              <a:solidFill>
                <a:srgbClr val="007F88"/>
              </a:solidFill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6500000" y="304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Read launch table headers and rows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6500000" y="341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F88"/>
                </a:solidFill>
              </a:rPr>
              <a:t>SAVED RESULT</a:t>
            </a:r>
            <a:endParaRPr b="1" sz="1050">
              <a:solidFill>
                <a:srgbClr val="007F88"/>
              </a:solidFill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6500000" y="358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121 records · 11 fields · CSV export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1230000" y="4281262"/>
            <a:ext cx="101001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u="sng">
                <a:solidFill>
                  <a:srgbClr val="007F8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https://github.com/treinart/IBM-Data-Science-Professional-Certificate/blob/main/10_Applied%20Data%20Science%20Capstone/Module%201/jupyter-labs-webscraping.ipynb</a:t>
            </a:r>
            <a:endParaRPr sz="930" u="sng">
              <a:solidFill>
                <a:srgbClr val="007F88"/>
              </a:solidFill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850000" y="4530000"/>
            <a:ext cx="104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F88"/>
                </a:solidFill>
              </a:rPr>
              <a:t>NOTEBOOK OUTPUT  ·  FIRST FIVE SCRAPED LAUNCHES</a:t>
            </a:r>
            <a:endParaRPr b="1" sz="1050">
              <a:solidFill>
                <a:srgbClr val="007F88"/>
              </a:solidFill>
            </a:endParaRPr>
          </a:p>
        </p:txBody>
      </p:sp>
      <p:pic>
        <p:nvPicPr>
          <p:cNvPr id="353" name="Google Shape;35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000" y="4780132"/>
            <a:ext cx="10399999" cy="146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000" y="4294727"/>
            <a:ext cx="240000" cy="2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03127" y="1380000"/>
            <a:ext cx="3991676" cy="296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Wrangling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850000" y="1380000"/>
            <a:ext cx="5049900" cy="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850000" y="1380000"/>
            <a:ext cx="5049900" cy="519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1100000" y="1490000"/>
            <a:ext cx="440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45309"/>
                </a:solidFill>
              </a:rPr>
              <a:t>KEY PHRASES</a:t>
            </a:r>
            <a:endParaRPr b="1" sz="1200">
              <a:solidFill>
                <a:srgbClr val="B45309"/>
              </a:solidFill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1100000" y="179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309"/>
                </a:solidFill>
              </a:rPr>
              <a:t>INPUT</a:t>
            </a:r>
            <a:endParaRPr b="1" sz="1050">
              <a:solidFill>
                <a:srgbClr val="B45309"/>
              </a:solidFill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1100000" y="196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dataset_part_1.csv · 90 Falcon 9 launches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1100000" y="233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309"/>
                </a:solidFill>
              </a:rPr>
              <a:t>DATA CHECKS</a:t>
            </a:r>
            <a:endParaRPr b="1" sz="1050">
              <a:solidFill>
                <a:srgbClr val="B45309"/>
              </a:solidFill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1100000" y="250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Missing values, data types, site and orbit counts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1100000" y="287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309"/>
                </a:solidFill>
              </a:rPr>
              <a:t>LANDING TARGET</a:t>
            </a:r>
            <a:endParaRPr b="1" sz="1050">
              <a:solidFill>
                <a:srgbClr val="B45309"/>
              </a:solidFill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1100000" y="304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Outcome → Class: 1 success, 0 otherwise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1100000" y="3410000"/>
            <a:ext cx="435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309"/>
                </a:solidFill>
              </a:rPr>
              <a:t>OUTPUT</a:t>
            </a:r>
            <a:endParaRPr b="1" sz="1050">
              <a:solidFill>
                <a:srgbClr val="B45309"/>
              </a:solidFill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1100000" y="3585000"/>
            <a:ext cx="4449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233247"/>
                </a:solidFill>
              </a:rPr>
              <a:t>dataset_part_2.csv · 90 rows, 18 fields</a:t>
            </a:r>
            <a:endParaRPr sz="1420">
              <a:solidFill>
                <a:srgbClr val="233247"/>
              </a:solidFill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1230000" y="4140000"/>
            <a:ext cx="10342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u="sng">
                <a:solidFill>
                  <a:srgbClr val="B4530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https://github.com/treinart/IBM-Data-Science-Professional-Certificate/blob/main/10_Applied%20Data%20Science%20Capstone/Module%201/labs-jupyter-spacex-Data%20wrangling-v2.ipynb</a:t>
            </a:r>
            <a:endParaRPr sz="930" u="sng">
              <a:solidFill>
                <a:srgbClr val="B45309"/>
              </a:solidFill>
            </a:endParaRPr>
          </a:p>
        </p:txBody>
      </p:sp>
      <p:pic>
        <p:nvPicPr>
          <p:cNvPr id="374" name="Google Shape;3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9575" y="4552303"/>
            <a:ext cx="9876451" cy="203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000" y="4110000"/>
            <a:ext cx="240000" cy="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4"/>
          <p:cNvSpPr txBox="1"/>
          <p:nvPr/>
        </p:nvSpPr>
        <p:spPr>
          <a:xfrm>
            <a:off x="850000" y="4302203"/>
            <a:ext cx="104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309"/>
                </a:solidFill>
              </a:rPr>
              <a:t>NOTEBOOK OUTPUT  ·  FIRST TEN WRANGLED LAUNCHES</a:t>
            </a:r>
            <a:endParaRPr b="1" sz="1050">
              <a:solidFill>
                <a:srgbClr val="B45309"/>
              </a:solidFill>
            </a:endParaRPr>
          </a:p>
        </p:txBody>
      </p:sp>
      <p:pic>
        <p:nvPicPr>
          <p:cNvPr id="377" name="Google Shape;377;p24"/>
          <p:cNvPicPr preferRelativeResize="0"/>
          <p:nvPr/>
        </p:nvPicPr>
        <p:blipFill rotWithShape="1">
          <a:blip r:embed="rId8">
            <a:alphaModFix/>
          </a:blip>
          <a:srcRect b="0" l="3119" r="2949" t="0"/>
          <a:stretch/>
        </p:blipFill>
        <p:spPr>
          <a:xfrm>
            <a:off x="6258975" y="1353825"/>
            <a:ext cx="4791024" cy="2870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 txBox="1"/>
          <p:nvPr/>
        </p:nvSpPr>
        <p:spPr>
          <a:xfrm>
            <a:off x="762000" y="400050"/>
            <a:ext cx="1066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EDA with Data Visualization</a:t>
            </a:r>
            <a:endParaRPr b="1" sz="30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p25"/>
          <p:cNvGrpSpPr/>
          <p:nvPr/>
        </p:nvGrpSpPr>
        <p:grpSpPr>
          <a:xfrm>
            <a:off x="762000" y="952500"/>
            <a:ext cx="10668000" cy="2800500"/>
            <a:chOff x="762000" y="952500"/>
            <a:chExt cx="10668000" cy="2800500"/>
          </a:xfrm>
        </p:grpSpPr>
        <p:sp>
          <p:nvSpPr>
            <p:cNvPr id="384" name="Google Shape;384;p25"/>
            <p:cNvSpPr/>
            <p:nvPr/>
          </p:nvSpPr>
          <p:spPr>
            <a:xfrm>
              <a:off x="762000" y="952500"/>
              <a:ext cx="10668000" cy="266700"/>
            </a:xfrm>
            <a:prstGeom prst="roundRect">
              <a:avLst>
                <a:gd fmla="val 14285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5"/>
            <p:cNvSpPr txBox="1"/>
            <p:nvPr/>
          </p:nvSpPr>
          <p:spPr>
            <a:xfrm>
              <a:off x="914400" y="952500"/>
              <a:ext cx="2571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CHART TITLE</a:t>
              </a:r>
              <a:endParaRPr b="1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5"/>
            <p:cNvSpPr txBox="1"/>
            <p:nvPr/>
          </p:nvSpPr>
          <p:spPr>
            <a:xfrm>
              <a:off x="3619500" y="952500"/>
              <a:ext cx="1143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CHART TYPE</a:t>
              </a:r>
              <a:endParaRPr b="1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5"/>
            <p:cNvSpPr txBox="1"/>
            <p:nvPr/>
          </p:nvSpPr>
          <p:spPr>
            <a:xfrm>
              <a:off x="4953000" y="952500"/>
              <a:ext cx="6286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REASON FOR USING IT</a:t>
              </a:r>
              <a:endParaRPr b="1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8" name="Google Shape;388;p25"/>
            <p:cNvGrpSpPr/>
            <p:nvPr/>
          </p:nvGrpSpPr>
          <p:grpSpPr>
            <a:xfrm>
              <a:off x="762000" y="1257300"/>
              <a:ext cx="10668000" cy="324000"/>
              <a:chOff x="0" y="0"/>
              <a:chExt cx="10668000" cy="324000"/>
            </a:xfrm>
          </p:grpSpPr>
          <p:sp>
            <p:nvSpPr>
              <p:cNvPr id="389" name="Google Shape;389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Flight Number vs. Payload Mass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Scatter plot</a:t>
                </a:r>
                <a:endParaRPr b="1" sz="85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Keeps each launch visible across flight order and payload weight; grouping the data would hide individual landing outcomes.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25"/>
            <p:cNvGrpSpPr/>
            <p:nvPr/>
          </p:nvGrpSpPr>
          <p:grpSpPr>
            <a:xfrm>
              <a:off x="762000" y="1619250"/>
              <a:ext cx="10668000" cy="324000"/>
              <a:chOff x="0" y="0"/>
              <a:chExt cx="10668000" cy="324000"/>
            </a:xfrm>
          </p:grpSpPr>
          <p:sp>
            <p:nvSpPr>
              <p:cNvPr id="395" name="Google Shape;395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Flight Number by Launch Site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Scatter plot</a:t>
                </a:r>
                <a:endParaRPr b="1" sz="85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Separates each site’s flight history so the overall trend does not stand in for every site.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25"/>
            <p:cNvGrpSpPr/>
            <p:nvPr/>
          </p:nvGrpSpPr>
          <p:grpSpPr>
            <a:xfrm>
              <a:off x="762000" y="1981200"/>
              <a:ext cx="10668000" cy="324000"/>
              <a:chOff x="0" y="0"/>
              <a:chExt cx="10668000" cy="324000"/>
            </a:xfrm>
          </p:grpSpPr>
          <p:sp>
            <p:nvSpPr>
              <p:cNvPr id="401" name="Google Shape;401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Payload Mass by Launch Site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Scatter plot</a:t>
                </a:r>
                <a:endParaRPr b="1" sz="85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Shows the payload range at each site; an average would conceal which weights were never flown there.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" name="Google Shape;406;p25"/>
            <p:cNvGrpSpPr/>
            <p:nvPr/>
          </p:nvGrpSpPr>
          <p:grpSpPr>
            <a:xfrm>
              <a:off x="762000" y="2343150"/>
              <a:ext cx="10668000" cy="324000"/>
              <a:chOff x="0" y="0"/>
              <a:chExt cx="10668000" cy="324000"/>
            </a:xfrm>
          </p:grpSpPr>
          <p:sp>
            <p:nvSpPr>
              <p:cNvPr id="407" name="Google Shape;407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Average Landing Success Rate by Orbit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059669"/>
                    </a:solidFill>
                    <a:latin typeface="Arial"/>
                    <a:ea typeface="Arial"/>
                    <a:cs typeface="Arial"/>
                    <a:sym typeface="Arial"/>
                  </a:rPr>
                  <a:t>Bar chart</a:t>
                </a:r>
                <a:endParaRPr b="1" sz="85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Orbit types are separate categories, so bars put their success rates on a common scale.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25"/>
            <p:cNvGrpSpPr/>
            <p:nvPr/>
          </p:nvGrpSpPr>
          <p:grpSpPr>
            <a:xfrm>
              <a:off x="762000" y="2705100"/>
              <a:ext cx="10668000" cy="324000"/>
              <a:chOff x="0" y="0"/>
              <a:chExt cx="10668000" cy="324000"/>
            </a:xfrm>
          </p:grpSpPr>
          <p:sp>
            <p:nvSpPr>
              <p:cNvPr id="413" name="Google Shape;413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Flight Number by Orbit Type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Scatter plot</a:t>
                </a:r>
                <a:endParaRPr b="1" sz="85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Shows whether the pattern across later flights holds within each orbit type.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8" name="Google Shape;418;p25"/>
            <p:cNvGrpSpPr/>
            <p:nvPr/>
          </p:nvGrpSpPr>
          <p:grpSpPr>
            <a:xfrm>
              <a:off x="762000" y="3067050"/>
              <a:ext cx="10668000" cy="324000"/>
              <a:chOff x="0" y="0"/>
              <a:chExt cx="10668000" cy="324000"/>
            </a:xfrm>
          </p:grpSpPr>
          <p:sp>
            <p:nvSpPr>
              <p:cNvPr id="419" name="Google Shape;419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Payload Mass by Orbit Type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1D4ED8"/>
                    </a:solidFill>
                    <a:latin typeface="Arial"/>
                    <a:ea typeface="Arial"/>
                    <a:cs typeface="Arial"/>
                    <a:sym typeface="Arial"/>
                  </a:rPr>
                  <a:t>Scatter plot</a:t>
                </a:r>
                <a:endParaRPr b="1" sz="85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Keeps the payload ranges of different orbit types separate when reading landing outcomes.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25"/>
            <p:cNvGrpSpPr/>
            <p:nvPr/>
          </p:nvGrpSpPr>
          <p:grpSpPr>
            <a:xfrm>
              <a:off x="762000" y="3429000"/>
              <a:ext cx="10668000" cy="324000"/>
              <a:chOff x="0" y="0"/>
              <a:chExt cx="10668000" cy="324000"/>
            </a:xfrm>
          </p:grpSpPr>
          <p:sp>
            <p:nvSpPr>
              <p:cNvPr id="425" name="Google Shape;425;p25"/>
              <p:cNvSpPr/>
              <p:nvPr/>
            </p:nvSpPr>
            <p:spPr>
              <a:xfrm>
                <a:off x="0" y="0"/>
                <a:ext cx="106680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5"/>
              <p:cNvSpPr txBox="1"/>
              <p:nvPr/>
            </p:nvSpPr>
            <p:spPr>
              <a:xfrm>
                <a:off x="152400" y="0"/>
                <a:ext cx="25719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Average Landing Success Rate by Year</a:t>
                </a:r>
                <a:endParaRPr b="1" sz="9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5"/>
              <p:cNvSpPr/>
              <p:nvPr/>
            </p:nvSpPr>
            <p:spPr>
              <a:xfrm>
                <a:off x="2857500" y="57150"/>
                <a:ext cx="9525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F5F3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5"/>
              <p:cNvSpPr txBox="1"/>
              <p:nvPr/>
            </p:nvSpPr>
            <p:spPr>
              <a:xfrm>
                <a:off x="2857500" y="57150"/>
                <a:ext cx="952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50">
                    <a:solidFill>
                      <a:srgbClr val="7C3AED"/>
                    </a:solidFill>
                    <a:latin typeface="Arial"/>
                    <a:ea typeface="Arial"/>
                    <a:cs typeface="Arial"/>
                    <a:sym typeface="Arial"/>
                  </a:rPr>
                  <a:t>Line chart</a:t>
                </a:r>
                <a:endParaRPr b="1" sz="850">
                  <a:solidFill>
                    <a:srgbClr val="7C3AE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5"/>
              <p:cNvSpPr txBox="1"/>
              <p:nvPr/>
            </p:nvSpPr>
            <p:spPr>
              <a:xfrm>
                <a:off x="4191000" y="0"/>
                <a:ext cx="6286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Years have an order; the line shows changes and reversals in the annual rate.</a:t>
                </a:r>
                <a:endParaRPr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0" name="Google Shape;430;p25"/>
          <p:cNvGrpSpPr/>
          <p:nvPr/>
        </p:nvGrpSpPr>
        <p:grpSpPr>
          <a:xfrm>
            <a:off x="762000" y="3886200"/>
            <a:ext cx="10668000" cy="2305200"/>
            <a:chOff x="0" y="0"/>
            <a:chExt cx="10668000" cy="2305200"/>
          </a:xfrm>
        </p:grpSpPr>
        <p:sp>
          <p:nvSpPr>
            <p:cNvPr id="431" name="Google Shape;431;p25"/>
            <p:cNvSpPr/>
            <p:nvPr/>
          </p:nvSpPr>
          <p:spPr>
            <a:xfrm>
              <a:off x="0" y="0"/>
              <a:ext cx="10668000" cy="2305200"/>
            </a:xfrm>
            <a:prstGeom prst="roundRect">
              <a:avLst>
                <a:gd fmla="val 3305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5"/>
            <p:cNvSpPr txBox="1"/>
            <p:nvPr/>
          </p:nvSpPr>
          <p:spPr>
            <a:xfrm>
              <a:off x="152400" y="7620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SAMPLE OUTPUT · FLIGHT NUMBER VS. PAYLOAD MASS</a:t>
              </a:r>
              <a:endParaRPr b="1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3" name="Google Shape;433;p25"/>
          <p:cNvPicPr preferRelativeResize="0"/>
          <p:nvPr/>
        </p:nvPicPr>
        <p:blipFill rotWithShape="1">
          <a:blip r:embed="rId4">
            <a:alphaModFix/>
          </a:blip>
          <a:srcRect b="1437" l="0" r="0" t="1447"/>
          <a:stretch/>
        </p:blipFill>
        <p:spPr>
          <a:xfrm>
            <a:off x="838200" y="4114800"/>
            <a:ext cx="10515600" cy="20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3436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5"/>
          <p:cNvSpPr txBox="1"/>
          <p:nvPr/>
        </p:nvSpPr>
        <p:spPr>
          <a:xfrm>
            <a:off x="952500" y="6362700"/>
            <a:ext cx="10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10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11049000" y="628650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1" sz="13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"/>
          <p:cNvSpPr txBox="1"/>
          <p:nvPr/>
        </p:nvSpPr>
        <p:spPr>
          <a:xfrm>
            <a:off x="762000" y="457200"/>
            <a:ext cx="10668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EDA with SQL</a:t>
            </a:r>
            <a:endParaRPr b="1" sz="296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26"/>
          <p:cNvGrpSpPr/>
          <p:nvPr/>
        </p:nvGrpSpPr>
        <p:grpSpPr>
          <a:xfrm>
            <a:off x="762000" y="1095375"/>
            <a:ext cx="10668000" cy="4381500"/>
            <a:chOff x="762000" y="1095375"/>
            <a:chExt cx="10668000" cy="4381500"/>
          </a:xfrm>
        </p:grpSpPr>
        <p:grpSp>
          <p:nvGrpSpPr>
            <p:cNvPr id="443" name="Google Shape;443;p26"/>
            <p:cNvGrpSpPr/>
            <p:nvPr/>
          </p:nvGrpSpPr>
          <p:grpSpPr>
            <a:xfrm>
              <a:off x="762000" y="1095375"/>
              <a:ext cx="5143500" cy="4381500"/>
              <a:chOff x="0" y="0"/>
              <a:chExt cx="5143500" cy="4381500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0" y="0"/>
                <a:ext cx="5143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1E40A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 txBox="1"/>
              <p:nvPr/>
            </p:nvSpPr>
            <p:spPr>
              <a:xfrm>
                <a:off x="152400" y="0"/>
                <a:ext cx="48387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QUERIES 1–5</a:t>
                </a:r>
                <a:endPara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6" name="Google Shape;446;p26"/>
              <p:cNvGrpSpPr/>
              <p:nvPr/>
            </p:nvGrpSpPr>
            <p:grpSpPr>
              <a:xfrm>
                <a:off x="0" y="457200"/>
                <a:ext cx="5143500" cy="723900"/>
                <a:chOff x="0" y="0"/>
                <a:chExt cx="5143500" cy="723900"/>
              </a:xfrm>
            </p:grpSpPr>
            <p:sp>
              <p:nvSpPr>
                <p:cNvPr id="447" name="Google Shape;447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EFF6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1E40A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01</a:t>
                  </a:r>
                  <a:endParaRPr b="1" sz="1100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 distinct launch sites with </a:t>
                  </a:r>
                  <a:r>
                    <a:rPr b="1" lang="en-US" sz="1150">
                      <a:solidFill>
                        <a:srgbClr val="1E40AF"/>
                      </a:solidFill>
                      <a:highlight>
                        <a:srgbClr val="EFF6FF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SELECT DISTINCT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1" name="Google Shape;451;p26"/>
              <p:cNvGrpSpPr/>
              <p:nvPr/>
            </p:nvGrpSpPr>
            <p:grpSpPr>
              <a:xfrm>
                <a:off x="0" y="1257300"/>
                <a:ext cx="5143500" cy="723900"/>
                <a:chOff x="0" y="0"/>
                <a:chExt cx="5143500" cy="723900"/>
              </a:xfrm>
            </p:grpSpPr>
            <p:sp>
              <p:nvSpPr>
                <p:cNvPr id="452" name="Google Shape;452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EFF6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1E40A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02</a:t>
                  </a:r>
                  <a:endParaRPr b="1" sz="1100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Return five launch records from sites beginning CCA with </a:t>
                  </a:r>
                  <a:r>
                    <a:rPr b="1" lang="en-US" sz="1150">
                      <a:solidFill>
                        <a:srgbClr val="1E40AF"/>
                      </a:solidFill>
                      <a:highlight>
                        <a:srgbClr val="EFF6FF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LIKE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and </a:t>
                  </a:r>
                  <a:r>
                    <a:rPr b="1" lang="en-US" sz="1150">
                      <a:solidFill>
                        <a:srgbClr val="1E40AF"/>
                      </a:solidFill>
                      <a:highlight>
                        <a:srgbClr val="EFF6FF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LIMIT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6" name="Google Shape;456;p26"/>
              <p:cNvGrpSpPr/>
              <p:nvPr/>
            </p:nvGrpSpPr>
            <p:grpSpPr>
              <a:xfrm>
                <a:off x="0" y="2057400"/>
                <a:ext cx="5143500" cy="723900"/>
                <a:chOff x="0" y="0"/>
                <a:chExt cx="5143500" cy="723900"/>
              </a:xfrm>
            </p:grpSpPr>
            <p:sp>
              <p:nvSpPr>
                <p:cNvPr id="457" name="Google Shape;457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EFF6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1E40A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03</a:t>
                  </a:r>
                  <a:endParaRPr b="1" sz="1100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Total NASA (CRS) payload mass with </a:t>
                  </a:r>
                  <a:r>
                    <a:rPr b="1" lang="en-US" sz="1150">
                      <a:solidFill>
                        <a:srgbClr val="1E40AF"/>
                      </a:solidFill>
                      <a:highlight>
                        <a:srgbClr val="EFF6FF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SUM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1" name="Google Shape;461;p26"/>
              <p:cNvGrpSpPr/>
              <p:nvPr/>
            </p:nvGrpSpPr>
            <p:grpSpPr>
              <a:xfrm>
                <a:off x="0" y="2857500"/>
                <a:ext cx="5143500" cy="723900"/>
                <a:chOff x="0" y="0"/>
                <a:chExt cx="5143500" cy="723900"/>
              </a:xfrm>
            </p:grpSpPr>
            <p:sp>
              <p:nvSpPr>
                <p:cNvPr id="462" name="Google Shape;462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EFF6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1E40A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04</a:t>
                  </a:r>
                  <a:endParaRPr b="1" sz="1100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Calculate average F9 v1.1 payload mass with </a:t>
                  </a:r>
                  <a:r>
                    <a:rPr b="1" lang="en-US" sz="1150">
                      <a:solidFill>
                        <a:srgbClr val="1E40AF"/>
                      </a:solidFill>
                      <a:highlight>
                        <a:srgbClr val="EFF6FF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AVG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6" name="Google Shape;466;p26"/>
              <p:cNvGrpSpPr/>
              <p:nvPr/>
            </p:nvGrpSpPr>
            <p:grpSpPr>
              <a:xfrm>
                <a:off x="0" y="3657600"/>
                <a:ext cx="5143500" cy="723900"/>
                <a:chOff x="0" y="0"/>
                <a:chExt cx="5143500" cy="723900"/>
              </a:xfrm>
            </p:grpSpPr>
            <p:sp>
              <p:nvSpPr>
                <p:cNvPr id="467" name="Google Shape;467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8" name="Google Shape;468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EFF6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1E40A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05</a:t>
                  </a:r>
                  <a:endParaRPr b="1" sz="1100">
                    <a:solidFill>
                      <a:srgbClr val="1E40A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Find the first successful ground-pad landing date with </a:t>
                  </a:r>
                  <a:r>
                    <a:rPr b="1" lang="en-US" sz="1150">
                      <a:solidFill>
                        <a:srgbClr val="1E40AF"/>
                      </a:solidFill>
                      <a:highlight>
                        <a:srgbClr val="EFF6FF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MIN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71" name="Google Shape;471;p26"/>
            <p:cNvGrpSpPr/>
            <p:nvPr/>
          </p:nvGrpSpPr>
          <p:grpSpPr>
            <a:xfrm>
              <a:off x="6286500" y="1095375"/>
              <a:ext cx="5143500" cy="4381500"/>
              <a:chOff x="0" y="0"/>
              <a:chExt cx="5143500" cy="4381500"/>
            </a:xfrm>
          </p:grpSpPr>
          <p:sp>
            <p:nvSpPr>
              <p:cNvPr id="472" name="Google Shape;472;p26"/>
              <p:cNvSpPr/>
              <p:nvPr/>
            </p:nvSpPr>
            <p:spPr>
              <a:xfrm>
                <a:off x="0" y="0"/>
                <a:ext cx="5143500" cy="362100"/>
              </a:xfrm>
              <a:prstGeom prst="roundRect">
                <a:avLst>
                  <a:gd fmla="val 15789" name="adj"/>
                </a:avLst>
              </a:prstGeom>
              <a:solidFill>
                <a:srgbClr val="0D94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6"/>
              <p:cNvSpPr txBox="1"/>
              <p:nvPr/>
            </p:nvSpPr>
            <p:spPr>
              <a:xfrm>
                <a:off x="152400" y="0"/>
                <a:ext cx="48387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QUERIES 6–10</a:t>
                </a:r>
                <a:endPara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4" name="Google Shape;474;p26"/>
              <p:cNvGrpSpPr/>
              <p:nvPr/>
            </p:nvGrpSpPr>
            <p:grpSpPr>
              <a:xfrm>
                <a:off x="0" y="457200"/>
                <a:ext cx="5143500" cy="723900"/>
                <a:chOff x="0" y="0"/>
                <a:chExt cx="5143500" cy="723900"/>
              </a:xfrm>
            </p:grpSpPr>
            <p:sp>
              <p:nvSpPr>
                <p:cNvPr id="475" name="Google Shape;475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CCFB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0F76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06</a:t>
                  </a:r>
                  <a:endParaRPr b="1" sz="1100">
                    <a:solidFill>
                      <a:srgbClr val="0F76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List boosters that landed on a drone ship with payloads above 4,000 and below 6,000 kg.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9" name="Google Shape;479;p26"/>
              <p:cNvGrpSpPr/>
              <p:nvPr/>
            </p:nvGrpSpPr>
            <p:grpSpPr>
              <a:xfrm>
                <a:off x="0" y="1257300"/>
                <a:ext cx="5143500" cy="723900"/>
                <a:chOff x="0" y="0"/>
                <a:chExt cx="5143500" cy="723900"/>
              </a:xfrm>
            </p:grpSpPr>
            <p:sp>
              <p:nvSpPr>
                <p:cNvPr id="480" name="Google Shape;480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CCFB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0F76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07</a:t>
                  </a:r>
                  <a:endParaRPr b="1" sz="1100">
                    <a:solidFill>
                      <a:srgbClr val="0F76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Count each mission outcome with </a:t>
                  </a:r>
                  <a:r>
                    <a:rPr b="1" lang="en-US" sz="1150">
                      <a:solidFill>
                        <a:srgbClr val="0F766E"/>
                      </a:solidFill>
                      <a:highlight>
                        <a:srgbClr val="CCFBF1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GROUP BY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and </a:t>
                  </a:r>
                  <a:r>
                    <a:rPr b="1" lang="en-US" sz="1150">
                      <a:solidFill>
                        <a:srgbClr val="0F766E"/>
                      </a:solidFill>
                      <a:highlight>
                        <a:srgbClr val="CCFBF1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COUNT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4" name="Google Shape;484;p26"/>
              <p:cNvGrpSpPr/>
              <p:nvPr/>
            </p:nvGrpSpPr>
            <p:grpSpPr>
              <a:xfrm>
                <a:off x="0" y="2057400"/>
                <a:ext cx="5143500" cy="723900"/>
                <a:chOff x="0" y="0"/>
                <a:chExt cx="5143500" cy="723900"/>
              </a:xfrm>
            </p:grpSpPr>
            <p:sp>
              <p:nvSpPr>
                <p:cNvPr id="485" name="Google Shape;485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CCFB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0F76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08</a:t>
                  </a:r>
                  <a:endParaRPr b="1" sz="1100">
                    <a:solidFill>
                      <a:srgbClr val="0F76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" name="Google Shape;488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Find every booster tied for the maximum payload mass with </a:t>
                  </a:r>
                  <a:r>
                    <a:rPr b="1" lang="en-US" sz="1150">
                      <a:solidFill>
                        <a:srgbClr val="0F766E"/>
                      </a:solidFill>
                      <a:highlight>
                        <a:srgbClr val="CCFBF1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MAX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9" name="Google Shape;489;p26"/>
              <p:cNvGrpSpPr/>
              <p:nvPr/>
            </p:nvGrpSpPr>
            <p:grpSpPr>
              <a:xfrm>
                <a:off x="0" y="2857500"/>
                <a:ext cx="5143500" cy="723900"/>
                <a:chOff x="0" y="0"/>
                <a:chExt cx="5143500" cy="723900"/>
              </a:xfrm>
            </p:grpSpPr>
            <p:sp>
              <p:nvSpPr>
                <p:cNvPr id="490" name="Google Shape;490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CCFB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0F76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09</a:t>
                  </a:r>
                  <a:endParaRPr b="1" sz="1100">
                    <a:solidFill>
                      <a:srgbClr val="0F76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Extract the month, booster and launch site for 2015 drone-ship landing failures.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4" name="Google Shape;494;p26"/>
              <p:cNvGrpSpPr/>
              <p:nvPr/>
            </p:nvGrpSpPr>
            <p:grpSpPr>
              <a:xfrm>
                <a:off x="0" y="3657600"/>
                <a:ext cx="5143500" cy="723900"/>
                <a:chOff x="0" y="0"/>
                <a:chExt cx="5143500" cy="723900"/>
              </a:xfrm>
            </p:grpSpPr>
            <p:sp>
              <p:nvSpPr>
                <p:cNvPr id="495" name="Google Shape;495;p26"/>
                <p:cNvSpPr/>
                <p:nvPr/>
              </p:nvSpPr>
              <p:spPr>
                <a:xfrm>
                  <a:off x="0" y="0"/>
                  <a:ext cx="5143500" cy="723900"/>
                </a:xfrm>
                <a:prstGeom prst="roundRect">
                  <a:avLst>
                    <a:gd fmla="val 1052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26"/>
                <p:cNvSpPr/>
                <p:nvPr/>
              </p:nvSpPr>
              <p:spPr>
                <a:xfrm>
                  <a:off x="190500" y="209550"/>
                  <a:ext cx="304800" cy="304800"/>
                </a:xfrm>
                <a:prstGeom prst="ellipse">
                  <a:avLst/>
                </a:prstGeom>
                <a:solidFill>
                  <a:srgbClr val="CCFBF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26"/>
                <p:cNvSpPr txBox="1"/>
                <p:nvPr/>
              </p:nvSpPr>
              <p:spPr>
                <a:xfrm>
                  <a:off x="190500" y="209550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0F766E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b="1" sz="1100">
                    <a:solidFill>
                      <a:srgbClr val="0F766E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" name="Google Shape;498;p26"/>
                <p:cNvSpPr txBox="1"/>
                <p:nvPr/>
              </p:nvSpPr>
              <p:spPr>
                <a:xfrm>
                  <a:off x="647700" y="95250"/>
                  <a:ext cx="4343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Count and rank landing outcomes from June 4, 2010 through March 20, 2017 with </a:t>
                  </a:r>
                  <a:r>
                    <a:rPr b="1" lang="en-US" sz="1150">
                      <a:solidFill>
                        <a:srgbClr val="0F766E"/>
                      </a:solidFill>
                      <a:highlight>
                        <a:srgbClr val="CCFBF1"/>
                      </a:highlight>
                      <a:latin typeface="Courier New"/>
                      <a:ea typeface="Courier New"/>
                      <a:cs typeface="Courier New"/>
                      <a:sym typeface="Courier New"/>
                    </a:rPr>
                    <a:t>RANK()</a:t>
                  </a:r>
                  <a:r>
                    <a:rPr lang="en-US" sz="1150">
                      <a:solidFill>
                        <a:srgbClr val="33415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.</a:t>
                  </a:r>
                  <a:endParaRPr sz="11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499" name="Google Shape;4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465" y="589222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6"/>
          <p:cNvSpPr txBox="1"/>
          <p:nvPr/>
        </p:nvSpPr>
        <p:spPr>
          <a:xfrm>
            <a:off x="1039550" y="5913955"/>
            <a:ext cx="1039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9" u="sng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79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6"/>
          <p:cNvSpPr txBox="1"/>
          <p:nvPr>
            <p:ph idx="12" type="sldNum"/>
          </p:nvPr>
        </p:nvSpPr>
        <p:spPr>
          <a:xfrm>
            <a:off x="10953750" y="5962650"/>
            <a:ext cx="4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1" sz="14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"/>
          <p:cNvSpPr txBox="1"/>
          <p:nvPr>
            <p:ph idx="12" type="sldNum"/>
          </p:nvPr>
        </p:nvSpPr>
        <p:spPr>
          <a:xfrm>
            <a:off x="11049000" y="628650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5" u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1105" u="none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762000" y="40005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an Interactive Map with Folium</a:t>
            </a:r>
            <a:endParaRPr b="1" i="0" sz="30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7"/>
          <p:cNvSpPr txBox="1"/>
          <p:nvPr/>
        </p:nvSpPr>
        <p:spPr>
          <a:xfrm>
            <a:off x="1009650" y="6315075"/>
            <a:ext cx="10563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5" u="sng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https://github.com/treinart/IBM-Data-Science-Professional-Certificate/blob/main/10_Applied%20Data%20Science%20Capstone/Module%203/lab-jupyter-launch-site-location-v2.ipynb</a:t>
            </a:r>
            <a:endParaRPr b="0" i="0" sz="965" u="sng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pic>
        <p:nvPicPr>
          <p:cNvPr id="509" name="Google Shape;509;p27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3436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7"/>
          <p:cNvSpPr/>
          <p:nvPr/>
        </p:nvSpPr>
        <p:spPr>
          <a:xfrm>
            <a:off x="762000" y="933450"/>
            <a:ext cx="10668000" cy="266700"/>
          </a:xfrm>
          <a:prstGeom prst="roundRect">
            <a:avLst>
              <a:gd fmla="val 14285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7"/>
          <p:cNvSpPr txBox="1"/>
          <p:nvPr/>
        </p:nvSpPr>
        <p:spPr>
          <a:xfrm>
            <a:off x="914400" y="93345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FOLIUM FEATURE</a:t>
            </a:r>
            <a:endParaRPr b="1" sz="8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3143250" y="933450"/>
            <a:ext cx="14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COMPONENT TYPE</a:t>
            </a:r>
            <a:endParaRPr b="1" sz="8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4762500" y="933450"/>
            <a:ext cx="647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IMPLEMENTATION &amp; REASON</a:t>
            </a:r>
            <a:endParaRPr b="1" sz="8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762000" y="1238250"/>
            <a:ext cx="10668000" cy="314400"/>
          </a:xfrm>
          <a:prstGeom prst="roundRect">
            <a:avLst>
              <a:gd fmla="val 181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7"/>
          <p:cNvSpPr txBox="1"/>
          <p:nvPr/>
        </p:nvSpPr>
        <p:spPr>
          <a:xfrm>
            <a:off x="914400" y="1238250"/>
            <a:ext cx="209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Circles and popups</a:t>
            </a:r>
            <a:endParaRPr b="1" sz="9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3238500" y="1290638"/>
            <a:ext cx="1238400" cy="2097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7"/>
          <p:cNvSpPr txBox="1"/>
          <p:nvPr/>
        </p:nvSpPr>
        <p:spPr>
          <a:xfrm>
            <a:off x="3238500" y="1290638"/>
            <a:ext cx="123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CircleMarker</a:t>
            </a:r>
            <a:endParaRPr b="1" sz="85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7"/>
          <p:cNvSpPr txBox="1"/>
          <p:nvPr/>
        </p:nvSpPr>
        <p:spPr>
          <a:xfrm>
            <a:off x="4762500" y="1238250"/>
            <a:ext cx="6477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Mark four pads with 1 km circles and show each site name on click.</a:t>
            </a:r>
            <a:endParaRPr sz="9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762000" y="1590675"/>
            <a:ext cx="10668000" cy="314400"/>
          </a:xfrm>
          <a:prstGeom prst="roundRect">
            <a:avLst>
              <a:gd fmla="val 181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914400" y="1590675"/>
            <a:ext cx="209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Offset DivIcon labels</a:t>
            </a:r>
            <a:endParaRPr b="1" sz="9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3238500" y="1643063"/>
            <a:ext cx="1238400" cy="209700"/>
          </a:xfrm>
          <a:prstGeom prst="roundRect">
            <a:avLst>
              <a:gd fmla="val 50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7"/>
          <p:cNvSpPr txBox="1"/>
          <p:nvPr/>
        </p:nvSpPr>
        <p:spPr>
          <a:xfrm>
            <a:off x="3238500" y="1643063"/>
            <a:ext cx="123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DivIcon</a:t>
            </a:r>
            <a:endParaRPr b="1" sz="850">
              <a:solidFill>
                <a:srgbClr val="7C3A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7"/>
          <p:cNvSpPr txBox="1"/>
          <p:nvPr/>
        </p:nvSpPr>
        <p:spPr>
          <a:xfrm>
            <a:off x="4762500" y="1590675"/>
            <a:ext cx="6477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Keep pad names visible where Florida sites sit close.</a:t>
            </a:r>
            <a:endParaRPr sz="9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762000" y="1943100"/>
            <a:ext cx="10668000" cy="314400"/>
          </a:xfrm>
          <a:prstGeom prst="roundRect">
            <a:avLst>
              <a:gd fmla="val 181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7"/>
          <p:cNvSpPr txBox="1"/>
          <p:nvPr/>
        </p:nvSpPr>
        <p:spPr>
          <a:xfrm>
            <a:off x="914400" y="1943100"/>
            <a:ext cx="209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MarkerCluster</a:t>
            </a:r>
            <a:endParaRPr b="1" sz="9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3238500" y="1995488"/>
            <a:ext cx="1238400" cy="209700"/>
          </a:xfrm>
          <a:prstGeom prst="roundRect">
            <a:avLst>
              <a:gd fmla="val 5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7"/>
          <p:cNvSpPr txBox="1"/>
          <p:nvPr/>
        </p:nvSpPr>
        <p:spPr>
          <a:xfrm>
            <a:off x="3238500" y="1995488"/>
            <a:ext cx="123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FastMarkerCluster</a:t>
            </a:r>
            <a:endParaRPr b="1" sz="850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 txBox="1"/>
          <p:nvPr/>
        </p:nvSpPr>
        <p:spPr>
          <a:xfrm>
            <a:off x="4762500" y="1943100"/>
            <a:ext cx="6477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Group launches that share pad coordinates so markers remain accessible.</a:t>
            </a:r>
            <a:endParaRPr sz="9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762000" y="2295525"/>
            <a:ext cx="10668000" cy="314400"/>
          </a:xfrm>
          <a:prstGeom prst="roundRect">
            <a:avLst>
              <a:gd fmla="val 181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914400" y="2295525"/>
            <a:ext cx="209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Launch markers and popups</a:t>
            </a:r>
            <a:endParaRPr b="1" sz="9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3238500" y="2347913"/>
            <a:ext cx="1238400" cy="2097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7"/>
          <p:cNvSpPr txBox="1"/>
          <p:nvPr/>
        </p:nvSpPr>
        <p:spPr>
          <a:xfrm>
            <a:off x="3238500" y="2347913"/>
            <a:ext cx="123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Outcome Marker</a:t>
            </a:r>
            <a:endParaRPr b="1" sz="85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"/>
          <p:cNvSpPr txBox="1"/>
          <p:nvPr/>
        </p:nvSpPr>
        <p:spPr>
          <a:xfrm>
            <a:off x="4762500" y="2295525"/>
            <a:ext cx="6477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Show each landing outcome with a green/red icon and identify the launch on click.</a:t>
            </a:r>
            <a:endParaRPr sz="9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762000" y="2647950"/>
            <a:ext cx="10668000" cy="314400"/>
          </a:xfrm>
          <a:prstGeom prst="roundRect">
            <a:avLst>
              <a:gd fmla="val 181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914400" y="2647950"/>
            <a:ext cx="209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MousePosition</a:t>
            </a:r>
            <a:endParaRPr b="1" sz="9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3238500" y="2700338"/>
            <a:ext cx="1238400" cy="20970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3238500" y="2700338"/>
            <a:ext cx="123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Coordinate Plugin</a:t>
            </a:r>
            <a:endParaRPr b="1" sz="850">
              <a:solidFill>
                <a:srgbClr val="1580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7"/>
          <p:cNvSpPr txBox="1"/>
          <p:nvPr/>
        </p:nvSpPr>
        <p:spPr>
          <a:xfrm>
            <a:off x="4762500" y="2647950"/>
            <a:ext cx="6477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Read coordinates for selected coastline, railway, highway and city points.</a:t>
            </a:r>
            <a:endParaRPr sz="9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762000" y="3000375"/>
            <a:ext cx="10668000" cy="314400"/>
          </a:xfrm>
          <a:prstGeom prst="roundRect">
            <a:avLst>
              <a:gd fmla="val 1818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914400" y="3000375"/>
            <a:ext cx="209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Distance labels and PolyLine</a:t>
            </a:r>
            <a:endParaRPr b="1" sz="95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3238500" y="3052763"/>
            <a:ext cx="1238400" cy="2097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7"/>
          <p:cNvSpPr txBox="1"/>
          <p:nvPr/>
        </p:nvSpPr>
        <p:spPr>
          <a:xfrm>
            <a:off x="3238500" y="3052763"/>
            <a:ext cx="1238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PolyLine &amp; Text</a:t>
            </a:r>
            <a:endParaRPr b="1" sz="850">
              <a:solidFill>
                <a:srgbClr val="1D4E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7"/>
          <p:cNvSpPr txBox="1"/>
          <p:nvPr/>
        </p:nvSpPr>
        <p:spPr>
          <a:xfrm>
            <a:off x="4762500" y="3000375"/>
            <a:ext cx="6477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Display calculated kilometres and connect each measured point to its launch pad.</a:t>
            </a:r>
            <a:endParaRPr sz="9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45599" y="3352792"/>
            <a:ext cx="7691100" cy="30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8"/>
          <p:cNvSpPr txBox="1"/>
          <p:nvPr>
            <p:ph idx="12" type="sldNum"/>
          </p:nvPr>
        </p:nvSpPr>
        <p:spPr>
          <a:xfrm>
            <a:off x="10953750" y="6191250"/>
            <a:ext cx="4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1" i="0" sz="1200" u="none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8"/>
          <p:cNvSpPr txBox="1"/>
          <p:nvPr/>
        </p:nvSpPr>
        <p:spPr>
          <a:xfrm>
            <a:off x="762000" y="40005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a Dashboard with Plotly Dash</a:t>
            </a:r>
            <a:endParaRPr b="1" i="0" sz="255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6238875" y="1000125"/>
            <a:ext cx="5191200" cy="50292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8"/>
          <p:cNvSpPr txBox="1"/>
          <p:nvPr/>
        </p:nvSpPr>
        <p:spPr>
          <a:xfrm>
            <a:off x="1009650" y="6257925"/>
            <a:ext cx="10193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sng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https://github.com/treinart/IBM-Data-Science-Professional-Certificate/blob/main/10_Applied%20Data%20Science%20Capstone/Module%203/spacex-dash-app.py</a:t>
            </a:r>
            <a:endParaRPr b="0" i="0" sz="1050" u="sng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pic>
        <p:nvPicPr>
          <p:cNvPr id="553" name="Google Shape;55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7938" y="1112520"/>
            <a:ext cx="4953000" cy="48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8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2865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8"/>
          <p:cNvSpPr txBox="1"/>
          <p:nvPr/>
        </p:nvSpPr>
        <p:spPr>
          <a:xfrm>
            <a:off x="762000" y="914400"/>
            <a:ext cx="5238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sng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Live dashboard: https://spacex-launch-analytics.netlify.app/</a:t>
            </a:r>
            <a:endParaRPr b="1" i="0" sz="1050" u="sng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762000" y="1257300"/>
            <a:ext cx="5238900" cy="857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762000" y="1257300"/>
            <a:ext cx="57300" cy="857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8"/>
          <p:cNvSpPr txBox="1"/>
          <p:nvPr/>
        </p:nvSpPr>
        <p:spPr>
          <a:xfrm>
            <a:off x="933450" y="1304925"/>
            <a:ext cx="4972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Successful launches by site pie chart</a:t>
            </a:r>
            <a:endParaRPr b="1" i="0" sz="1150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933450" y="1543050"/>
            <a:ext cx="4972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Counts successes at each pad to identify which site has the most.</a:t>
            </a:r>
            <a:endParaRPr b="0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762000" y="2190750"/>
            <a:ext cx="5238900" cy="857400"/>
          </a:xfrm>
          <a:prstGeom prst="rect">
            <a:avLst/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762000" y="2190750"/>
            <a:ext cx="57300" cy="857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8"/>
          <p:cNvSpPr txBox="1"/>
          <p:nvPr/>
        </p:nvSpPr>
        <p:spPr>
          <a:xfrm>
            <a:off x="933450" y="2238375"/>
            <a:ext cx="4972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Selected-site outcome pie chart</a:t>
            </a:r>
            <a:endParaRPr b="1" i="0" sz="1150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933450" y="2476500"/>
            <a:ext cx="4972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Shows success versus failure at one pad so its success rate can be assessed.</a:t>
            </a:r>
            <a:endParaRPr b="0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762000" y="3124200"/>
            <a:ext cx="5238900" cy="857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762000" y="3124200"/>
            <a:ext cx="57300" cy="857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8"/>
          <p:cNvSpPr txBox="1"/>
          <p:nvPr/>
        </p:nvSpPr>
        <p:spPr>
          <a:xfrm>
            <a:off x="933450" y="3171825"/>
            <a:ext cx="4972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Payload and outcome scatter plot</a:t>
            </a:r>
            <a:endParaRPr b="1" i="0" sz="1150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 txBox="1"/>
          <p:nvPr/>
        </p:nvSpPr>
        <p:spPr>
          <a:xfrm>
            <a:off x="933450" y="3409950"/>
            <a:ext cx="4972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Plots payload mass against success or failure, with color showing booster category, to inspect how outcomes vary across payloads and boosters.</a:t>
            </a:r>
            <a:endParaRPr b="0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762000" y="4057650"/>
            <a:ext cx="5238900" cy="857400"/>
          </a:xfrm>
          <a:prstGeom prst="rect">
            <a:avLst/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8"/>
          <p:cNvSpPr/>
          <p:nvPr/>
        </p:nvSpPr>
        <p:spPr>
          <a:xfrm>
            <a:off x="762000" y="4057650"/>
            <a:ext cx="57300" cy="8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8"/>
          <p:cNvSpPr txBox="1"/>
          <p:nvPr/>
        </p:nvSpPr>
        <p:spPr>
          <a:xfrm>
            <a:off x="933450" y="4105275"/>
            <a:ext cx="4972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Launch-site dropdown</a:t>
            </a:r>
            <a:endParaRPr b="1" i="0" sz="115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933450" y="4343400"/>
            <a:ext cx="4972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Switches the pie chart between all sites and one site, and filters the scatter plot for that site.</a:t>
            </a:r>
            <a:endParaRPr b="0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762000" y="4991100"/>
            <a:ext cx="5238900" cy="8574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/>
          <p:nvPr/>
        </p:nvSpPr>
        <p:spPr>
          <a:xfrm>
            <a:off x="762000" y="4991100"/>
            <a:ext cx="57300" cy="8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933450" y="5038725"/>
            <a:ext cx="4972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Payload slider and point hover</a:t>
            </a:r>
            <a:endParaRPr b="1" i="0" sz="115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 txBox="1"/>
          <p:nvPr/>
        </p:nvSpPr>
        <p:spPr>
          <a:xfrm>
            <a:off x="933450" y="5276850"/>
            <a:ext cx="4972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3810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Narrows the scatter plot to a mass range; hovering identifies the launch site and booster version behind a point.</a:t>
            </a:r>
            <a:endParaRPr b="0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1" name="Google Shape;581;p29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Predictive Analysis (Classification)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1260000" y="5890345"/>
            <a:ext cx="10615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https://github.com/treinart/IBM-Data-Science-Professional-Certificate/blob/main/10_Applied%20Data%20Science%20Capstone/Module%204/SpaceX-Machine-Learning-Prediction-Part-5-v1.ipynb</a:t>
            </a:r>
            <a:endParaRPr sz="900" u="sng">
              <a:solidFill>
                <a:srgbClr val="0D50CE"/>
              </a:solidFill>
            </a:endParaRPr>
          </a:p>
        </p:txBody>
      </p:sp>
      <p:pic>
        <p:nvPicPr>
          <p:cNvPr id="583" name="Google Shape;583;p2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0000" y="59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9"/>
          <p:cNvSpPr txBox="1"/>
          <p:nvPr/>
        </p:nvSpPr>
        <p:spPr>
          <a:xfrm>
            <a:off x="950000" y="1510000"/>
            <a:ext cx="354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D50CE"/>
                </a:solidFill>
              </a:rPr>
              <a:t>TASK 6  |  SVM GRID SEARCH</a:t>
            </a:r>
            <a:endParaRPr b="1" sz="1150">
              <a:solidFill>
                <a:srgbClr val="0D50CE"/>
              </a:solidFill>
            </a:endParaRPr>
          </a:p>
        </p:txBody>
      </p:sp>
      <p:pic>
        <p:nvPicPr>
          <p:cNvPr id="585" name="Google Shape;58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0000" y="1814646"/>
            <a:ext cx="3550000" cy="352226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29"/>
          <p:cNvSpPr txBox="1"/>
          <p:nvPr/>
        </p:nvSpPr>
        <p:spPr>
          <a:xfrm>
            <a:off x="950000" y="5380000"/>
            <a:ext cx="3549900" cy="2499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84.82% mean cross-validation accuracy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587" name="Google Shape;587;p29"/>
          <p:cNvPicPr preferRelativeResize="0"/>
          <p:nvPr/>
        </p:nvPicPr>
        <p:blipFill rotWithShape="1">
          <a:blip r:embed="rId8">
            <a:alphaModFix/>
          </a:blip>
          <a:srcRect b="2864" l="0" r="0" t="2295"/>
          <a:stretch/>
        </p:blipFill>
        <p:spPr>
          <a:xfrm>
            <a:off x="4713100" y="1416100"/>
            <a:ext cx="6290499" cy="447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0"/>
          <p:cNvSpPr txBox="1"/>
          <p:nvPr/>
        </p:nvSpPr>
        <p:spPr>
          <a:xfrm>
            <a:off x="762000" y="400050"/>
            <a:ext cx="10668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i="0" sz="255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0"/>
          <p:cNvSpPr txBox="1"/>
          <p:nvPr/>
        </p:nvSpPr>
        <p:spPr>
          <a:xfrm>
            <a:off x="10953750" y="6238875"/>
            <a:ext cx="47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1" i="0" sz="840" u="none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762000" y="990600"/>
            <a:ext cx="5191200" cy="24765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6238875" y="990600"/>
            <a:ext cx="5191200" cy="24765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762000" y="3562350"/>
            <a:ext cx="5191200" cy="2476500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933450" y="1066800"/>
            <a:ext cx="49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5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EXPLORATORY ANALYSIS  |  BOOSTER REUSE</a:t>
            </a:r>
            <a:endParaRPr b="1" i="0" sz="735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0"/>
          <p:cNvSpPr txBox="1"/>
          <p:nvPr/>
        </p:nvSpPr>
        <p:spPr>
          <a:xfrm>
            <a:off x="933450" y="1216789"/>
            <a:ext cx="490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1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29/37 reused landed (78.4%); 31/53 not reused (58.5%).</a:t>
            </a:r>
            <a:endParaRPr b="0" i="0" sz="891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0"/>
          <p:cNvSpPr txBox="1"/>
          <p:nvPr/>
        </p:nvSpPr>
        <p:spPr>
          <a:xfrm>
            <a:off x="933450" y="3638550"/>
            <a:ext cx="49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5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PREDICTIVE ANALYSIS  |  MODEL VALIDATION</a:t>
            </a:r>
            <a:endParaRPr b="1" i="0" sz="735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0"/>
          <p:cNvSpPr txBox="1"/>
          <p:nvPr/>
        </p:nvSpPr>
        <p:spPr>
          <a:xfrm>
            <a:off x="933450" y="3799405"/>
            <a:ext cx="490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1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 models tied at 83.3% test; Decision Tree: 83.4% CV → 72.2% test.</a:t>
            </a:r>
            <a:endParaRPr b="0" i="0" sz="891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6238875" y="3562350"/>
            <a:ext cx="5191200" cy="2476500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"/>
          <p:cNvSpPr txBox="1"/>
          <p:nvPr/>
        </p:nvSpPr>
        <p:spPr>
          <a:xfrm>
            <a:off x="1571625" y="6267450"/>
            <a:ext cx="1047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" u="sng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EDA notebook</a:t>
            </a:r>
            <a:endParaRPr b="0" i="0" sz="879" u="sng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604" name="Google Shape;604;p30"/>
          <p:cNvSpPr txBox="1"/>
          <p:nvPr/>
        </p:nvSpPr>
        <p:spPr>
          <a:xfrm>
            <a:off x="2762250" y="6267450"/>
            <a:ext cx="95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" u="sng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 Python</a:t>
            </a:r>
            <a:endParaRPr b="0" i="0" sz="879" u="sng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605" name="Google Shape;605;p30"/>
          <p:cNvSpPr txBox="1"/>
          <p:nvPr/>
        </p:nvSpPr>
        <p:spPr>
          <a:xfrm>
            <a:off x="3857625" y="6267450"/>
            <a:ext cx="109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" u="sng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Live dashboard</a:t>
            </a:r>
            <a:endParaRPr b="0" i="0" sz="879" u="sng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  <a:hlinkClick r:id="rId9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606" name="Google Shape;606;p30"/>
          <p:cNvSpPr txBox="1"/>
          <p:nvPr/>
        </p:nvSpPr>
        <p:spPr>
          <a:xfrm>
            <a:off x="5095875" y="6267450"/>
            <a:ext cx="1047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" u="sng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notebook</a:t>
            </a:r>
            <a:endParaRPr b="0" i="0" sz="879" u="sng" strike="noStrike">
              <a:solidFill>
                <a:srgbClr val="2563EB"/>
              </a:solidFill>
              <a:latin typeface="Arial"/>
              <a:ea typeface="Arial"/>
              <a:cs typeface="Arial"/>
              <a:sym typeface="Arial"/>
              <a:hlinkClick r:id="rId11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607" name="Google Shape;607;p30"/>
          <p:cNvSpPr txBox="1"/>
          <p:nvPr/>
        </p:nvSpPr>
        <p:spPr>
          <a:xfrm>
            <a:off x="6400800" y="3701609"/>
            <a:ext cx="490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1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2,000–6,500 kg filter; hover identifies a launch.</a:t>
            </a:r>
            <a:endParaRPr b="0" i="0" sz="891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0"/>
          <p:cNvSpPr txBox="1"/>
          <p:nvPr/>
        </p:nvSpPr>
        <p:spPr>
          <a:xfrm>
            <a:off x="6400800" y="1066800"/>
            <a:ext cx="49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5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INTERACTIVE DASHBOARD  |  CCAFS SLC-40</a:t>
            </a:r>
            <a:endParaRPr b="1" i="0" sz="735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0"/>
          <p:cNvSpPr txBox="1"/>
          <p:nvPr/>
        </p:nvSpPr>
        <p:spPr>
          <a:xfrm>
            <a:off x="6400800" y="1227655"/>
            <a:ext cx="490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91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 of 7 launches had successful landings.</a:t>
            </a:r>
            <a:endParaRPr b="0" i="0" sz="891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762000" y="990600"/>
            <a:ext cx="57300" cy="2476500"/>
          </a:xfrm>
          <a:prstGeom prst="roundRect">
            <a:avLst>
              <a:gd fmla="val 0" name="adj"/>
            </a:avLst>
          </a:prstGeom>
          <a:solidFill>
            <a:srgbClr val="1E40A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6238875" y="990600"/>
            <a:ext cx="57300" cy="2476500"/>
          </a:xfrm>
          <a:prstGeom prst="roundRect">
            <a:avLst>
              <a:gd fmla="val 0" name="adj"/>
            </a:avLst>
          </a:prstGeom>
          <a:solidFill>
            <a:srgbClr val="1E40A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762000" y="6172200"/>
            <a:ext cx="10668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0"/>
          <p:cNvSpPr/>
          <p:nvPr/>
        </p:nvSpPr>
        <p:spPr>
          <a:xfrm>
            <a:off x="762000" y="3562350"/>
            <a:ext cx="57300" cy="2476500"/>
          </a:xfrm>
          <a:prstGeom prst="roundRect">
            <a:avLst>
              <a:gd fmla="val 0" name="adj"/>
            </a:avLst>
          </a:prstGeom>
          <a:solidFill>
            <a:srgbClr val="1E40A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6238875" y="3562350"/>
            <a:ext cx="57300" cy="2476500"/>
          </a:xfrm>
          <a:prstGeom prst="roundRect">
            <a:avLst>
              <a:gd fmla="val 0" name="adj"/>
            </a:avLst>
          </a:prstGeom>
          <a:solidFill>
            <a:srgbClr val="1E40A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5" name="Google Shape;615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5649" y="1438340"/>
            <a:ext cx="46239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8345" y="4052978"/>
            <a:ext cx="42003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0"/>
          <p:cNvSpPr txBox="1"/>
          <p:nvPr/>
        </p:nvSpPr>
        <p:spPr>
          <a:xfrm>
            <a:off x="6400800" y="3638550"/>
            <a:ext cx="49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5" u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INTERACTIVE DASHBOARD  |  PAYLOAD &amp; SUCCESS</a:t>
            </a:r>
            <a:endParaRPr b="1" i="0" sz="735" u="none" strike="noStrike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3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930873" y="3943350"/>
            <a:ext cx="4043176" cy="1942200"/>
          </a:xfrm>
          <a:prstGeom prst="rect">
            <a:avLst/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19" name="Google Shape;619;p3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930875" y="1515825"/>
            <a:ext cx="3845150" cy="1902299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0" name="Google Shape;620;p3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84534" y="6309084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1"/>
          <p:cNvSpPr txBox="1"/>
          <p:nvPr/>
        </p:nvSpPr>
        <p:spPr>
          <a:xfrm>
            <a:off x="666750" y="438150"/>
            <a:ext cx="10858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Results | EDA and SQL</a:t>
            </a:r>
            <a:endParaRPr b="1" i="0" sz="32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" name="Google Shape;627;p31"/>
          <p:cNvGrpSpPr/>
          <p:nvPr/>
        </p:nvGrpSpPr>
        <p:grpSpPr>
          <a:xfrm>
            <a:off x="7572375" y="1238250"/>
            <a:ext cx="3952800" cy="1428900"/>
            <a:chOff x="0" y="0"/>
            <a:chExt cx="3952800" cy="1428900"/>
          </a:xfrm>
        </p:grpSpPr>
        <p:sp>
          <p:nvSpPr>
            <p:cNvPr id="628" name="Google Shape;628;p31"/>
            <p:cNvSpPr/>
            <p:nvPr/>
          </p:nvSpPr>
          <p:spPr>
            <a:xfrm>
              <a:off x="0" y="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1"/>
            <p:cNvSpPr txBox="1"/>
            <p:nvPr/>
          </p:nvSpPr>
          <p:spPr>
            <a:xfrm>
              <a:off x="228600" y="190500"/>
              <a:ext cx="3495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3C5FD"/>
                  </a:solidFill>
                  <a:latin typeface="Arial"/>
                  <a:ea typeface="Arial"/>
                  <a:cs typeface="Arial"/>
                  <a:sym typeface="Arial"/>
                </a:rPr>
                <a:t>SQL NOTEBOOK MILESTONE</a:t>
              </a:r>
              <a:endParaRPr b="1" sz="1100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December 22, 2015</a:t>
              </a:r>
              <a:endPara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0E7FF"/>
                  </a:solidFill>
                  <a:latin typeface="Arial"/>
                  <a:ea typeface="Arial"/>
                  <a:cs typeface="Arial"/>
                  <a:sym typeface="Arial"/>
                </a:rPr>
                <a:t>First successful ground-pad landing</a:t>
              </a:r>
              <a:endParaRPr b="0" sz="1300">
                <a:solidFill>
                  <a:srgbClr val="E0E7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31"/>
          <p:cNvSpPr txBox="1"/>
          <p:nvPr/>
        </p:nvSpPr>
        <p:spPr>
          <a:xfrm>
            <a:off x="7572375" y="2905125"/>
            <a:ext cx="3952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MISSION OUTCOMES </a:t>
            </a:r>
            <a:r>
              <a:rPr b="0" lang="en-US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(101-ROW SAMPLE)</a:t>
            </a:r>
            <a:endParaRPr b="1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1"/>
          <p:cNvSpPr txBox="1"/>
          <p:nvPr/>
        </p:nvSpPr>
        <p:spPr>
          <a:xfrm>
            <a:off x="323000" y="1642500"/>
            <a:ext cx="6210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50CE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b="1" sz="1100">
              <a:solidFill>
                <a:srgbClr val="0D50C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2" name="Google Shape;632;p31"/>
          <p:cNvGrpSpPr/>
          <p:nvPr/>
        </p:nvGrpSpPr>
        <p:grpSpPr>
          <a:xfrm>
            <a:off x="7572375" y="3238500"/>
            <a:ext cx="3952800" cy="809700"/>
            <a:chOff x="0" y="0"/>
            <a:chExt cx="3952800" cy="809700"/>
          </a:xfrm>
        </p:grpSpPr>
        <p:sp>
          <p:nvSpPr>
            <p:cNvPr id="633" name="Google Shape;633;p31"/>
            <p:cNvSpPr/>
            <p:nvPr/>
          </p:nvSpPr>
          <p:spPr>
            <a:xfrm>
              <a:off x="0" y="0"/>
              <a:ext cx="3952800" cy="809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0" y="0"/>
              <a:ext cx="57300" cy="8097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1"/>
            <p:cNvSpPr txBox="1"/>
            <p:nvPr/>
          </p:nvSpPr>
          <p:spPr>
            <a:xfrm>
              <a:off x="228600" y="0"/>
              <a:ext cx="762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99</a:t>
              </a:r>
              <a:endParaRPr b="1" sz="30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1"/>
            <p:cNvSpPr txBox="1"/>
            <p:nvPr/>
          </p:nvSpPr>
          <p:spPr>
            <a:xfrm>
              <a:off x="1047750" y="0"/>
              <a:ext cx="2714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Success</a:t>
              </a:r>
              <a:endParaRPr b="1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Primary mission objective achieved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p31"/>
          <p:cNvGrpSpPr/>
          <p:nvPr/>
        </p:nvGrpSpPr>
        <p:grpSpPr>
          <a:xfrm>
            <a:off x="7572375" y="4191000"/>
            <a:ext cx="3952800" cy="809700"/>
            <a:chOff x="0" y="0"/>
            <a:chExt cx="3952800" cy="809700"/>
          </a:xfrm>
        </p:grpSpPr>
        <p:sp>
          <p:nvSpPr>
            <p:cNvPr id="638" name="Google Shape;638;p31"/>
            <p:cNvSpPr/>
            <p:nvPr/>
          </p:nvSpPr>
          <p:spPr>
            <a:xfrm>
              <a:off x="0" y="0"/>
              <a:ext cx="3952800" cy="809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0" y="0"/>
              <a:ext cx="57300" cy="809700"/>
            </a:xfrm>
            <a:prstGeom prst="roundRect">
              <a:avLst>
                <a:gd fmla="val 50000" name="adj"/>
              </a:avLst>
            </a:prstGeom>
            <a:solidFill>
              <a:srgbClr val="DC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1"/>
            <p:cNvSpPr txBox="1"/>
            <p:nvPr/>
          </p:nvSpPr>
          <p:spPr>
            <a:xfrm>
              <a:off x="228600" y="0"/>
              <a:ext cx="762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30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1"/>
            <p:cNvSpPr txBox="1"/>
            <p:nvPr/>
          </p:nvSpPr>
          <p:spPr>
            <a:xfrm>
              <a:off x="1047750" y="0"/>
              <a:ext cx="2714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Failure </a:t>
              </a:r>
              <a:r>
                <a:rPr b="0" lang="en-US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(in flight)</a:t>
              </a:r>
              <a:endParaRPr b="1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Loss during ascent phase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2" name="Google Shape;642;p31"/>
          <p:cNvGrpSpPr/>
          <p:nvPr/>
        </p:nvGrpSpPr>
        <p:grpSpPr>
          <a:xfrm>
            <a:off x="7572375" y="5143500"/>
            <a:ext cx="3952800" cy="809700"/>
            <a:chOff x="0" y="0"/>
            <a:chExt cx="3952800" cy="809700"/>
          </a:xfrm>
        </p:grpSpPr>
        <p:sp>
          <p:nvSpPr>
            <p:cNvPr id="643" name="Google Shape;643;p31"/>
            <p:cNvSpPr/>
            <p:nvPr/>
          </p:nvSpPr>
          <p:spPr>
            <a:xfrm>
              <a:off x="0" y="0"/>
              <a:ext cx="3952800" cy="809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1"/>
            <p:cNvSpPr/>
            <p:nvPr/>
          </p:nvSpPr>
          <p:spPr>
            <a:xfrm>
              <a:off x="0" y="0"/>
              <a:ext cx="57300" cy="809700"/>
            </a:xfrm>
            <a:prstGeom prst="roundRect">
              <a:avLst>
                <a:gd fmla="val 5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1"/>
            <p:cNvSpPr txBox="1"/>
            <p:nvPr/>
          </p:nvSpPr>
          <p:spPr>
            <a:xfrm>
              <a:off x="228600" y="0"/>
              <a:ext cx="762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3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1"/>
            <p:cNvSpPr txBox="1"/>
            <p:nvPr/>
          </p:nvSpPr>
          <p:spPr>
            <a:xfrm>
              <a:off x="1047750" y="0"/>
              <a:ext cx="2714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Success </a:t>
              </a: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(payload status unclear)</a:t>
              </a:r>
              <a:endParaRPr b="1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Orbit reached, payload unverified</a:t>
              </a:r>
              <a:endParaRPr b="0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31"/>
          <p:cNvSpPr txBox="1"/>
          <p:nvPr/>
        </p:nvSpPr>
        <p:spPr>
          <a:xfrm>
            <a:off x="10858500" y="6210300"/>
            <a:ext cx="66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8" name="Google Shape;6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000" y="633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1"/>
          <p:cNvSpPr txBox="1"/>
          <p:nvPr/>
        </p:nvSpPr>
        <p:spPr>
          <a:xfrm>
            <a:off x="1260000" y="6260000"/>
            <a:ext cx="999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  <p:sp>
        <p:nvSpPr>
          <p:cNvPr id="650" name="Google Shape;650;p31"/>
          <p:cNvSpPr txBox="1"/>
          <p:nvPr/>
        </p:nvSpPr>
        <p:spPr>
          <a:xfrm>
            <a:off x="1260000" y="6470000"/>
            <a:ext cx="999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  <p:pic>
        <p:nvPicPr>
          <p:cNvPr id="651" name="Google Shape;65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001" y="2023500"/>
            <a:ext cx="7087549" cy="385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2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Results | Folium Map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2"/>
          <p:cNvSpPr txBox="1"/>
          <p:nvPr/>
        </p:nvSpPr>
        <p:spPr>
          <a:xfrm>
            <a:off x="10880000" y="6090000"/>
            <a:ext cx="600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D50CE"/>
                </a:solidFill>
              </a:rPr>
              <a:t>18</a:t>
            </a:r>
            <a:endParaRPr>
              <a:solidFill>
                <a:srgbClr val="0D50CE"/>
              </a:solidFill>
            </a:endParaRPr>
          </a:p>
        </p:txBody>
      </p:sp>
      <p:sp>
        <p:nvSpPr>
          <p:cNvPr id="659" name="Google Shape;659;p32"/>
          <p:cNvSpPr txBox="1"/>
          <p:nvPr/>
        </p:nvSpPr>
        <p:spPr>
          <a:xfrm>
            <a:off x="800000" y="1590000"/>
            <a:ext cx="564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D50CE"/>
                </a:solidFill>
              </a:rPr>
              <a:t>LANDING OUTCOMES AT CCAFS LC-40</a:t>
            </a:r>
            <a:endParaRPr b="1" sz="1600">
              <a:solidFill>
                <a:srgbClr val="0D50CE"/>
              </a:solidFill>
            </a:endParaRPr>
          </a:p>
        </p:txBody>
      </p:sp>
      <p:sp>
        <p:nvSpPr>
          <p:cNvPr id="660" name="Google Shape;660;p32"/>
          <p:cNvSpPr txBox="1"/>
          <p:nvPr/>
        </p:nvSpPr>
        <p:spPr>
          <a:xfrm>
            <a:off x="6860000" y="1590000"/>
            <a:ext cx="459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D50CE"/>
                </a:solidFill>
              </a:rPr>
              <a:t>NEARBY FEATURES (KM)</a:t>
            </a:r>
            <a:endParaRPr b="1" sz="1600">
              <a:solidFill>
                <a:srgbClr val="0D50CE"/>
              </a:solidFill>
            </a:endParaRPr>
          </a:p>
        </p:txBody>
      </p:sp>
      <p:sp>
        <p:nvSpPr>
          <p:cNvPr id="661" name="Google Shape;661;p32"/>
          <p:cNvSpPr txBox="1"/>
          <p:nvPr/>
        </p:nvSpPr>
        <p:spPr>
          <a:xfrm>
            <a:off x="800000" y="5820000"/>
            <a:ext cx="5600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43652"/>
                </a:solidFill>
              </a:rPr>
              <a:t>Green: landing success    Red: landing failure</a:t>
            </a:r>
            <a:endParaRPr sz="1700">
              <a:solidFill>
                <a:srgbClr val="243652"/>
              </a:solidFill>
            </a:endParaRPr>
          </a:p>
        </p:txBody>
      </p:sp>
      <p:sp>
        <p:nvSpPr>
          <p:cNvPr id="662" name="Google Shape;662;p32"/>
          <p:cNvSpPr txBox="1"/>
          <p:nvPr/>
        </p:nvSpPr>
        <p:spPr>
          <a:xfrm>
            <a:off x="6860000" y="4450000"/>
            <a:ext cx="47499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43652"/>
                </a:solidFill>
              </a:rPr>
              <a:t>The selected coast and highway points are less than 1 km from both CCAFS sites.</a:t>
            </a:r>
            <a:endParaRPr b="1" sz="2000">
              <a:solidFill>
                <a:srgbClr val="243652"/>
              </a:solidFill>
            </a:endParaRPr>
          </a:p>
        </p:txBody>
      </p:sp>
      <p:pic>
        <p:nvPicPr>
          <p:cNvPr id="663" name="Google Shape;66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000" y="2120000"/>
            <a:ext cx="5820000" cy="366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0000" y="2110000"/>
            <a:ext cx="4750000" cy="2003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2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https://github.com/treinart/IBM-Data-Science-Professional-Certificate/blob/main/10_Applied%20Data%20Science%20Capstone/Module%203/lab-jupyter-launch-site-location-v2.ipynb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3"/>
          <p:cNvSpPr txBox="1"/>
          <p:nvPr/>
        </p:nvSpPr>
        <p:spPr>
          <a:xfrm>
            <a:off x="666750" y="381000"/>
            <a:ext cx="10858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Results | Interactive Analytics</a:t>
            </a:r>
            <a:endParaRPr b="1" i="0" sz="296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3"/>
          <p:cNvSpPr txBox="1"/>
          <p:nvPr/>
        </p:nvSpPr>
        <p:spPr>
          <a:xfrm>
            <a:off x="666750" y="904875"/>
            <a:ext cx="108585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43652"/>
                </a:solidFill>
                <a:latin typeface="Arial"/>
                <a:ea typeface="Arial"/>
                <a:cs typeface="Arial"/>
                <a:sym typeface="Arial"/>
              </a:rPr>
              <a:t>Changing the site filter changes the landing outcome view.</a:t>
            </a:r>
            <a:endParaRPr b="1" i="0" sz="1800">
              <a:solidFill>
                <a:srgbClr val="2436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33"/>
          <p:cNvGrpSpPr/>
          <p:nvPr/>
        </p:nvGrpSpPr>
        <p:grpSpPr>
          <a:xfrm>
            <a:off x="666750" y="1381125"/>
            <a:ext cx="5238900" cy="4905300"/>
            <a:chOff x="0" y="0"/>
            <a:chExt cx="5238900" cy="4905300"/>
          </a:xfrm>
        </p:grpSpPr>
        <p:sp>
          <p:nvSpPr>
            <p:cNvPr id="675" name="Google Shape;675;p33"/>
            <p:cNvSpPr/>
            <p:nvPr/>
          </p:nvSpPr>
          <p:spPr>
            <a:xfrm>
              <a:off x="0" y="0"/>
              <a:ext cx="5238900" cy="4905300"/>
            </a:xfrm>
            <a:prstGeom prst="roundRect">
              <a:avLst>
                <a:gd fmla="val 23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90500" y="190500"/>
              <a:ext cx="4857900" cy="400200"/>
            </a:xfrm>
            <a:prstGeom prst="roundRect">
              <a:avLst>
                <a:gd fmla="val 14285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3"/>
            <p:cNvSpPr txBox="1"/>
            <p:nvPr/>
          </p:nvSpPr>
          <p:spPr>
            <a:xfrm>
              <a:off x="190500" y="190500"/>
              <a:ext cx="48579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ALL SITES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90500" y="3667125"/>
              <a:ext cx="48579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90500" y="3667125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3"/>
            <p:cNvSpPr txBox="1"/>
            <p:nvPr/>
          </p:nvSpPr>
          <p:spPr>
            <a:xfrm>
              <a:off x="381000" y="3667125"/>
              <a:ext cx="4476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D50CE"/>
                  </a:solidFill>
                  <a:latin typeface="Arial"/>
                  <a:ea typeface="Arial"/>
                  <a:cs typeface="Arial"/>
                  <a:sym typeface="Arial"/>
                </a:rPr>
                <a:t>41.7%</a:t>
              </a:r>
              <a:endParaRPr b="1" sz="2200">
                <a:solidFill>
                  <a:srgbClr val="0D50C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KSC LC-39A accounts for 41.7% of successful landings.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33"/>
          <p:cNvGrpSpPr/>
          <p:nvPr/>
        </p:nvGrpSpPr>
        <p:grpSpPr>
          <a:xfrm>
            <a:off x="6286500" y="1381125"/>
            <a:ext cx="5238900" cy="4905300"/>
            <a:chOff x="0" y="0"/>
            <a:chExt cx="5238900" cy="4905300"/>
          </a:xfrm>
        </p:grpSpPr>
        <p:sp>
          <p:nvSpPr>
            <p:cNvPr id="682" name="Google Shape;682;p33"/>
            <p:cNvSpPr/>
            <p:nvPr/>
          </p:nvSpPr>
          <p:spPr>
            <a:xfrm>
              <a:off x="0" y="0"/>
              <a:ext cx="5238900" cy="4905300"/>
            </a:xfrm>
            <a:prstGeom prst="roundRect">
              <a:avLst>
                <a:gd fmla="val 23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190500" y="190500"/>
              <a:ext cx="4857900" cy="400200"/>
            </a:xfrm>
            <a:prstGeom prst="roundRect">
              <a:avLst>
                <a:gd fmla="val 14285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3"/>
            <p:cNvSpPr txBox="1"/>
            <p:nvPr/>
          </p:nvSpPr>
          <p:spPr>
            <a:xfrm>
              <a:off x="190500" y="190500"/>
              <a:ext cx="48579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190500" y="3667125"/>
              <a:ext cx="48579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90500" y="3667125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3"/>
            <p:cNvSpPr txBox="1"/>
            <p:nvPr/>
          </p:nvSpPr>
          <p:spPr>
            <a:xfrm>
              <a:off x="381000" y="3667125"/>
              <a:ext cx="4476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D50CE"/>
                  </a:solidFill>
                  <a:latin typeface="Arial"/>
                  <a:ea typeface="Arial"/>
                  <a:cs typeface="Arial"/>
                  <a:sym typeface="Arial"/>
                </a:rPr>
                <a:t>26.9%</a:t>
              </a:r>
              <a:endParaRPr b="1" sz="2200">
                <a:solidFill>
                  <a:srgbClr val="0D50C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At CCAFS LC-40, 26.9% of launches landed successfully.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8" name="Google Shape;688;p33"/>
          <p:cNvSpPr txBox="1"/>
          <p:nvPr/>
        </p:nvSpPr>
        <p:spPr>
          <a:xfrm>
            <a:off x="10858500" y="6334125"/>
            <a:ext cx="66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3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33"/>
          <p:cNvPicPr preferRelativeResize="0"/>
          <p:nvPr/>
        </p:nvPicPr>
        <p:blipFill rotWithShape="1">
          <a:blip r:embed="rId4">
            <a:alphaModFix/>
          </a:blip>
          <a:srcRect b="199" l="0" r="0" t="189"/>
          <a:stretch/>
        </p:blipFill>
        <p:spPr>
          <a:xfrm>
            <a:off x="857250" y="2114550"/>
            <a:ext cx="4857900" cy="27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3"/>
          <p:cNvPicPr preferRelativeResize="0"/>
          <p:nvPr/>
        </p:nvPicPr>
        <p:blipFill rotWithShape="1">
          <a:blip r:embed="rId5">
            <a:alphaModFix/>
          </a:blip>
          <a:srcRect b="0" l="583" r="573" t="0"/>
          <a:stretch/>
        </p:blipFill>
        <p:spPr>
          <a:xfrm>
            <a:off x="6477000" y="2114550"/>
            <a:ext cx="4857900" cy="27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3"/>
          <p:cNvSpPr txBox="1"/>
          <p:nvPr/>
        </p:nvSpPr>
        <p:spPr>
          <a:xfrm>
            <a:off x="800000" y="6380000"/>
            <a:ext cx="32001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https://spacex-launch-analytics.netlify.app/</a:t>
            </a:r>
            <a:endParaRPr sz="900" u="sng">
              <a:solidFill>
                <a:srgbClr val="0D50CE"/>
              </a:solidFill>
            </a:endParaRPr>
          </a:p>
        </p:txBody>
      </p:sp>
      <p:sp>
        <p:nvSpPr>
          <p:cNvPr id="692" name="Google Shape;692;p33"/>
          <p:cNvSpPr txBox="1"/>
          <p:nvPr/>
        </p:nvSpPr>
        <p:spPr>
          <a:xfrm>
            <a:off x="4200000" y="6380000"/>
            <a:ext cx="27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01-all-sites-dashboard.png</a:t>
            </a:r>
            <a:endParaRPr sz="900" u="sng">
              <a:solidFill>
                <a:srgbClr val="0D50CE"/>
              </a:solidFill>
            </a:endParaRPr>
          </a:p>
        </p:txBody>
      </p:sp>
      <p:sp>
        <p:nvSpPr>
          <p:cNvPr id="693" name="Google Shape;693;p33"/>
          <p:cNvSpPr txBox="1"/>
          <p:nvPr/>
        </p:nvSpPr>
        <p:spPr>
          <a:xfrm>
            <a:off x="7300000" y="6380000"/>
            <a:ext cx="33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02-selected-site-dashboard.png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4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Results | Predictive Models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4"/>
          <p:cNvSpPr txBox="1"/>
          <p:nvPr/>
        </p:nvSpPr>
        <p:spPr>
          <a:xfrm>
            <a:off x="1350000" y="1490000"/>
            <a:ext cx="930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3652"/>
                </a:solidFill>
              </a:rPr>
              <a:t>Three models reached 83.3% test accuracy.</a:t>
            </a:r>
            <a:endParaRPr b="1" sz="2400">
              <a:solidFill>
                <a:srgbClr val="243652"/>
              </a:solidFill>
            </a:endParaRPr>
          </a:p>
        </p:txBody>
      </p:sp>
      <p:sp>
        <p:nvSpPr>
          <p:cNvPr id="701" name="Google Shape;701;p34"/>
          <p:cNvSpPr txBox="1"/>
          <p:nvPr/>
        </p:nvSpPr>
        <p:spPr>
          <a:xfrm>
            <a:off x="1070000" y="2140000"/>
            <a:ext cx="41499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MODEL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702" name="Google Shape;702;p34"/>
          <p:cNvSpPr txBox="1"/>
          <p:nvPr/>
        </p:nvSpPr>
        <p:spPr>
          <a:xfrm>
            <a:off x="4900000" y="2140000"/>
            <a:ext cx="17499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ACCURACY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703" name="Google Shape;703;p34"/>
          <p:cNvSpPr txBox="1"/>
          <p:nvPr/>
        </p:nvSpPr>
        <p:spPr>
          <a:xfrm>
            <a:off x="1070000" y="2660000"/>
            <a:ext cx="42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3652"/>
                </a:solidFill>
              </a:rPr>
              <a:t>Logistic Regression</a:t>
            </a:r>
            <a:endParaRPr sz="2000">
              <a:solidFill>
                <a:srgbClr val="243652"/>
              </a:solidFill>
            </a:endParaRPr>
          </a:p>
        </p:txBody>
      </p:sp>
      <p:sp>
        <p:nvSpPr>
          <p:cNvPr id="704" name="Google Shape;704;p34"/>
          <p:cNvSpPr txBox="1"/>
          <p:nvPr/>
        </p:nvSpPr>
        <p:spPr>
          <a:xfrm>
            <a:off x="4900000" y="2660000"/>
            <a:ext cx="174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D50CE"/>
                </a:solidFill>
              </a:rPr>
              <a:t>83.3%</a:t>
            </a:r>
            <a:endParaRPr b="1" sz="2100">
              <a:solidFill>
                <a:srgbClr val="0D50CE"/>
              </a:solidFill>
            </a:endParaRPr>
          </a:p>
        </p:txBody>
      </p:sp>
      <p:sp>
        <p:nvSpPr>
          <p:cNvPr id="705" name="Google Shape;705;p34"/>
          <p:cNvSpPr txBox="1"/>
          <p:nvPr/>
        </p:nvSpPr>
        <p:spPr>
          <a:xfrm>
            <a:off x="1070000" y="3270000"/>
            <a:ext cx="42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3652"/>
                </a:solidFill>
              </a:rPr>
              <a:t>Support Vector Machine</a:t>
            </a:r>
            <a:endParaRPr sz="2000">
              <a:solidFill>
                <a:srgbClr val="243652"/>
              </a:solidFill>
            </a:endParaRPr>
          </a:p>
        </p:txBody>
      </p:sp>
      <p:sp>
        <p:nvSpPr>
          <p:cNvPr id="706" name="Google Shape;706;p34"/>
          <p:cNvSpPr txBox="1"/>
          <p:nvPr/>
        </p:nvSpPr>
        <p:spPr>
          <a:xfrm>
            <a:off x="4900000" y="3270000"/>
            <a:ext cx="174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D50CE"/>
                </a:solidFill>
              </a:rPr>
              <a:t>83.3%</a:t>
            </a:r>
            <a:endParaRPr b="1" sz="2100">
              <a:solidFill>
                <a:srgbClr val="0D50CE"/>
              </a:solidFill>
            </a:endParaRPr>
          </a:p>
        </p:txBody>
      </p:sp>
      <p:sp>
        <p:nvSpPr>
          <p:cNvPr id="707" name="Google Shape;707;p34"/>
          <p:cNvSpPr txBox="1"/>
          <p:nvPr/>
        </p:nvSpPr>
        <p:spPr>
          <a:xfrm>
            <a:off x="1070000" y="3880000"/>
            <a:ext cx="42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3652"/>
                </a:solidFill>
              </a:rPr>
              <a:t>K-Nearest Neighbors</a:t>
            </a:r>
            <a:endParaRPr sz="2000">
              <a:solidFill>
                <a:srgbClr val="243652"/>
              </a:solidFill>
            </a:endParaRPr>
          </a:p>
        </p:txBody>
      </p:sp>
      <p:sp>
        <p:nvSpPr>
          <p:cNvPr id="708" name="Google Shape;708;p34"/>
          <p:cNvSpPr txBox="1"/>
          <p:nvPr/>
        </p:nvSpPr>
        <p:spPr>
          <a:xfrm>
            <a:off x="4900000" y="3880000"/>
            <a:ext cx="174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D50CE"/>
                </a:solidFill>
              </a:rPr>
              <a:t>83.3%</a:t>
            </a:r>
            <a:endParaRPr b="1" sz="2100">
              <a:solidFill>
                <a:srgbClr val="0D50CE"/>
              </a:solidFill>
            </a:endParaRPr>
          </a:p>
        </p:txBody>
      </p:sp>
      <p:sp>
        <p:nvSpPr>
          <p:cNvPr id="709" name="Google Shape;709;p34"/>
          <p:cNvSpPr txBox="1"/>
          <p:nvPr/>
        </p:nvSpPr>
        <p:spPr>
          <a:xfrm>
            <a:off x="1070000" y="4490000"/>
            <a:ext cx="42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3652"/>
                </a:solidFill>
              </a:rPr>
              <a:t>Decision Tree</a:t>
            </a:r>
            <a:endParaRPr sz="2000">
              <a:solidFill>
                <a:srgbClr val="243652"/>
              </a:solidFill>
            </a:endParaRPr>
          </a:p>
        </p:txBody>
      </p:sp>
      <p:sp>
        <p:nvSpPr>
          <p:cNvPr id="710" name="Google Shape;710;p34"/>
          <p:cNvSpPr txBox="1"/>
          <p:nvPr/>
        </p:nvSpPr>
        <p:spPr>
          <a:xfrm>
            <a:off x="4900000" y="4490000"/>
            <a:ext cx="174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D50CE"/>
                </a:solidFill>
              </a:rPr>
              <a:t>72.2%</a:t>
            </a:r>
            <a:endParaRPr b="1" sz="2100">
              <a:solidFill>
                <a:srgbClr val="0D50CE"/>
              </a:solidFill>
            </a:endParaRPr>
          </a:p>
        </p:txBody>
      </p:sp>
      <p:sp>
        <p:nvSpPr>
          <p:cNvPr id="711" name="Google Shape;711;p34"/>
          <p:cNvSpPr txBox="1"/>
          <p:nvPr/>
        </p:nvSpPr>
        <p:spPr>
          <a:xfrm>
            <a:off x="1070000" y="5550000"/>
            <a:ext cx="102999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43652"/>
                </a:solidFill>
              </a:rPr>
              <a:t>The selected SVM found all 12 successes, but missed 3 of 6 failures.</a:t>
            </a:r>
            <a:endParaRPr b="1" sz="2000">
              <a:solidFill>
                <a:srgbClr val="243652"/>
              </a:solidFill>
            </a:endParaRPr>
          </a:p>
        </p:txBody>
      </p:sp>
      <p:sp>
        <p:nvSpPr>
          <p:cNvPr id="712" name="Google Shape;712;p34"/>
          <p:cNvSpPr txBox="1"/>
          <p:nvPr/>
        </p:nvSpPr>
        <p:spPr>
          <a:xfrm>
            <a:off x="10880000" y="6090000"/>
            <a:ext cx="600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D50CE"/>
                </a:solidFill>
              </a:rPr>
              <a:t>20</a:t>
            </a:r>
            <a:endParaRPr>
              <a:solidFill>
                <a:srgbClr val="0D50CE"/>
              </a:solidFill>
            </a:endParaRPr>
          </a:p>
        </p:txBody>
      </p:sp>
      <p:pic>
        <p:nvPicPr>
          <p:cNvPr id="713" name="Google Shape;7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0000" y="2120000"/>
            <a:ext cx="3750000" cy="3206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34"/>
          <p:cNvSpPr txBox="1"/>
          <p:nvPr/>
        </p:nvSpPr>
        <p:spPr>
          <a:xfrm>
            <a:off x="1260000" y="6380000"/>
            <a:ext cx="1022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https://github.com/treinart/IBM-Data-Science-Professional-Certificate/blob/main/10_Applied%20Data%20Science%20Capstone/Module%204/SpaceX-Machine-Learning-Prediction-Part-5-v1.ipynb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5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6" name="Google Shape;726;p36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Flight Number vs. Launch Site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6"/>
          <p:cNvSpPr txBox="1"/>
          <p:nvPr/>
        </p:nvSpPr>
        <p:spPr>
          <a:xfrm>
            <a:off x="9240000" y="2190000"/>
            <a:ext cx="230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LATER FLIGHTS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728" name="Google Shape;728;p36"/>
          <p:cNvSpPr txBox="1"/>
          <p:nvPr/>
        </p:nvSpPr>
        <p:spPr>
          <a:xfrm>
            <a:off x="9240000" y="2670000"/>
            <a:ext cx="24501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43652"/>
                </a:solidFill>
              </a:rPr>
              <a:t>Successful landings appear more often as flight number rises.</a:t>
            </a:r>
            <a:endParaRPr b="1" sz="2200">
              <a:solidFill>
                <a:srgbClr val="243652"/>
              </a:solidFill>
            </a:endParaRPr>
          </a:p>
        </p:txBody>
      </p:sp>
      <p:sp>
        <p:nvSpPr>
          <p:cNvPr id="729" name="Google Shape;729;p36"/>
          <p:cNvSpPr txBox="1"/>
          <p:nvPr/>
        </p:nvSpPr>
        <p:spPr>
          <a:xfrm>
            <a:off x="9240000" y="5350000"/>
            <a:ext cx="230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Orange (Class 1) marks a successful landing.</a:t>
            </a:r>
            <a:endParaRPr sz="1500">
              <a:solidFill>
                <a:srgbClr val="243652"/>
              </a:solidFill>
            </a:endParaRPr>
          </a:p>
        </p:txBody>
      </p:sp>
      <p:pic>
        <p:nvPicPr>
          <p:cNvPr id="730" name="Google Shape;73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195" y="1890000"/>
            <a:ext cx="7813609" cy="424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36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7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8" name="Google Shape;738;p37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Payload Mass vs. Launch Site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7"/>
          <p:cNvSpPr txBox="1"/>
          <p:nvPr/>
        </p:nvSpPr>
        <p:spPr>
          <a:xfrm>
            <a:off x="9240000" y="2190000"/>
            <a:ext cx="245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0D50CE"/>
                </a:solidFill>
              </a:rPr>
              <a:t>9,600 KG</a:t>
            </a:r>
            <a:endParaRPr b="1" sz="2900">
              <a:solidFill>
                <a:srgbClr val="0D50CE"/>
              </a:solidFill>
            </a:endParaRPr>
          </a:p>
        </p:txBody>
      </p:sp>
      <p:sp>
        <p:nvSpPr>
          <p:cNvPr id="740" name="Google Shape;740;p37"/>
          <p:cNvSpPr txBox="1"/>
          <p:nvPr/>
        </p:nvSpPr>
        <p:spPr>
          <a:xfrm>
            <a:off x="9240000" y="2780000"/>
            <a:ext cx="24600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43652"/>
                </a:solidFill>
              </a:rPr>
              <a:t>The heaviest VAFB payload in this sample is 9,600 kg.</a:t>
            </a:r>
            <a:endParaRPr b="1" sz="2100">
              <a:solidFill>
                <a:srgbClr val="243652"/>
              </a:solidFill>
            </a:endParaRPr>
          </a:p>
        </p:txBody>
      </p:sp>
      <p:sp>
        <p:nvSpPr>
          <p:cNvPr id="741" name="Google Shape;741;p37"/>
          <p:cNvSpPr txBox="1"/>
          <p:nvPr/>
        </p:nvSpPr>
        <p:spPr>
          <a:xfrm>
            <a:off x="9240000" y="5320000"/>
            <a:ext cx="2330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Payload mass alone does not separate landing outcomes.</a:t>
            </a:r>
            <a:endParaRPr sz="1500">
              <a:solidFill>
                <a:srgbClr val="243652"/>
              </a:solidFill>
            </a:endParaRPr>
          </a:p>
        </p:txBody>
      </p:sp>
      <p:pic>
        <p:nvPicPr>
          <p:cNvPr id="742" name="Google Shape;74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195" y="1890000"/>
            <a:ext cx="7813609" cy="424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37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38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Landing Success Rate by Orbit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8"/>
          <p:cNvSpPr txBox="1"/>
          <p:nvPr/>
        </p:nvSpPr>
        <p:spPr>
          <a:xfrm>
            <a:off x="9240000" y="2190000"/>
            <a:ext cx="245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D50CE"/>
                </a:solidFill>
              </a:rPr>
              <a:t>86% VS. 52%</a:t>
            </a:r>
            <a:endParaRPr b="1" sz="2700">
              <a:solidFill>
                <a:srgbClr val="0D50CE"/>
              </a:solidFill>
            </a:endParaRPr>
          </a:p>
        </p:txBody>
      </p:sp>
      <p:sp>
        <p:nvSpPr>
          <p:cNvPr id="752" name="Google Shape;752;p38"/>
          <p:cNvSpPr txBox="1"/>
          <p:nvPr/>
        </p:nvSpPr>
        <p:spPr>
          <a:xfrm>
            <a:off x="9240000" y="2780000"/>
            <a:ext cx="24600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43652"/>
                </a:solidFill>
              </a:rPr>
              <a:t>VLEO: 12 of 14 landed.</a:t>
            </a:r>
            <a:endParaRPr b="1" sz="2100">
              <a:solidFill>
                <a:srgbClr val="24365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43652"/>
                </a:solidFill>
              </a:rPr>
              <a:t>GTO: 14 of 27 landed.</a:t>
            </a:r>
            <a:endParaRPr b="1" sz="2100">
              <a:solidFill>
                <a:srgbClr val="243652"/>
              </a:solidFill>
            </a:endParaRPr>
          </a:p>
        </p:txBody>
      </p:sp>
      <p:sp>
        <p:nvSpPr>
          <p:cNvPr id="753" name="Google Shape;753;p38"/>
          <p:cNvSpPr txBox="1"/>
          <p:nvPr/>
        </p:nvSpPr>
        <p:spPr>
          <a:xfrm>
            <a:off x="9240000" y="5320000"/>
            <a:ext cx="2330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Three 100% orbit bars each represent one flight.</a:t>
            </a:r>
            <a:endParaRPr sz="1500">
              <a:solidFill>
                <a:srgbClr val="243652"/>
              </a:solidFill>
            </a:endParaRPr>
          </a:p>
        </p:txBody>
      </p:sp>
      <p:pic>
        <p:nvPicPr>
          <p:cNvPr id="754" name="Google Shape;75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000" y="2040581"/>
            <a:ext cx="8149999" cy="4033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8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2" name="Google Shape;762;p39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Flight Number vs. Orbit Type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9"/>
          <p:cNvSpPr txBox="1"/>
          <p:nvPr/>
        </p:nvSpPr>
        <p:spPr>
          <a:xfrm>
            <a:off x="9240000" y="2190000"/>
            <a:ext cx="245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D50CE"/>
                </a:solidFill>
              </a:rPr>
              <a:t>LEO / GTO</a:t>
            </a:r>
            <a:endParaRPr b="1" sz="2600">
              <a:solidFill>
                <a:srgbClr val="0D50CE"/>
              </a:solidFill>
            </a:endParaRPr>
          </a:p>
        </p:txBody>
      </p:sp>
      <p:sp>
        <p:nvSpPr>
          <p:cNvPr id="764" name="Google Shape;764;p39"/>
          <p:cNvSpPr txBox="1"/>
          <p:nvPr/>
        </p:nvSpPr>
        <p:spPr>
          <a:xfrm>
            <a:off x="9240000" y="2780000"/>
            <a:ext cx="24600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43652"/>
                </a:solidFill>
              </a:rPr>
              <a:t>Later LEO flights tend to succeed. GTO stays mixed across flight numbers.</a:t>
            </a:r>
            <a:endParaRPr b="1" sz="2100">
              <a:solidFill>
                <a:srgbClr val="243652"/>
              </a:solidFill>
            </a:endParaRPr>
          </a:p>
        </p:txBody>
      </p:sp>
      <p:sp>
        <p:nvSpPr>
          <p:cNvPr id="765" name="Google Shape;765;p39"/>
          <p:cNvSpPr txBox="1"/>
          <p:nvPr/>
        </p:nvSpPr>
        <p:spPr>
          <a:xfrm>
            <a:off x="9240000" y="5320000"/>
            <a:ext cx="2330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Orange (Class 1) marks a successful landing.</a:t>
            </a:r>
            <a:endParaRPr sz="1500">
              <a:solidFill>
                <a:srgbClr val="243652"/>
              </a:solidFill>
            </a:endParaRPr>
          </a:p>
        </p:txBody>
      </p:sp>
      <p:pic>
        <p:nvPicPr>
          <p:cNvPr id="766" name="Google Shape;76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693" y="1890000"/>
            <a:ext cx="7846613" cy="424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9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4" name="Google Shape;774;p40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Payload Mass vs. Orbit Type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0"/>
          <p:cNvSpPr txBox="1"/>
          <p:nvPr/>
        </p:nvSpPr>
        <p:spPr>
          <a:xfrm>
            <a:off x="9240000" y="2190000"/>
            <a:ext cx="245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0D50CE"/>
                </a:solidFill>
              </a:rPr>
              <a:t>GTO</a:t>
            </a:r>
            <a:endParaRPr b="1" sz="2900">
              <a:solidFill>
                <a:srgbClr val="0D50CE"/>
              </a:solidFill>
            </a:endParaRPr>
          </a:p>
        </p:txBody>
      </p:sp>
      <p:sp>
        <p:nvSpPr>
          <p:cNvPr id="776" name="Google Shape;776;p40"/>
          <p:cNvSpPr txBox="1"/>
          <p:nvPr/>
        </p:nvSpPr>
        <p:spPr>
          <a:xfrm>
            <a:off x="9240000" y="2780000"/>
            <a:ext cx="24600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43652"/>
                </a:solidFill>
              </a:rPr>
              <a:t>Both landing outcomes appear across its payload range.</a:t>
            </a:r>
            <a:endParaRPr b="1" sz="2200">
              <a:solidFill>
                <a:srgbClr val="243652"/>
              </a:solidFill>
            </a:endParaRPr>
          </a:p>
        </p:txBody>
      </p:sp>
      <p:sp>
        <p:nvSpPr>
          <p:cNvPr id="777" name="Google Shape;777;p40"/>
          <p:cNvSpPr txBox="1"/>
          <p:nvPr/>
        </p:nvSpPr>
        <p:spPr>
          <a:xfrm>
            <a:off x="9240000" y="5320000"/>
            <a:ext cx="2330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Payload mass does not show a clear success cutoff.</a:t>
            </a:r>
            <a:endParaRPr sz="1500">
              <a:solidFill>
                <a:srgbClr val="243652"/>
              </a:solidFill>
            </a:endParaRPr>
          </a:p>
        </p:txBody>
      </p:sp>
      <p:pic>
        <p:nvPicPr>
          <p:cNvPr id="778" name="Google Shape;77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1693" y="1890000"/>
            <a:ext cx="7846613" cy="424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0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6" name="Google Shape;786;p41"/>
          <p:cNvSpPr txBox="1"/>
          <p:nvPr/>
        </p:nvSpPr>
        <p:spPr>
          <a:xfrm>
            <a:off x="770011" y="538650"/>
            <a:ext cx="10515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Landing Success Rate by Year</a:t>
            </a:r>
            <a:endParaRPr b="1" i="0" sz="37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1"/>
          <p:cNvSpPr txBox="1"/>
          <p:nvPr/>
        </p:nvSpPr>
        <p:spPr>
          <a:xfrm>
            <a:off x="9240000" y="2190000"/>
            <a:ext cx="245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D50CE"/>
                </a:solidFill>
              </a:rPr>
              <a:t>90% IN 2019</a:t>
            </a:r>
            <a:endParaRPr b="1" sz="2600">
              <a:solidFill>
                <a:srgbClr val="0D50CE"/>
              </a:solidFill>
            </a:endParaRPr>
          </a:p>
        </p:txBody>
      </p:sp>
      <p:sp>
        <p:nvSpPr>
          <p:cNvPr id="788" name="Google Shape;788;p41"/>
          <p:cNvSpPr txBox="1"/>
          <p:nvPr/>
        </p:nvSpPr>
        <p:spPr>
          <a:xfrm>
            <a:off x="9240000" y="2780000"/>
            <a:ext cx="24600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43652"/>
                </a:solidFill>
              </a:rPr>
              <a:t>After the 2018 dip, landing success passed 80% in both 2019 and 2020.</a:t>
            </a:r>
            <a:endParaRPr b="1" sz="2100">
              <a:solidFill>
                <a:srgbClr val="243652"/>
              </a:solidFill>
            </a:endParaRPr>
          </a:p>
        </p:txBody>
      </p:sp>
      <p:sp>
        <p:nvSpPr>
          <p:cNvPr id="789" name="Google Shape;789;p41"/>
          <p:cNvSpPr txBox="1"/>
          <p:nvPr/>
        </p:nvSpPr>
        <p:spPr>
          <a:xfrm>
            <a:off x="9240000" y="5320000"/>
            <a:ext cx="23301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2019: 9 of 10</a:t>
            </a:r>
            <a:endParaRPr sz="1500">
              <a:solidFill>
                <a:srgbClr val="24365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3652"/>
                </a:solidFill>
              </a:rPr>
              <a:t>2020: 16 of 19</a:t>
            </a:r>
            <a:endParaRPr sz="1500">
              <a:solidFill>
                <a:srgbClr val="243652"/>
              </a:solidFill>
            </a:endParaRPr>
          </a:p>
        </p:txBody>
      </p:sp>
      <p:pic>
        <p:nvPicPr>
          <p:cNvPr id="790" name="Google Shape;79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000" y="2040581"/>
            <a:ext cx="8149999" cy="4033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41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https://github.com/treinart/IBM-Data-Science-Professional-Certificate/blob/main/10_Applied%20Data%20Science%20Capstone/Module%202/jupyter-labs-eda-dataviz-v2.ipynb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2"/>
          <p:cNvSpPr txBox="1"/>
          <p:nvPr>
            <p:ph idx="12" type="sldNum"/>
          </p:nvPr>
        </p:nvSpPr>
        <p:spPr>
          <a:xfrm>
            <a:off x="8714772" y="6025573"/>
            <a:ext cx="2743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p42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All Launch Site Names</a:t>
            </a:r>
            <a:endParaRPr b="1" sz="36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9" name="Google Shape;799;p42"/>
          <p:cNvGrpSpPr/>
          <p:nvPr/>
        </p:nvGrpSpPr>
        <p:grpSpPr>
          <a:xfrm>
            <a:off x="762000" y="1143000"/>
            <a:ext cx="1524000" cy="304800"/>
            <a:chOff x="0" y="0"/>
            <a:chExt cx="1524000" cy="304800"/>
          </a:xfrm>
        </p:grpSpPr>
        <p:sp>
          <p:nvSpPr>
            <p:cNvPr id="800" name="Google Shape;800;p42"/>
            <p:cNvSpPr/>
            <p:nvPr/>
          </p:nvSpPr>
          <p:spPr>
            <a:xfrm>
              <a:off x="0" y="0"/>
              <a:ext cx="1524000" cy="304800"/>
            </a:xfrm>
            <a:prstGeom prst="roundRect">
              <a:avLst>
                <a:gd fmla="val 1875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2"/>
            <p:cNvSpPr txBox="1"/>
            <p:nvPr/>
          </p:nvSpPr>
          <p:spPr>
            <a:xfrm>
              <a:off x="0" y="0"/>
              <a:ext cx="1524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SQL QUERY RESULT</a:t>
              </a:r>
              <a:endParaRPr b="1" sz="11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2" name="Google Shape;802;p42"/>
          <p:cNvGrpSpPr/>
          <p:nvPr/>
        </p:nvGrpSpPr>
        <p:grpSpPr>
          <a:xfrm>
            <a:off x="762000" y="1666875"/>
            <a:ext cx="6667500" cy="809700"/>
            <a:chOff x="0" y="0"/>
            <a:chExt cx="6667500" cy="809700"/>
          </a:xfrm>
        </p:grpSpPr>
        <p:sp>
          <p:nvSpPr>
            <p:cNvPr id="803" name="Google Shape;803;p42"/>
            <p:cNvSpPr/>
            <p:nvPr/>
          </p:nvSpPr>
          <p:spPr>
            <a:xfrm>
              <a:off x="0" y="0"/>
              <a:ext cx="6667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2"/>
            <p:cNvSpPr/>
            <p:nvPr/>
          </p:nvSpPr>
          <p:spPr>
            <a:xfrm>
              <a:off x="190500" y="166688"/>
              <a:ext cx="476400" cy="4764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2"/>
            <p:cNvSpPr txBox="1"/>
            <p:nvPr/>
          </p:nvSpPr>
          <p:spPr>
            <a:xfrm>
              <a:off x="190500" y="166688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2"/>
            <p:cNvSpPr txBox="1"/>
            <p:nvPr/>
          </p:nvSpPr>
          <p:spPr>
            <a:xfrm>
              <a:off x="857250" y="0"/>
              <a:ext cx="5524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1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7" name="Google Shape;807;p42"/>
          <p:cNvGrpSpPr/>
          <p:nvPr/>
        </p:nvGrpSpPr>
        <p:grpSpPr>
          <a:xfrm>
            <a:off x="762000" y="2619375"/>
            <a:ext cx="6667500" cy="809700"/>
            <a:chOff x="0" y="0"/>
            <a:chExt cx="6667500" cy="809700"/>
          </a:xfrm>
        </p:grpSpPr>
        <p:sp>
          <p:nvSpPr>
            <p:cNvPr id="808" name="Google Shape;808;p42"/>
            <p:cNvSpPr/>
            <p:nvPr/>
          </p:nvSpPr>
          <p:spPr>
            <a:xfrm>
              <a:off x="0" y="0"/>
              <a:ext cx="6667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190500" y="166688"/>
              <a:ext cx="476400" cy="4764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2"/>
            <p:cNvSpPr txBox="1"/>
            <p:nvPr/>
          </p:nvSpPr>
          <p:spPr>
            <a:xfrm>
              <a:off x="190500" y="166688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2"/>
            <p:cNvSpPr txBox="1"/>
            <p:nvPr/>
          </p:nvSpPr>
          <p:spPr>
            <a:xfrm>
              <a:off x="857250" y="0"/>
              <a:ext cx="5524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CCAFS SLC-40</a:t>
              </a:r>
              <a:endParaRPr b="1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62000" y="3571875"/>
            <a:ext cx="6667500" cy="809700"/>
            <a:chOff x="0" y="0"/>
            <a:chExt cx="6667500" cy="809700"/>
          </a:xfrm>
        </p:grpSpPr>
        <p:sp>
          <p:nvSpPr>
            <p:cNvPr id="813" name="Google Shape;813;p42"/>
            <p:cNvSpPr/>
            <p:nvPr/>
          </p:nvSpPr>
          <p:spPr>
            <a:xfrm>
              <a:off x="0" y="0"/>
              <a:ext cx="6667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90500" y="166688"/>
              <a:ext cx="476400" cy="4764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2"/>
            <p:cNvSpPr txBox="1"/>
            <p:nvPr/>
          </p:nvSpPr>
          <p:spPr>
            <a:xfrm>
              <a:off x="190500" y="166688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2"/>
            <p:cNvSpPr txBox="1"/>
            <p:nvPr/>
          </p:nvSpPr>
          <p:spPr>
            <a:xfrm>
              <a:off x="857250" y="0"/>
              <a:ext cx="5524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KSC LC-39A</a:t>
              </a:r>
              <a:endParaRPr b="1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42"/>
          <p:cNvGrpSpPr/>
          <p:nvPr/>
        </p:nvGrpSpPr>
        <p:grpSpPr>
          <a:xfrm>
            <a:off x="762000" y="4524375"/>
            <a:ext cx="6667500" cy="809700"/>
            <a:chOff x="0" y="0"/>
            <a:chExt cx="6667500" cy="809700"/>
          </a:xfrm>
        </p:grpSpPr>
        <p:sp>
          <p:nvSpPr>
            <p:cNvPr id="818" name="Google Shape;818;p42"/>
            <p:cNvSpPr/>
            <p:nvPr/>
          </p:nvSpPr>
          <p:spPr>
            <a:xfrm>
              <a:off x="0" y="0"/>
              <a:ext cx="6667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190500" y="166688"/>
              <a:ext cx="476400" cy="4764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2"/>
            <p:cNvSpPr txBox="1"/>
            <p:nvPr/>
          </p:nvSpPr>
          <p:spPr>
            <a:xfrm>
              <a:off x="190500" y="166688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6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2"/>
            <p:cNvSpPr txBox="1"/>
            <p:nvPr/>
          </p:nvSpPr>
          <p:spPr>
            <a:xfrm>
              <a:off x="857250" y="0"/>
              <a:ext cx="5524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VAFB SLC-4E</a:t>
              </a:r>
              <a:endParaRPr b="1" sz="2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2" name="Google Shape;82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000" y="1850000"/>
            <a:ext cx="3600000" cy="327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42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3"/>
          <p:cNvSpPr txBox="1"/>
          <p:nvPr>
            <p:ph idx="12" type="sldNum"/>
          </p:nvPr>
        </p:nvSpPr>
        <p:spPr>
          <a:xfrm>
            <a:off x="8714772" y="6025573"/>
            <a:ext cx="2743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" name="Google Shape;830;p43"/>
          <p:cNvSpPr txBox="1"/>
          <p:nvPr/>
        </p:nvSpPr>
        <p:spPr>
          <a:xfrm>
            <a:off x="762000" y="428625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Five Launch Records at CCAFS</a:t>
            </a:r>
            <a:endParaRPr b="1" sz="3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1" name="Google Shape;831;p43"/>
          <p:cNvGrpSpPr/>
          <p:nvPr/>
        </p:nvGrpSpPr>
        <p:grpSpPr>
          <a:xfrm>
            <a:off x="762000" y="1095375"/>
            <a:ext cx="3429000" cy="304800"/>
            <a:chOff x="0" y="0"/>
            <a:chExt cx="3429000" cy="304800"/>
          </a:xfrm>
        </p:grpSpPr>
        <p:sp>
          <p:nvSpPr>
            <p:cNvPr id="832" name="Google Shape;832;p43"/>
            <p:cNvSpPr/>
            <p:nvPr/>
          </p:nvSpPr>
          <p:spPr>
            <a:xfrm>
              <a:off x="0" y="0"/>
              <a:ext cx="3429000" cy="304800"/>
            </a:xfrm>
            <a:prstGeom prst="roundRect">
              <a:avLst>
                <a:gd fmla="val 1875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3"/>
            <p:cNvSpPr txBox="1"/>
            <p:nvPr/>
          </p:nvSpPr>
          <p:spPr>
            <a:xfrm>
              <a:off x="0" y="0"/>
              <a:ext cx="342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5 records where launch_site begins with CCA</a:t>
              </a:r>
              <a:endParaRPr b="1" sz="11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4" name="Google Shape;834;p43"/>
          <p:cNvGrpSpPr/>
          <p:nvPr/>
        </p:nvGrpSpPr>
        <p:grpSpPr>
          <a:xfrm>
            <a:off x="762000" y="1571625"/>
            <a:ext cx="6858000" cy="582930"/>
            <a:chOff x="0" y="0"/>
            <a:chExt cx="6858000" cy="685800"/>
          </a:xfrm>
        </p:grpSpPr>
        <p:sp>
          <p:nvSpPr>
            <p:cNvPr id="835" name="Google Shape;835;p43"/>
            <p:cNvSpPr/>
            <p:nvPr/>
          </p:nvSpPr>
          <p:spPr>
            <a:xfrm>
              <a:off x="0" y="0"/>
              <a:ext cx="6858000" cy="685800"/>
            </a:xfrm>
            <a:prstGeom prst="roundRect">
              <a:avLst>
                <a:gd fmla="val 13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3"/>
            <p:cNvSpPr txBox="1"/>
            <p:nvPr/>
          </p:nvSpPr>
          <p:spPr>
            <a:xfrm>
              <a:off x="1905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strike="noStrike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06-04-2010</a:t>
              </a:r>
              <a:endParaRPr b="1" i="0" sz="1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3"/>
            <p:cNvSpPr txBox="1"/>
            <p:nvPr/>
          </p:nvSpPr>
          <p:spPr>
            <a:xfrm>
              <a:off x="1524000" y="0"/>
              <a:ext cx="1524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F9 v1.0 B0003</a:t>
              </a:r>
              <a:endParaRPr b="0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3"/>
            <p:cNvSpPr txBox="1"/>
            <p:nvPr/>
          </p:nvSpPr>
          <p:spPr>
            <a:xfrm>
              <a:off x="3143250" y="0"/>
              <a:ext cx="1428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0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4667250" y="171450"/>
              <a:ext cx="1905000" cy="342900"/>
            </a:xfrm>
            <a:prstGeom prst="roundRect">
              <a:avLst>
                <a:gd fmla="val 16666" name="adj"/>
              </a:avLst>
            </a:prstGeom>
            <a:solidFill>
              <a:srgbClr val="FEF2F2"/>
            </a:solidFill>
            <a:ln cap="flat" cmpd="sng" w="95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3"/>
            <p:cNvSpPr txBox="1"/>
            <p:nvPr/>
          </p:nvSpPr>
          <p:spPr>
            <a:xfrm>
              <a:off x="4667250" y="171450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Failure (parachute)</a:t>
              </a:r>
              <a:endParaRPr b="1" sz="11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p43"/>
          <p:cNvGrpSpPr/>
          <p:nvPr/>
        </p:nvGrpSpPr>
        <p:grpSpPr>
          <a:xfrm>
            <a:off x="762000" y="2201625"/>
            <a:ext cx="6858000" cy="582930"/>
            <a:chOff x="0" y="0"/>
            <a:chExt cx="6858000" cy="685800"/>
          </a:xfrm>
        </p:grpSpPr>
        <p:sp>
          <p:nvSpPr>
            <p:cNvPr id="842" name="Google Shape;842;p43"/>
            <p:cNvSpPr/>
            <p:nvPr/>
          </p:nvSpPr>
          <p:spPr>
            <a:xfrm>
              <a:off x="0" y="0"/>
              <a:ext cx="6858000" cy="685800"/>
            </a:xfrm>
            <a:prstGeom prst="roundRect">
              <a:avLst>
                <a:gd fmla="val 13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3"/>
            <p:cNvSpPr txBox="1"/>
            <p:nvPr/>
          </p:nvSpPr>
          <p:spPr>
            <a:xfrm>
              <a:off x="1905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strike="noStrike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12-08-2010</a:t>
              </a:r>
              <a:endParaRPr b="1" i="0" sz="1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3"/>
            <p:cNvSpPr txBox="1"/>
            <p:nvPr/>
          </p:nvSpPr>
          <p:spPr>
            <a:xfrm>
              <a:off x="1524000" y="0"/>
              <a:ext cx="1524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F9 v1.0 B0004</a:t>
              </a:r>
              <a:endParaRPr b="0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3"/>
            <p:cNvSpPr txBox="1"/>
            <p:nvPr/>
          </p:nvSpPr>
          <p:spPr>
            <a:xfrm>
              <a:off x="3143250" y="0"/>
              <a:ext cx="1428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0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3"/>
            <p:cNvSpPr/>
            <p:nvPr/>
          </p:nvSpPr>
          <p:spPr>
            <a:xfrm>
              <a:off x="4667250" y="171450"/>
              <a:ext cx="1905000" cy="342900"/>
            </a:xfrm>
            <a:prstGeom prst="roundRect">
              <a:avLst>
                <a:gd fmla="val 16666" name="adj"/>
              </a:avLst>
            </a:prstGeom>
            <a:solidFill>
              <a:srgbClr val="FEF2F2"/>
            </a:solidFill>
            <a:ln cap="flat" cmpd="sng" w="9525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3"/>
            <p:cNvSpPr txBox="1"/>
            <p:nvPr/>
          </p:nvSpPr>
          <p:spPr>
            <a:xfrm>
              <a:off x="4667250" y="171450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C2626"/>
                  </a:solidFill>
                  <a:latin typeface="Arial"/>
                  <a:ea typeface="Arial"/>
                  <a:cs typeface="Arial"/>
                  <a:sym typeface="Arial"/>
                </a:rPr>
                <a:t>Failure (parachute)</a:t>
              </a:r>
              <a:endParaRPr b="1" sz="11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8" name="Google Shape;848;p43"/>
          <p:cNvGrpSpPr/>
          <p:nvPr/>
        </p:nvGrpSpPr>
        <p:grpSpPr>
          <a:xfrm>
            <a:off x="762000" y="2831625"/>
            <a:ext cx="6858000" cy="582930"/>
            <a:chOff x="0" y="0"/>
            <a:chExt cx="6858000" cy="685800"/>
          </a:xfrm>
        </p:grpSpPr>
        <p:sp>
          <p:nvSpPr>
            <p:cNvPr id="849" name="Google Shape;849;p43"/>
            <p:cNvSpPr/>
            <p:nvPr/>
          </p:nvSpPr>
          <p:spPr>
            <a:xfrm>
              <a:off x="0" y="0"/>
              <a:ext cx="6858000" cy="685800"/>
            </a:xfrm>
            <a:prstGeom prst="roundRect">
              <a:avLst>
                <a:gd fmla="val 13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3"/>
            <p:cNvSpPr txBox="1"/>
            <p:nvPr/>
          </p:nvSpPr>
          <p:spPr>
            <a:xfrm>
              <a:off x="1905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strike="noStrike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05-22-2012</a:t>
              </a:r>
              <a:endParaRPr b="1" i="0" sz="1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3"/>
            <p:cNvSpPr txBox="1"/>
            <p:nvPr/>
          </p:nvSpPr>
          <p:spPr>
            <a:xfrm>
              <a:off x="1524000" y="0"/>
              <a:ext cx="1524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F9 v1.0 B0005</a:t>
              </a:r>
              <a:endParaRPr b="0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3"/>
            <p:cNvSpPr txBox="1"/>
            <p:nvPr/>
          </p:nvSpPr>
          <p:spPr>
            <a:xfrm>
              <a:off x="3143250" y="0"/>
              <a:ext cx="1428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0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3"/>
            <p:cNvSpPr/>
            <p:nvPr/>
          </p:nvSpPr>
          <p:spPr>
            <a:xfrm>
              <a:off x="4667250" y="171450"/>
              <a:ext cx="1905000" cy="342900"/>
            </a:xfrm>
            <a:prstGeom prst="roundRect">
              <a:avLst>
                <a:gd fmla="val 16666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3"/>
            <p:cNvSpPr txBox="1"/>
            <p:nvPr/>
          </p:nvSpPr>
          <p:spPr>
            <a:xfrm>
              <a:off x="4667250" y="171450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 attempt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5" name="Google Shape;855;p43"/>
          <p:cNvGrpSpPr/>
          <p:nvPr/>
        </p:nvGrpSpPr>
        <p:grpSpPr>
          <a:xfrm>
            <a:off x="762000" y="3461625"/>
            <a:ext cx="6858000" cy="582930"/>
            <a:chOff x="0" y="0"/>
            <a:chExt cx="6858000" cy="685800"/>
          </a:xfrm>
        </p:grpSpPr>
        <p:sp>
          <p:nvSpPr>
            <p:cNvPr id="856" name="Google Shape;856;p43"/>
            <p:cNvSpPr/>
            <p:nvPr/>
          </p:nvSpPr>
          <p:spPr>
            <a:xfrm>
              <a:off x="0" y="0"/>
              <a:ext cx="6858000" cy="685800"/>
            </a:xfrm>
            <a:prstGeom prst="roundRect">
              <a:avLst>
                <a:gd fmla="val 13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3"/>
            <p:cNvSpPr txBox="1"/>
            <p:nvPr/>
          </p:nvSpPr>
          <p:spPr>
            <a:xfrm>
              <a:off x="1905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strike="noStrike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10-08-2012</a:t>
              </a:r>
              <a:endParaRPr b="1" i="0" sz="1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3"/>
            <p:cNvSpPr txBox="1"/>
            <p:nvPr/>
          </p:nvSpPr>
          <p:spPr>
            <a:xfrm>
              <a:off x="1524000" y="0"/>
              <a:ext cx="1524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F9 v1.0 B0006</a:t>
              </a:r>
              <a:endParaRPr b="0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3"/>
            <p:cNvSpPr txBox="1"/>
            <p:nvPr/>
          </p:nvSpPr>
          <p:spPr>
            <a:xfrm>
              <a:off x="3143250" y="0"/>
              <a:ext cx="1428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0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43"/>
            <p:cNvSpPr/>
            <p:nvPr/>
          </p:nvSpPr>
          <p:spPr>
            <a:xfrm>
              <a:off x="4667250" y="171450"/>
              <a:ext cx="1905000" cy="342900"/>
            </a:xfrm>
            <a:prstGeom prst="roundRect">
              <a:avLst>
                <a:gd fmla="val 16666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3"/>
            <p:cNvSpPr txBox="1"/>
            <p:nvPr/>
          </p:nvSpPr>
          <p:spPr>
            <a:xfrm>
              <a:off x="4667250" y="171450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 attempt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43"/>
          <p:cNvGrpSpPr/>
          <p:nvPr/>
        </p:nvGrpSpPr>
        <p:grpSpPr>
          <a:xfrm>
            <a:off x="762000" y="4091625"/>
            <a:ext cx="6858000" cy="582930"/>
            <a:chOff x="0" y="0"/>
            <a:chExt cx="6858000" cy="685800"/>
          </a:xfrm>
        </p:grpSpPr>
        <p:sp>
          <p:nvSpPr>
            <p:cNvPr id="863" name="Google Shape;863;p43"/>
            <p:cNvSpPr/>
            <p:nvPr/>
          </p:nvSpPr>
          <p:spPr>
            <a:xfrm>
              <a:off x="0" y="0"/>
              <a:ext cx="6858000" cy="685800"/>
            </a:xfrm>
            <a:prstGeom prst="roundRect">
              <a:avLst>
                <a:gd fmla="val 13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3"/>
            <p:cNvSpPr txBox="1"/>
            <p:nvPr/>
          </p:nvSpPr>
          <p:spPr>
            <a:xfrm>
              <a:off x="1905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 u="none" strike="noStrike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03-01-2013</a:t>
              </a:r>
              <a:endParaRPr b="1" i="0" sz="1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3"/>
            <p:cNvSpPr txBox="1"/>
            <p:nvPr/>
          </p:nvSpPr>
          <p:spPr>
            <a:xfrm>
              <a:off x="1524000" y="0"/>
              <a:ext cx="1524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F9 v1.0 B0007</a:t>
              </a:r>
              <a:endParaRPr b="0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3"/>
            <p:cNvSpPr txBox="1"/>
            <p:nvPr/>
          </p:nvSpPr>
          <p:spPr>
            <a:xfrm>
              <a:off x="3143250" y="0"/>
              <a:ext cx="1428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CCAFS LC-40</a:t>
              </a:r>
              <a:endParaRPr b="0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4667250" y="171450"/>
              <a:ext cx="1905000" cy="342900"/>
            </a:xfrm>
            <a:prstGeom prst="roundRect">
              <a:avLst>
                <a:gd fmla="val 16666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3"/>
            <p:cNvSpPr txBox="1"/>
            <p:nvPr/>
          </p:nvSpPr>
          <p:spPr>
            <a:xfrm>
              <a:off x="4667250" y="171450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 attempt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9" name="Google Shape;869;p43"/>
          <p:cNvGrpSpPr/>
          <p:nvPr/>
        </p:nvGrpSpPr>
        <p:grpSpPr>
          <a:xfrm>
            <a:off x="7905750" y="1571625"/>
            <a:ext cx="3524400" cy="3100197"/>
            <a:chOff x="0" y="0"/>
            <a:chExt cx="3524400" cy="3924300"/>
          </a:xfrm>
        </p:grpSpPr>
        <p:sp>
          <p:nvSpPr>
            <p:cNvPr id="870" name="Google Shape;870;p43"/>
            <p:cNvSpPr/>
            <p:nvPr/>
          </p:nvSpPr>
          <p:spPr>
            <a:xfrm>
              <a:off x="0" y="0"/>
              <a:ext cx="3524400" cy="3924300"/>
            </a:xfrm>
            <a:prstGeom prst="roundRect">
              <a:avLst>
                <a:gd fmla="val 4324" name="adj"/>
              </a:avLst>
            </a:prstGeom>
            <a:gradFill>
              <a:gsLst>
                <a:gs pos="0">
                  <a:srgbClr val="1E40AF"/>
                </a:gs>
                <a:gs pos="100000">
                  <a:srgbClr val="1D4ED8"/>
                </a:gs>
              </a:gsLst>
              <a:lin ang="2884459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3"/>
            <p:cNvSpPr txBox="1"/>
            <p:nvPr/>
          </p:nvSpPr>
          <p:spPr>
            <a:xfrm>
              <a:off x="333375" y="333375"/>
              <a:ext cx="2857500" cy="32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93C5F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b="0" sz="2800">
                <a:solidFill>
                  <a:srgbClr val="93C5F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7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Early CCAFS Missions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E0E7FF"/>
                  </a:solidFill>
                  <a:latin typeface="Arial"/>
                  <a:ea typeface="Arial"/>
                  <a:cs typeface="Arial"/>
                  <a:sym typeface="Arial"/>
                </a:rPr>
                <a:t>All five missions succeeded. None recorded a successful landing.</a:t>
              </a:r>
              <a:endParaRPr b="0" sz="1500">
                <a:solidFill>
                  <a:srgbClr val="E0E7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2" name="Google Shape;872;p43"/>
          <p:cNvSpPr txBox="1"/>
          <p:nvPr/>
        </p:nvSpPr>
        <p:spPr>
          <a:xfrm>
            <a:off x="762000" y="4795000"/>
            <a:ext cx="500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D50CE"/>
                </a:solidFill>
              </a:rPr>
              <a:t>Task 2 SQL output</a:t>
            </a:r>
            <a:endParaRPr b="1" sz="1300">
              <a:solidFill>
                <a:srgbClr val="0D50CE"/>
              </a:solidFill>
            </a:endParaRPr>
          </a:p>
        </p:txBody>
      </p:sp>
      <p:pic>
        <p:nvPicPr>
          <p:cNvPr id="873" name="Google Shape;87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5090000"/>
            <a:ext cx="9868797" cy="122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43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1" name="Google Shape;881;p4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Total Payload Mass for NASA (CRS)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882" name="Google Shape;882;p44"/>
          <p:cNvSpPr txBox="1"/>
          <p:nvPr/>
        </p:nvSpPr>
        <p:spPr>
          <a:xfrm>
            <a:off x="800000" y="1800000"/>
            <a:ext cx="90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TOTAL PAYLOAD MASS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883" name="Google Shape;883;p44"/>
          <p:cNvSpPr txBox="1"/>
          <p:nvPr/>
        </p:nvSpPr>
        <p:spPr>
          <a:xfrm>
            <a:off x="860000" y="2530000"/>
            <a:ext cx="54000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D50CE"/>
                </a:solidFill>
              </a:rPr>
              <a:t>45,596 kg</a:t>
            </a:r>
            <a:endParaRPr b="1" sz="5200">
              <a:solidFill>
                <a:srgbClr val="0D50CE"/>
              </a:solidFill>
            </a:endParaRPr>
          </a:p>
        </p:txBody>
      </p:sp>
      <p:sp>
        <p:nvSpPr>
          <p:cNvPr id="884" name="Google Shape;884;p44"/>
          <p:cNvSpPr txBox="1"/>
          <p:nvPr/>
        </p:nvSpPr>
        <p:spPr>
          <a:xfrm>
            <a:off x="860000" y="4200000"/>
            <a:ext cx="48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43652"/>
                </a:solidFill>
              </a:rPr>
              <a:t>NASA (CRS) missions carried this total payload mass in the SQL result.</a:t>
            </a:r>
            <a:endParaRPr sz="2200">
              <a:solidFill>
                <a:srgbClr val="243652"/>
              </a:solidFill>
            </a:endParaRPr>
          </a:p>
        </p:txBody>
      </p:sp>
      <p:pic>
        <p:nvPicPr>
          <p:cNvPr id="885" name="Google Shape;88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000" y="1850000"/>
            <a:ext cx="4970000" cy="3487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44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5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3" name="Google Shape;893;p4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Average Payload Mass for F9 v1.1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894" name="Google Shape;894;p45"/>
          <p:cNvSpPr txBox="1"/>
          <p:nvPr/>
        </p:nvSpPr>
        <p:spPr>
          <a:xfrm>
            <a:off x="800000" y="1800000"/>
            <a:ext cx="90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AVERAGE PAYLOAD MASS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895" name="Google Shape;895;p45"/>
          <p:cNvSpPr txBox="1"/>
          <p:nvPr/>
        </p:nvSpPr>
        <p:spPr>
          <a:xfrm>
            <a:off x="860000" y="2530000"/>
            <a:ext cx="54000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D50CE"/>
                </a:solidFill>
              </a:rPr>
              <a:t>2,928.4 kg</a:t>
            </a:r>
            <a:endParaRPr b="1" sz="5200">
              <a:solidFill>
                <a:srgbClr val="0D50CE"/>
              </a:solidFill>
            </a:endParaRPr>
          </a:p>
        </p:txBody>
      </p:sp>
      <p:sp>
        <p:nvSpPr>
          <p:cNvPr id="896" name="Google Shape;896;p45"/>
          <p:cNvSpPr txBox="1"/>
          <p:nvPr/>
        </p:nvSpPr>
        <p:spPr>
          <a:xfrm>
            <a:off x="860000" y="4200000"/>
            <a:ext cx="48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43652"/>
                </a:solidFill>
              </a:rPr>
              <a:t>F9 v1.1 launches carried this average payload mass in the SQL result.</a:t>
            </a:r>
            <a:endParaRPr sz="2200">
              <a:solidFill>
                <a:srgbClr val="243652"/>
              </a:solidFill>
            </a:endParaRPr>
          </a:p>
        </p:txBody>
      </p:sp>
      <p:pic>
        <p:nvPicPr>
          <p:cNvPr id="897" name="Google Shape;89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000" y="1650000"/>
            <a:ext cx="4970001" cy="4068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45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6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5" name="Google Shape;905;p4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First Successful Ground-Pad Landing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06" name="Google Shape;906;p46"/>
          <p:cNvSpPr txBox="1"/>
          <p:nvPr/>
        </p:nvSpPr>
        <p:spPr>
          <a:xfrm>
            <a:off x="800000" y="1800000"/>
            <a:ext cx="90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FIRST SUCCESSFUL GROUND-PAD LANDING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907" name="Google Shape;907;p46"/>
          <p:cNvSpPr txBox="1"/>
          <p:nvPr/>
        </p:nvSpPr>
        <p:spPr>
          <a:xfrm>
            <a:off x="860000" y="2530000"/>
            <a:ext cx="54600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D50CE"/>
                </a:solidFill>
              </a:rPr>
              <a:t>December 22, 2015</a:t>
            </a:r>
            <a:endParaRPr b="1" sz="4400">
              <a:solidFill>
                <a:srgbClr val="0D50CE"/>
              </a:solidFill>
            </a:endParaRPr>
          </a:p>
        </p:txBody>
      </p:sp>
      <p:sp>
        <p:nvSpPr>
          <p:cNvPr id="908" name="Google Shape;908;p46"/>
          <p:cNvSpPr txBox="1"/>
          <p:nvPr/>
        </p:nvSpPr>
        <p:spPr>
          <a:xfrm>
            <a:off x="860000" y="4200000"/>
            <a:ext cx="48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43652"/>
                </a:solidFill>
              </a:rPr>
              <a:t>This is the earliest launch date with a successful ground-pad landing outcome.</a:t>
            </a:r>
            <a:endParaRPr sz="2200">
              <a:solidFill>
                <a:srgbClr val="243652"/>
              </a:solidFill>
            </a:endParaRPr>
          </a:p>
        </p:txBody>
      </p:sp>
      <p:pic>
        <p:nvPicPr>
          <p:cNvPr id="909" name="Google Shape;90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000" y="1850000"/>
            <a:ext cx="4969999" cy="330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46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7"/>
          <p:cNvSpPr txBox="1"/>
          <p:nvPr/>
        </p:nvSpPr>
        <p:spPr>
          <a:xfrm>
            <a:off x="762000" y="49530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50CE"/>
                </a:solidFill>
                <a:latin typeface="Arial"/>
                <a:ea typeface="Arial"/>
                <a:cs typeface="Arial"/>
                <a:sym typeface="Arial"/>
              </a:rPr>
              <a:t>SUCCESSFUL DRONE-SHIP LANDINGS</a:t>
            </a:r>
            <a:endParaRPr b="1" sz="1200">
              <a:solidFill>
                <a:srgbClr val="0D50C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Drone-Ship Landings: 4,000–6,000 kg</a:t>
            </a:r>
            <a:endParaRPr b="1" sz="32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7" name="Google Shape;917;p47"/>
          <p:cNvGrpSpPr/>
          <p:nvPr/>
        </p:nvGrpSpPr>
        <p:grpSpPr>
          <a:xfrm>
            <a:off x="4572000" y="1666875"/>
            <a:ext cx="6858000" cy="971700"/>
            <a:chOff x="0" y="0"/>
            <a:chExt cx="6858000" cy="971700"/>
          </a:xfrm>
        </p:grpSpPr>
        <p:sp>
          <p:nvSpPr>
            <p:cNvPr id="918" name="Google Shape;918;p47"/>
            <p:cNvSpPr/>
            <p:nvPr/>
          </p:nvSpPr>
          <p:spPr>
            <a:xfrm>
              <a:off x="0" y="0"/>
              <a:ext cx="6858000" cy="971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7"/>
            <p:cNvSpPr/>
            <p:nvPr/>
          </p:nvSpPr>
          <p:spPr>
            <a:xfrm>
              <a:off x="0" y="0"/>
              <a:ext cx="76200" cy="971700"/>
            </a:xfrm>
            <a:prstGeom prst="roundRect">
              <a:avLst>
                <a:gd fmla="val 50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7"/>
            <p:cNvSpPr txBox="1"/>
            <p:nvPr/>
          </p:nvSpPr>
          <p:spPr>
            <a:xfrm>
              <a:off x="0" y="0"/>
              <a:ext cx="68580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04800" spcFirstLastPara="1" rIns="3048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D50CE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F9 FT B1021.2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Falcon 9 Full Thrust • Drone Ship Landing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1" name="Google Shape;921;p47"/>
          <p:cNvGrpSpPr/>
          <p:nvPr/>
        </p:nvGrpSpPr>
        <p:grpSpPr>
          <a:xfrm>
            <a:off x="4572000" y="2847975"/>
            <a:ext cx="6858000" cy="971700"/>
            <a:chOff x="0" y="0"/>
            <a:chExt cx="6858000" cy="971700"/>
          </a:xfrm>
        </p:grpSpPr>
        <p:sp>
          <p:nvSpPr>
            <p:cNvPr id="922" name="Google Shape;922;p47"/>
            <p:cNvSpPr/>
            <p:nvPr/>
          </p:nvSpPr>
          <p:spPr>
            <a:xfrm>
              <a:off x="0" y="0"/>
              <a:ext cx="6858000" cy="971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0" y="0"/>
              <a:ext cx="76200" cy="971700"/>
            </a:xfrm>
            <a:prstGeom prst="roundRect">
              <a:avLst>
                <a:gd fmla="val 50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7"/>
            <p:cNvSpPr txBox="1"/>
            <p:nvPr/>
          </p:nvSpPr>
          <p:spPr>
            <a:xfrm>
              <a:off x="0" y="0"/>
              <a:ext cx="68580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04800" spcFirstLastPara="1" rIns="3048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D50CE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F9 FT B1031.2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Falcon 9 Full Thrust • Drone Ship Landing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" name="Google Shape;925;p47"/>
          <p:cNvGrpSpPr/>
          <p:nvPr/>
        </p:nvGrpSpPr>
        <p:grpSpPr>
          <a:xfrm>
            <a:off x="4572000" y="4029075"/>
            <a:ext cx="6858000" cy="971700"/>
            <a:chOff x="0" y="0"/>
            <a:chExt cx="6858000" cy="971700"/>
          </a:xfrm>
        </p:grpSpPr>
        <p:sp>
          <p:nvSpPr>
            <p:cNvPr id="926" name="Google Shape;926;p47"/>
            <p:cNvSpPr/>
            <p:nvPr/>
          </p:nvSpPr>
          <p:spPr>
            <a:xfrm>
              <a:off x="0" y="0"/>
              <a:ext cx="6858000" cy="971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0" y="0"/>
              <a:ext cx="76200" cy="971700"/>
            </a:xfrm>
            <a:prstGeom prst="roundRect">
              <a:avLst>
                <a:gd fmla="val 50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7"/>
            <p:cNvSpPr txBox="1"/>
            <p:nvPr/>
          </p:nvSpPr>
          <p:spPr>
            <a:xfrm>
              <a:off x="0" y="0"/>
              <a:ext cx="68580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04800" spcFirstLastPara="1" rIns="3048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D50CE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F9 FT B1022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Falcon 9 Full Thrust • Drone Ship Landing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9" name="Google Shape;929;p47"/>
          <p:cNvGrpSpPr/>
          <p:nvPr/>
        </p:nvGrpSpPr>
        <p:grpSpPr>
          <a:xfrm>
            <a:off x="4572000" y="5210175"/>
            <a:ext cx="6858000" cy="971700"/>
            <a:chOff x="0" y="0"/>
            <a:chExt cx="6858000" cy="971700"/>
          </a:xfrm>
        </p:grpSpPr>
        <p:sp>
          <p:nvSpPr>
            <p:cNvPr id="930" name="Google Shape;930;p47"/>
            <p:cNvSpPr/>
            <p:nvPr/>
          </p:nvSpPr>
          <p:spPr>
            <a:xfrm>
              <a:off x="0" y="0"/>
              <a:ext cx="6858000" cy="9717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0" y="0"/>
              <a:ext cx="76200" cy="971700"/>
            </a:xfrm>
            <a:prstGeom prst="roundRect">
              <a:avLst>
                <a:gd fmla="val 50000" name="adj"/>
              </a:avLst>
            </a:prstGeom>
            <a:solidFill>
              <a:srgbClr val="0D50C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7"/>
            <p:cNvSpPr txBox="1"/>
            <p:nvPr/>
          </p:nvSpPr>
          <p:spPr>
            <a:xfrm>
              <a:off x="0" y="0"/>
              <a:ext cx="68580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04800" spcFirstLastPara="1" rIns="3048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D50CE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F9 FT B1026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Falcon 9 Full Thrust • Drone Ship Landing</a:t>
              </a:r>
              <a:endParaRPr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33" name="Google Shape;93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000" y="1530000"/>
            <a:ext cx="3390001" cy="4717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47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8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" name="Google Shape;941;p4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Mission Outcomes in the SQL Dataset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42" name="Google Shape;942;p48"/>
          <p:cNvSpPr txBox="1"/>
          <p:nvPr/>
        </p:nvSpPr>
        <p:spPr>
          <a:xfrm>
            <a:off x="810000" y="1750000"/>
            <a:ext cx="42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MISSION OUTCOME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943" name="Google Shape;943;p48"/>
          <p:cNvSpPr txBox="1"/>
          <p:nvPr/>
        </p:nvSpPr>
        <p:spPr>
          <a:xfrm>
            <a:off x="5300000" y="1750000"/>
            <a:ext cx="95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COUNT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944" name="Google Shape;944;p48"/>
          <p:cNvSpPr txBox="1"/>
          <p:nvPr/>
        </p:nvSpPr>
        <p:spPr>
          <a:xfrm>
            <a:off x="830000" y="2390000"/>
            <a:ext cx="42999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43652"/>
                </a:solidFill>
              </a:rPr>
              <a:t>Success</a:t>
            </a:r>
            <a:endParaRPr sz="2600">
              <a:solidFill>
                <a:srgbClr val="243652"/>
              </a:solidFill>
            </a:endParaRPr>
          </a:p>
        </p:txBody>
      </p:sp>
      <p:sp>
        <p:nvSpPr>
          <p:cNvPr id="945" name="Google Shape;945;p48"/>
          <p:cNvSpPr txBox="1"/>
          <p:nvPr/>
        </p:nvSpPr>
        <p:spPr>
          <a:xfrm>
            <a:off x="5350000" y="2390000"/>
            <a:ext cx="9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0D50CE"/>
                </a:solidFill>
              </a:rPr>
              <a:t>99</a:t>
            </a:r>
            <a:endParaRPr b="1" sz="3100">
              <a:solidFill>
                <a:srgbClr val="0D50CE"/>
              </a:solidFill>
            </a:endParaRPr>
          </a:p>
        </p:txBody>
      </p:sp>
      <p:sp>
        <p:nvSpPr>
          <p:cNvPr id="946" name="Google Shape;946;p48"/>
          <p:cNvSpPr txBox="1"/>
          <p:nvPr/>
        </p:nvSpPr>
        <p:spPr>
          <a:xfrm>
            <a:off x="830000" y="3390000"/>
            <a:ext cx="42999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43652"/>
                </a:solidFill>
              </a:rPr>
              <a:t>Failure (in flight)</a:t>
            </a:r>
            <a:endParaRPr sz="2600">
              <a:solidFill>
                <a:srgbClr val="243652"/>
              </a:solidFill>
            </a:endParaRPr>
          </a:p>
        </p:txBody>
      </p:sp>
      <p:sp>
        <p:nvSpPr>
          <p:cNvPr id="947" name="Google Shape;947;p48"/>
          <p:cNvSpPr txBox="1"/>
          <p:nvPr/>
        </p:nvSpPr>
        <p:spPr>
          <a:xfrm>
            <a:off x="5350000" y="3390000"/>
            <a:ext cx="9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0D50CE"/>
                </a:solidFill>
              </a:rPr>
              <a:t>1</a:t>
            </a:r>
            <a:endParaRPr b="1" sz="3100">
              <a:solidFill>
                <a:srgbClr val="0D50CE"/>
              </a:solidFill>
            </a:endParaRPr>
          </a:p>
        </p:txBody>
      </p:sp>
      <p:sp>
        <p:nvSpPr>
          <p:cNvPr id="948" name="Google Shape;948;p48"/>
          <p:cNvSpPr txBox="1"/>
          <p:nvPr/>
        </p:nvSpPr>
        <p:spPr>
          <a:xfrm>
            <a:off x="830000" y="4390000"/>
            <a:ext cx="42999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243652"/>
                </a:solidFill>
              </a:rPr>
              <a:t>Success (payload status unclear)</a:t>
            </a:r>
            <a:endParaRPr sz="2300">
              <a:solidFill>
                <a:srgbClr val="243652"/>
              </a:solidFill>
            </a:endParaRPr>
          </a:p>
        </p:txBody>
      </p:sp>
      <p:sp>
        <p:nvSpPr>
          <p:cNvPr id="949" name="Google Shape;949;p48"/>
          <p:cNvSpPr txBox="1"/>
          <p:nvPr/>
        </p:nvSpPr>
        <p:spPr>
          <a:xfrm>
            <a:off x="5350000" y="4390000"/>
            <a:ext cx="9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0D50CE"/>
                </a:solidFill>
              </a:rPr>
              <a:t>1</a:t>
            </a:r>
            <a:endParaRPr b="1" sz="3100">
              <a:solidFill>
                <a:srgbClr val="0D50CE"/>
              </a:solidFill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830000" y="5480000"/>
            <a:ext cx="56001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C6E85"/>
                </a:solidFill>
              </a:rPr>
              <a:t>The SQL result counts mission outcomes across 101 launch records.</a:t>
            </a:r>
            <a:endParaRPr sz="1800">
              <a:solidFill>
                <a:srgbClr val="5C6E85"/>
              </a:solidFill>
            </a:endParaRPr>
          </a:p>
        </p:txBody>
      </p:sp>
      <p:pic>
        <p:nvPicPr>
          <p:cNvPr id="951" name="Google Shape;95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0000" y="1550000"/>
            <a:ext cx="4550000" cy="444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48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9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9" name="Google Shape;959;p4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Boosters with the Maximum Payload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60" name="Google Shape;960;p49"/>
          <p:cNvSpPr txBox="1"/>
          <p:nvPr/>
        </p:nvSpPr>
        <p:spPr>
          <a:xfrm>
            <a:off x="810000" y="175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12 BOOSTER-VERSION ENTRIES IN THE SQL RESULT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961" name="Google Shape;961;p49"/>
          <p:cNvSpPr txBox="1"/>
          <p:nvPr/>
        </p:nvSpPr>
        <p:spPr>
          <a:xfrm>
            <a:off x="900000" y="230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01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62" name="Google Shape;962;p49"/>
          <p:cNvSpPr txBox="1"/>
          <p:nvPr/>
        </p:nvSpPr>
        <p:spPr>
          <a:xfrm>
            <a:off x="1550000" y="2300000"/>
            <a:ext cx="26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B1048.4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63" name="Google Shape;963;p49"/>
          <p:cNvSpPr txBox="1"/>
          <p:nvPr/>
        </p:nvSpPr>
        <p:spPr>
          <a:xfrm>
            <a:off x="900000" y="289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02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64" name="Google Shape;964;p49"/>
          <p:cNvSpPr txBox="1"/>
          <p:nvPr/>
        </p:nvSpPr>
        <p:spPr>
          <a:xfrm>
            <a:off x="1550000" y="2890000"/>
            <a:ext cx="26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B1048.5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65" name="Google Shape;965;p49"/>
          <p:cNvSpPr txBox="1"/>
          <p:nvPr/>
        </p:nvSpPr>
        <p:spPr>
          <a:xfrm>
            <a:off x="900000" y="348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03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66" name="Google Shape;966;p49"/>
          <p:cNvSpPr txBox="1"/>
          <p:nvPr/>
        </p:nvSpPr>
        <p:spPr>
          <a:xfrm>
            <a:off x="1550000" y="3480000"/>
            <a:ext cx="26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B1049.4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67" name="Google Shape;967;p49"/>
          <p:cNvSpPr txBox="1"/>
          <p:nvPr/>
        </p:nvSpPr>
        <p:spPr>
          <a:xfrm>
            <a:off x="900000" y="407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04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68" name="Google Shape;968;p49"/>
          <p:cNvSpPr txBox="1"/>
          <p:nvPr/>
        </p:nvSpPr>
        <p:spPr>
          <a:xfrm>
            <a:off x="1550000" y="4070000"/>
            <a:ext cx="26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B1049.5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69" name="Google Shape;969;p49"/>
          <p:cNvSpPr txBox="1"/>
          <p:nvPr/>
        </p:nvSpPr>
        <p:spPr>
          <a:xfrm>
            <a:off x="900000" y="466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05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70" name="Google Shape;970;p49"/>
          <p:cNvSpPr txBox="1"/>
          <p:nvPr/>
        </p:nvSpPr>
        <p:spPr>
          <a:xfrm>
            <a:off x="1550000" y="4660000"/>
            <a:ext cx="26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B1049.7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71" name="Google Shape;971;p49"/>
          <p:cNvSpPr txBox="1"/>
          <p:nvPr/>
        </p:nvSpPr>
        <p:spPr>
          <a:xfrm>
            <a:off x="900000" y="525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06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72" name="Google Shape;972;p49"/>
          <p:cNvSpPr txBox="1"/>
          <p:nvPr/>
        </p:nvSpPr>
        <p:spPr>
          <a:xfrm>
            <a:off x="1550000" y="5250000"/>
            <a:ext cx="26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B1051.3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73" name="Google Shape;973;p49"/>
          <p:cNvSpPr txBox="1"/>
          <p:nvPr/>
        </p:nvSpPr>
        <p:spPr>
          <a:xfrm>
            <a:off x="4300000" y="230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07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74" name="Google Shape;974;p49"/>
          <p:cNvSpPr txBox="1"/>
          <p:nvPr/>
        </p:nvSpPr>
        <p:spPr>
          <a:xfrm>
            <a:off x="4950000" y="2300000"/>
            <a:ext cx="29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B1051.4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75" name="Google Shape;975;p49"/>
          <p:cNvSpPr txBox="1"/>
          <p:nvPr/>
        </p:nvSpPr>
        <p:spPr>
          <a:xfrm>
            <a:off x="4300000" y="289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08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76" name="Google Shape;976;p49"/>
          <p:cNvSpPr txBox="1"/>
          <p:nvPr/>
        </p:nvSpPr>
        <p:spPr>
          <a:xfrm>
            <a:off x="4950000" y="2890000"/>
            <a:ext cx="29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B1051.6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77" name="Google Shape;977;p49"/>
          <p:cNvSpPr txBox="1"/>
          <p:nvPr/>
        </p:nvSpPr>
        <p:spPr>
          <a:xfrm>
            <a:off x="4300000" y="348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09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78" name="Google Shape;978;p49"/>
          <p:cNvSpPr txBox="1"/>
          <p:nvPr/>
        </p:nvSpPr>
        <p:spPr>
          <a:xfrm>
            <a:off x="4950000" y="3480000"/>
            <a:ext cx="29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B1056.4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79" name="Google Shape;979;p49"/>
          <p:cNvSpPr txBox="1"/>
          <p:nvPr/>
        </p:nvSpPr>
        <p:spPr>
          <a:xfrm>
            <a:off x="4300000" y="407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10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80" name="Google Shape;980;p49"/>
          <p:cNvSpPr txBox="1"/>
          <p:nvPr/>
        </p:nvSpPr>
        <p:spPr>
          <a:xfrm>
            <a:off x="4950000" y="4070000"/>
            <a:ext cx="29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B1058.3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81" name="Google Shape;981;p49"/>
          <p:cNvSpPr txBox="1"/>
          <p:nvPr/>
        </p:nvSpPr>
        <p:spPr>
          <a:xfrm>
            <a:off x="4300000" y="466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11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82" name="Google Shape;982;p49"/>
          <p:cNvSpPr txBox="1"/>
          <p:nvPr/>
        </p:nvSpPr>
        <p:spPr>
          <a:xfrm>
            <a:off x="4950000" y="4660000"/>
            <a:ext cx="29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B1060.2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83" name="Google Shape;983;p49"/>
          <p:cNvSpPr txBox="1"/>
          <p:nvPr/>
        </p:nvSpPr>
        <p:spPr>
          <a:xfrm>
            <a:off x="4300000" y="5250000"/>
            <a:ext cx="579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D50CE"/>
                </a:solidFill>
              </a:rPr>
              <a:t>12</a:t>
            </a:r>
            <a:endParaRPr b="1" sz="1700">
              <a:solidFill>
                <a:srgbClr val="0D50CE"/>
              </a:solidFill>
            </a:endParaRPr>
          </a:p>
        </p:txBody>
      </p:sp>
      <p:sp>
        <p:nvSpPr>
          <p:cNvPr id="984" name="Google Shape;984;p49"/>
          <p:cNvSpPr txBox="1"/>
          <p:nvPr/>
        </p:nvSpPr>
        <p:spPr>
          <a:xfrm>
            <a:off x="4950000" y="5250000"/>
            <a:ext cx="29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F9 B5 B1060.3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985" name="Google Shape;985;p49"/>
          <p:cNvSpPr txBox="1"/>
          <p:nvPr/>
        </p:nvSpPr>
        <p:spPr>
          <a:xfrm>
            <a:off x="900000" y="5900000"/>
            <a:ext cx="6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C6E85"/>
                </a:solidFill>
              </a:rPr>
              <a:t>All 12 results are F9 B5 booster-version entries.</a:t>
            </a:r>
            <a:endParaRPr sz="1700">
              <a:solidFill>
                <a:srgbClr val="5C6E85"/>
              </a:solidFill>
            </a:endParaRPr>
          </a:p>
        </p:txBody>
      </p:sp>
      <p:pic>
        <p:nvPicPr>
          <p:cNvPr id="986" name="Google Shape;98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0000" y="1380000"/>
            <a:ext cx="3139601" cy="457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49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0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4" name="Google Shape;994;p5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Failed Drone-Ship Landings in 2015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995" name="Google Shape;995;p50"/>
          <p:cNvSpPr txBox="1"/>
          <p:nvPr/>
        </p:nvSpPr>
        <p:spPr>
          <a:xfrm>
            <a:off x="810000" y="1770000"/>
            <a:ext cx="6500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50CE"/>
                </a:solidFill>
              </a:rPr>
              <a:t>TWO MATCHING SQL RECORDS</a:t>
            </a:r>
            <a:endParaRPr b="1" sz="1500">
              <a:solidFill>
                <a:srgbClr val="0D50CE"/>
              </a:solidFill>
            </a:endParaRPr>
          </a:p>
        </p:txBody>
      </p:sp>
      <p:sp>
        <p:nvSpPr>
          <p:cNvPr id="996" name="Google Shape;996;p50"/>
          <p:cNvSpPr txBox="1"/>
          <p:nvPr/>
        </p:nvSpPr>
        <p:spPr>
          <a:xfrm>
            <a:off x="850000" y="2500000"/>
            <a:ext cx="31500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D50CE"/>
                </a:solidFill>
              </a:rPr>
              <a:t>JANUARY 2015</a:t>
            </a:r>
            <a:endParaRPr b="1" sz="2400">
              <a:solidFill>
                <a:srgbClr val="0D50CE"/>
              </a:solidFill>
            </a:endParaRPr>
          </a:p>
        </p:txBody>
      </p:sp>
      <p:sp>
        <p:nvSpPr>
          <p:cNvPr id="997" name="Google Shape;997;p50"/>
          <p:cNvSpPr txBox="1"/>
          <p:nvPr/>
        </p:nvSpPr>
        <p:spPr>
          <a:xfrm>
            <a:off x="850000" y="3270000"/>
            <a:ext cx="3150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43652"/>
                </a:solidFill>
              </a:rPr>
              <a:t>F9 v1.1 B1012</a:t>
            </a:r>
            <a:endParaRPr sz="2700">
              <a:solidFill>
                <a:srgbClr val="243652"/>
              </a:solidFill>
            </a:endParaRPr>
          </a:p>
        </p:txBody>
      </p:sp>
      <p:sp>
        <p:nvSpPr>
          <p:cNvPr id="998" name="Google Shape;998;p50"/>
          <p:cNvSpPr txBox="1"/>
          <p:nvPr/>
        </p:nvSpPr>
        <p:spPr>
          <a:xfrm>
            <a:off x="850000" y="4020000"/>
            <a:ext cx="31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C6E85"/>
                </a:solidFill>
              </a:rPr>
              <a:t>CCAFS LC-40</a:t>
            </a:r>
            <a:endParaRPr sz="2000">
              <a:solidFill>
                <a:srgbClr val="5C6E85"/>
              </a:solidFill>
            </a:endParaRPr>
          </a:p>
        </p:txBody>
      </p:sp>
      <p:sp>
        <p:nvSpPr>
          <p:cNvPr id="999" name="Google Shape;999;p50"/>
          <p:cNvSpPr txBox="1"/>
          <p:nvPr/>
        </p:nvSpPr>
        <p:spPr>
          <a:xfrm>
            <a:off x="850000" y="4830000"/>
            <a:ext cx="31500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Failure (drone ship)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1000" name="Google Shape;1000;p50"/>
          <p:cNvSpPr txBox="1"/>
          <p:nvPr/>
        </p:nvSpPr>
        <p:spPr>
          <a:xfrm>
            <a:off x="4200000" y="2500000"/>
            <a:ext cx="31500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D50CE"/>
                </a:solidFill>
              </a:rPr>
              <a:t>APRIL 2015</a:t>
            </a:r>
            <a:endParaRPr b="1" sz="2400">
              <a:solidFill>
                <a:srgbClr val="0D50CE"/>
              </a:solidFill>
            </a:endParaRPr>
          </a:p>
        </p:txBody>
      </p:sp>
      <p:sp>
        <p:nvSpPr>
          <p:cNvPr id="1001" name="Google Shape;1001;p50"/>
          <p:cNvSpPr txBox="1"/>
          <p:nvPr/>
        </p:nvSpPr>
        <p:spPr>
          <a:xfrm>
            <a:off x="4200000" y="3270000"/>
            <a:ext cx="3150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43652"/>
                </a:solidFill>
              </a:rPr>
              <a:t>F9 v1.1 B1015</a:t>
            </a:r>
            <a:endParaRPr sz="2700">
              <a:solidFill>
                <a:srgbClr val="243652"/>
              </a:solidFill>
            </a:endParaRPr>
          </a:p>
        </p:txBody>
      </p:sp>
      <p:sp>
        <p:nvSpPr>
          <p:cNvPr id="1002" name="Google Shape;1002;p50"/>
          <p:cNvSpPr txBox="1"/>
          <p:nvPr/>
        </p:nvSpPr>
        <p:spPr>
          <a:xfrm>
            <a:off x="4200000" y="4020000"/>
            <a:ext cx="315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C6E85"/>
                </a:solidFill>
              </a:rPr>
              <a:t>CCAFS LC-40</a:t>
            </a:r>
            <a:endParaRPr sz="2000">
              <a:solidFill>
                <a:srgbClr val="5C6E85"/>
              </a:solidFill>
            </a:endParaRPr>
          </a:p>
        </p:txBody>
      </p:sp>
      <p:sp>
        <p:nvSpPr>
          <p:cNvPr id="1003" name="Google Shape;1003;p50"/>
          <p:cNvSpPr txBox="1"/>
          <p:nvPr/>
        </p:nvSpPr>
        <p:spPr>
          <a:xfrm>
            <a:off x="4200000" y="4830000"/>
            <a:ext cx="31500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43652"/>
                </a:solidFill>
              </a:rPr>
              <a:t>Failure (drone ship)</a:t>
            </a:r>
            <a:endParaRPr sz="1900">
              <a:solidFill>
                <a:srgbClr val="243652"/>
              </a:solidFill>
            </a:endParaRPr>
          </a:p>
        </p:txBody>
      </p:sp>
      <p:sp>
        <p:nvSpPr>
          <p:cNvPr id="1004" name="Google Shape;1004;p50"/>
          <p:cNvSpPr txBox="1"/>
          <p:nvPr/>
        </p:nvSpPr>
        <p:spPr>
          <a:xfrm>
            <a:off x="900000" y="5720000"/>
            <a:ext cx="6500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5C6E85"/>
                </a:solidFill>
              </a:rPr>
              <a:t>Both 2015 drone-ship failures in the result launched from CCAFS LC-40.</a:t>
            </a:r>
            <a:endParaRPr sz="1700">
              <a:solidFill>
                <a:srgbClr val="5C6E85"/>
              </a:solidFill>
            </a:endParaRPr>
          </a:p>
        </p:txBody>
      </p:sp>
      <p:pic>
        <p:nvPicPr>
          <p:cNvPr id="1005" name="Google Shape;100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0000" y="1420000"/>
            <a:ext cx="3355801" cy="4497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0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3" name="Google Shape;1013;p5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28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Landing Outcomes Ranked by Count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1014" name="Google Shape;1014;p51"/>
          <p:cNvSpPr txBox="1"/>
          <p:nvPr/>
        </p:nvSpPr>
        <p:spPr>
          <a:xfrm>
            <a:off x="830000" y="1890000"/>
            <a:ext cx="680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50CE"/>
                </a:solidFill>
              </a:rPr>
              <a:t>2010-06-04 TO 2017-03-20</a:t>
            </a:r>
            <a:endParaRPr b="1">
              <a:solidFill>
                <a:srgbClr val="0D50CE"/>
              </a:solidFill>
            </a:endParaRPr>
          </a:p>
        </p:txBody>
      </p:sp>
      <p:sp>
        <p:nvSpPr>
          <p:cNvPr id="1015" name="Google Shape;1015;p51"/>
          <p:cNvSpPr txBox="1"/>
          <p:nvPr/>
        </p:nvSpPr>
        <p:spPr>
          <a:xfrm>
            <a:off x="830000" y="2350000"/>
            <a:ext cx="42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50CE"/>
                </a:solidFill>
              </a:rPr>
              <a:t>LANDING OUTCOME</a:t>
            </a:r>
            <a:endParaRPr b="1">
              <a:solidFill>
                <a:srgbClr val="0D50CE"/>
              </a:solidFill>
            </a:endParaRPr>
          </a:p>
        </p:txBody>
      </p:sp>
      <p:sp>
        <p:nvSpPr>
          <p:cNvPr id="1016" name="Google Shape;1016;p51"/>
          <p:cNvSpPr txBox="1"/>
          <p:nvPr/>
        </p:nvSpPr>
        <p:spPr>
          <a:xfrm>
            <a:off x="5250000" y="2350000"/>
            <a:ext cx="900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50CE"/>
                </a:solidFill>
              </a:rPr>
              <a:t>COUNT</a:t>
            </a:r>
            <a:endParaRPr b="1">
              <a:solidFill>
                <a:srgbClr val="0D50CE"/>
              </a:solidFill>
            </a:endParaRPr>
          </a:p>
        </p:txBody>
      </p:sp>
      <p:sp>
        <p:nvSpPr>
          <p:cNvPr id="1017" name="Google Shape;1017;p51"/>
          <p:cNvSpPr txBox="1"/>
          <p:nvPr/>
        </p:nvSpPr>
        <p:spPr>
          <a:xfrm>
            <a:off x="6620000" y="2350000"/>
            <a:ext cx="8499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50CE"/>
                </a:solidFill>
              </a:rPr>
              <a:t>RANK</a:t>
            </a:r>
            <a:endParaRPr b="1">
              <a:solidFill>
                <a:srgbClr val="0D50CE"/>
              </a:solidFill>
            </a:endParaRPr>
          </a:p>
        </p:txBody>
      </p:sp>
      <p:sp>
        <p:nvSpPr>
          <p:cNvPr id="1018" name="Google Shape;1018;p51"/>
          <p:cNvSpPr txBox="1"/>
          <p:nvPr/>
        </p:nvSpPr>
        <p:spPr>
          <a:xfrm>
            <a:off x="830000" y="2790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No attempt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5250000" y="2790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10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0" name="Google Shape;1020;p51"/>
          <p:cNvSpPr txBox="1"/>
          <p:nvPr/>
        </p:nvSpPr>
        <p:spPr>
          <a:xfrm>
            <a:off x="6620000" y="2790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1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1" name="Google Shape;1021;p51"/>
          <p:cNvSpPr txBox="1"/>
          <p:nvPr/>
        </p:nvSpPr>
        <p:spPr>
          <a:xfrm>
            <a:off x="830000" y="3195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Failure (drone ship)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22" name="Google Shape;1022;p51"/>
          <p:cNvSpPr txBox="1"/>
          <p:nvPr/>
        </p:nvSpPr>
        <p:spPr>
          <a:xfrm>
            <a:off x="5250000" y="3195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5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3" name="Google Shape;1023;p51"/>
          <p:cNvSpPr txBox="1"/>
          <p:nvPr/>
        </p:nvSpPr>
        <p:spPr>
          <a:xfrm>
            <a:off x="6620000" y="3195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2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4" name="Google Shape;1024;p51"/>
          <p:cNvSpPr txBox="1"/>
          <p:nvPr/>
        </p:nvSpPr>
        <p:spPr>
          <a:xfrm>
            <a:off x="830000" y="3600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Success (drone ship)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25" name="Google Shape;1025;p51"/>
          <p:cNvSpPr txBox="1"/>
          <p:nvPr/>
        </p:nvSpPr>
        <p:spPr>
          <a:xfrm>
            <a:off x="5250000" y="3600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5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6" name="Google Shape;1026;p51"/>
          <p:cNvSpPr txBox="1"/>
          <p:nvPr/>
        </p:nvSpPr>
        <p:spPr>
          <a:xfrm>
            <a:off x="6620000" y="3600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2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7" name="Google Shape;1027;p51"/>
          <p:cNvSpPr txBox="1"/>
          <p:nvPr/>
        </p:nvSpPr>
        <p:spPr>
          <a:xfrm>
            <a:off x="830000" y="4005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Controlled (ocean)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28" name="Google Shape;1028;p51"/>
          <p:cNvSpPr txBox="1"/>
          <p:nvPr/>
        </p:nvSpPr>
        <p:spPr>
          <a:xfrm>
            <a:off x="5250000" y="4005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3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29" name="Google Shape;1029;p51"/>
          <p:cNvSpPr txBox="1"/>
          <p:nvPr/>
        </p:nvSpPr>
        <p:spPr>
          <a:xfrm>
            <a:off x="6620000" y="4005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4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0" name="Google Shape;1030;p51"/>
          <p:cNvSpPr txBox="1"/>
          <p:nvPr/>
        </p:nvSpPr>
        <p:spPr>
          <a:xfrm>
            <a:off x="830000" y="4410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Success (ground pad)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31" name="Google Shape;1031;p51"/>
          <p:cNvSpPr txBox="1"/>
          <p:nvPr/>
        </p:nvSpPr>
        <p:spPr>
          <a:xfrm>
            <a:off x="5250000" y="4410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3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2" name="Google Shape;1032;p51"/>
          <p:cNvSpPr txBox="1"/>
          <p:nvPr/>
        </p:nvSpPr>
        <p:spPr>
          <a:xfrm>
            <a:off x="6620000" y="4410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4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3" name="Google Shape;1033;p51"/>
          <p:cNvSpPr txBox="1"/>
          <p:nvPr/>
        </p:nvSpPr>
        <p:spPr>
          <a:xfrm>
            <a:off x="830000" y="4815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Failure (parachute)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34" name="Google Shape;1034;p51"/>
          <p:cNvSpPr txBox="1"/>
          <p:nvPr/>
        </p:nvSpPr>
        <p:spPr>
          <a:xfrm>
            <a:off x="5250000" y="4815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2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5" name="Google Shape;1035;p51"/>
          <p:cNvSpPr txBox="1"/>
          <p:nvPr/>
        </p:nvSpPr>
        <p:spPr>
          <a:xfrm>
            <a:off x="6620000" y="4815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6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6" name="Google Shape;1036;p51"/>
          <p:cNvSpPr txBox="1"/>
          <p:nvPr/>
        </p:nvSpPr>
        <p:spPr>
          <a:xfrm>
            <a:off x="830000" y="5220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Uncontrolled (ocean)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37" name="Google Shape;1037;p51"/>
          <p:cNvSpPr txBox="1"/>
          <p:nvPr/>
        </p:nvSpPr>
        <p:spPr>
          <a:xfrm>
            <a:off x="5250000" y="5220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2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8" name="Google Shape;1038;p51"/>
          <p:cNvSpPr txBox="1"/>
          <p:nvPr/>
        </p:nvSpPr>
        <p:spPr>
          <a:xfrm>
            <a:off x="6620000" y="5220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6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39" name="Google Shape;1039;p51"/>
          <p:cNvSpPr txBox="1"/>
          <p:nvPr/>
        </p:nvSpPr>
        <p:spPr>
          <a:xfrm>
            <a:off x="830000" y="5625000"/>
            <a:ext cx="42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652"/>
                </a:solidFill>
              </a:rPr>
              <a:t>Precluded (drone ship)</a:t>
            </a:r>
            <a:endParaRPr sz="1800">
              <a:solidFill>
                <a:srgbClr val="243652"/>
              </a:solidFill>
            </a:endParaRPr>
          </a:p>
        </p:txBody>
      </p:sp>
      <p:sp>
        <p:nvSpPr>
          <p:cNvPr id="1040" name="Google Shape;1040;p51"/>
          <p:cNvSpPr txBox="1"/>
          <p:nvPr/>
        </p:nvSpPr>
        <p:spPr>
          <a:xfrm>
            <a:off x="5250000" y="5625000"/>
            <a:ext cx="90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1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41" name="Google Shape;1041;p51"/>
          <p:cNvSpPr txBox="1"/>
          <p:nvPr/>
        </p:nvSpPr>
        <p:spPr>
          <a:xfrm>
            <a:off x="6620000" y="5625000"/>
            <a:ext cx="84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50CE"/>
                </a:solidFill>
              </a:rPr>
              <a:t>8</a:t>
            </a:r>
            <a:endParaRPr b="1" sz="1800">
              <a:solidFill>
                <a:srgbClr val="0D50CE"/>
              </a:solidFill>
            </a:endParaRPr>
          </a:p>
        </p:txBody>
      </p:sp>
      <p:sp>
        <p:nvSpPr>
          <p:cNvPr id="1042" name="Google Shape;1042;p51"/>
          <p:cNvSpPr txBox="1"/>
          <p:nvPr/>
        </p:nvSpPr>
        <p:spPr>
          <a:xfrm>
            <a:off x="830000" y="1400000"/>
            <a:ext cx="6800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C6E85"/>
                </a:solidFill>
              </a:rPr>
              <a:t>No attempt is the most common landing outcome, with 10 records.</a:t>
            </a:r>
            <a:endParaRPr>
              <a:solidFill>
                <a:srgbClr val="5C6E85"/>
              </a:solidFill>
            </a:endParaRPr>
          </a:p>
        </p:txBody>
      </p:sp>
      <p:pic>
        <p:nvPicPr>
          <p:cNvPr id="1043" name="Google Shape;104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000" y="1435094"/>
            <a:ext cx="3271201" cy="4461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00" y="6440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51"/>
          <p:cNvSpPr txBox="1"/>
          <p:nvPr/>
        </p:nvSpPr>
        <p:spPr>
          <a:xfrm>
            <a:off x="1260000" y="6380000"/>
            <a:ext cx="9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50CE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https://github.com/treinart/IBM-Data-Science-Professional-Certificate/blob/main/10_Applied%20Data%20Science%20Capstone/Module%202/jupyter-labs-eda-sql-coursera_sqllite.ipynb</a:t>
            </a:r>
            <a:endParaRPr sz="900" u="sng">
              <a:solidFill>
                <a:srgbClr val="0D50CE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2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6" name="Google Shape;1056;p5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Launch Sites and Record Clusters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057" name="Google Shape;105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097" y="1316736"/>
            <a:ext cx="7743256" cy="272948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53"/>
          <p:cNvSpPr txBox="1"/>
          <p:nvPr/>
        </p:nvSpPr>
        <p:spPr>
          <a:xfrm>
            <a:off x="8714232" y="1344168"/>
            <a:ext cx="25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948CB"/>
                </a:solidFill>
              </a:rPr>
              <a:t>LOCATIONS</a:t>
            </a:r>
            <a:endParaRPr b="1" sz="1200">
              <a:solidFill>
                <a:srgbClr val="0948CB"/>
              </a:solidFill>
            </a:endParaRPr>
          </a:p>
        </p:txBody>
      </p:sp>
      <p:sp>
        <p:nvSpPr>
          <p:cNvPr id="1059" name="Google Shape;1059;p53"/>
          <p:cNvSpPr txBox="1"/>
          <p:nvPr/>
        </p:nvSpPr>
        <p:spPr>
          <a:xfrm>
            <a:off x="8714232" y="1664208"/>
            <a:ext cx="2587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42E"/>
                </a:solidFill>
              </a:rPr>
              <a:t>VAFB SLC-4E is in California; KSC LC-39A and the two CCAFS pads are in Florida.</a:t>
            </a:r>
            <a:endParaRPr>
              <a:solidFill>
                <a:srgbClr val="1F242E"/>
              </a:solidFill>
            </a:endParaRPr>
          </a:p>
        </p:txBody>
      </p:sp>
      <p:sp>
        <p:nvSpPr>
          <p:cNvPr id="1060" name="Google Shape;1060;p53"/>
          <p:cNvSpPr txBox="1"/>
          <p:nvPr/>
        </p:nvSpPr>
        <p:spPr>
          <a:xfrm>
            <a:off x="8714232" y="2578608"/>
            <a:ext cx="25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948CB"/>
                </a:solidFill>
              </a:rPr>
              <a:t>LAUNCH RECORDS</a:t>
            </a:r>
            <a:endParaRPr b="1" sz="1200">
              <a:solidFill>
                <a:srgbClr val="0948CB"/>
              </a:solidFill>
            </a:endParaRPr>
          </a:p>
        </p:txBody>
      </p:sp>
      <p:sp>
        <p:nvSpPr>
          <p:cNvPr id="1061" name="Google Shape;1061;p53"/>
          <p:cNvSpPr txBox="1"/>
          <p:nvPr/>
        </p:nvSpPr>
        <p:spPr>
          <a:xfrm>
            <a:off x="8714232" y="2889504"/>
            <a:ext cx="2587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42E"/>
                </a:solidFill>
              </a:rPr>
              <a:t>Yellow circles group launch records: 10 at VAFB and 46 in Florida. The Florida close-up splits those 46 into 13 at KSC and 33 at the two CCAFS pads.</a:t>
            </a:r>
            <a:endParaRPr>
              <a:solidFill>
                <a:srgbClr val="1F242E"/>
              </a:solidFill>
            </a:endParaRPr>
          </a:p>
        </p:txBody>
      </p:sp>
      <p:sp>
        <p:nvSpPr>
          <p:cNvPr id="1062" name="Google Shape;1062;p53"/>
          <p:cNvSpPr txBox="1"/>
          <p:nvPr/>
        </p:nvSpPr>
        <p:spPr>
          <a:xfrm>
            <a:off x="8714232" y="4599432"/>
            <a:ext cx="25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948CB"/>
                </a:solidFill>
              </a:rPr>
              <a:t>MAP KEY</a:t>
            </a:r>
            <a:endParaRPr b="1" sz="1200">
              <a:solidFill>
                <a:srgbClr val="0948CB"/>
              </a:solidFill>
            </a:endParaRPr>
          </a:p>
        </p:txBody>
      </p:sp>
      <p:sp>
        <p:nvSpPr>
          <p:cNvPr id="1063" name="Google Shape;1063;p53"/>
          <p:cNvSpPr txBox="1"/>
          <p:nvPr/>
        </p:nvSpPr>
        <p:spPr>
          <a:xfrm>
            <a:off x="8714232" y="4910328"/>
            <a:ext cx="2587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42E"/>
                </a:solidFill>
              </a:rPr>
              <a:t>Orange rings show a 1 km radius around each site. The upper-right coordinates show the cursor position when each map was captured.</a:t>
            </a:r>
            <a:endParaRPr>
              <a:solidFill>
                <a:srgbClr val="1F242E"/>
              </a:solidFill>
            </a:endParaRPr>
          </a:p>
        </p:txBody>
      </p:sp>
      <p:sp>
        <p:nvSpPr>
          <p:cNvPr id="1064" name="Google Shape;1064;p53"/>
          <p:cNvSpPr txBox="1"/>
          <p:nvPr/>
        </p:nvSpPr>
        <p:spPr>
          <a:xfrm>
            <a:off x="1261872" y="6382512"/>
            <a:ext cx="10058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4D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https://github.com/treinart/IBM-Data-Science-Professional-Certificate/blob/main/10_Applied%20Data%20Science%20Capstone/Module%203/lab-jupyter-launch-site-location-v2.ipynb</a:t>
            </a:r>
            <a:endParaRPr sz="900" u="sng">
              <a:solidFill>
                <a:srgbClr val="0D4DCC"/>
              </a:solidFill>
            </a:endParaRPr>
          </a:p>
        </p:txBody>
      </p:sp>
      <p:pic>
        <p:nvPicPr>
          <p:cNvPr id="1065" name="Google Shape;1065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240" y="4115854"/>
            <a:ext cx="2340865" cy="211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5264" y="4114800"/>
            <a:ext cx="5266944" cy="2121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0120" y="6432804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3" name="Google Shape;1073;p5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Landing Outcomes at KSC LC-39A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074" name="Google Shape;107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40" y="1326539"/>
            <a:ext cx="4956048" cy="4872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54"/>
          <p:cNvSpPr txBox="1"/>
          <p:nvPr/>
        </p:nvSpPr>
        <p:spPr>
          <a:xfrm>
            <a:off x="1261872" y="6382512"/>
            <a:ext cx="10058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4D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https://github.com/treinart/IBM-Data-Science-Professional-Certificate/blob/main/10_Applied%20Data%20Science%20Capstone/Module%203/lab-jupyter-launch-site-location-v2.ipynb</a:t>
            </a:r>
            <a:endParaRPr sz="900" u="sng">
              <a:solidFill>
                <a:srgbClr val="0D4DCC"/>
              </a:solidFill>
            </a:endParaRPr>
          </a:p>
        </p:txBody>
      </p:sp>
      <p:pic>
        <p:nvPicPr>
          <p:cNvPr id="1076" name="Google Shape;1076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0120" y="64328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54"/>
          <p:cNvSpPr/>
          <p:nvPr/>
        </p:nvSpPr>
        <p:spPr>
          <a:xfrm>
            <a:off x="6096000" y="1285875"/>
            <a:ext cx="5181600" cy="4619700"/>
          </a:xfrm>
          <a:prstGeom prst="roundRect">
            <a:avLst>
              <a:gd fmla="val 247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54"/>
          <p:cNvSpPr/>
          <p:nvPr/>
        </p:nvSpPr>
        <p:spPr>
          <a:xfrm>
            <a:off x="6324600" y="1476375"/>
            <a:ext cx="16191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54"/>
          <p:cNvSpPr txBox="1"/>
          <p:nvPr/>
        </p:nvSpPr>
        <p:spPr>
          <a:xfrm>
            <a:off x="6419850" y="1504950"/>
            <a:ext cx="1428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LAUNCH SITE METRICS</a:t>
            </a:r>
            <a:endParaRPr b="1" sz="85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0" name="Google Shape;1080;p54"/>
          <p:cNvSpPr txBox="1"/>
          <p:nvPr/>
        </p:nvSpPr>
        <p:spPr>
          <a:xfrm>
            <a:off x="6324600" y="1781175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KSC LC-39A Launch Complex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13 mapped launch records analyzed in this dataset</a:t>
            </a:r>
            <a:endParaRPr b="1" sz="17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81" name="Google Shape;1081;p54"/>
          <p:cNvCxnSpPr/>
          <p:nvPr/>
        </p:nvCxnSpPr>
        <p:spPr>
          <a:xfrm>
            <a:off x="6324600" y="2305050"/>
            <a:ext cx="47244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2" name="Google Shape;1082;p54"/>
          <p:cNvSpPr txBox="1"/>
          <p:nvPr/>
        </p:nvSpPr>
        <p:spPr>
          <a:xfrm>
            <a:off x="6324600" y="2419350"/>
            <a:ext cx="228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9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2890">
              <a:solidFill>
                <a:srgbClr val="22C5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Successful Landings</a:t>
            </a:r>
            <a:endParaRPr b="1" sz="2890">
              <a:solidFill>
                <a:srgbClr val="22C5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76.9% site success rate</a:t>
            </a:r>
            <a:endParaRPr b="1" sz="2890">
              <a:solidFill>
                <a:srgbClr val="22C5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3" name="Google Shape;1083;p54"/>
          <p:cNvSpPr txBox="1"/>
          <p:nvPr/>
        </p:nvSpPr>
        <p:spPr>
          <a:xfrm>
            <a:off x="8763000" y="2419350"/>
            <a:ext cx="2286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9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2890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Failed Landings</a:t>
            </a:r>
            <a:endParaRPr b="1" sz="2890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23.1% landing failure rate</a:t>
            </a:r>
            <a:endParaRPr b="1" sz="2890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84" name="Google Shape;1084;p54"/>
          <p:cNvCxnSpPr/>
          <p:nvPr/>
        </p:nvCxnSpPr>
        <p:spPr>
          <a:xfrm>
            <a:off x="6324600" y="3333750"/>
            <a:ext cx="47244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54"/>
          <p:cNvSpPr/>
          <p:nvPr/>
        </p:nvSpPr>
        <p:spPr>
          <a:xfrm>
            <a:off x="6324600" y="3448050"/>
            <a:ext cx="4724400" cy="2305200"/>
          </a:xfrm>
          <a:prstGeom prst="roundRect">
            <a:avLst>
              <a:gd fmla="val 413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54"/>
          <p:cNvSpPr txBox="1"/>
          <p:nvPr/>
        </p:nvSpPr>
        <p:spPr>
          <a:xfrm>
            <a:off x="6515100" y="3562350"/>
            <a:ext cx="43434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READING THE MAP</a:t>
            </a:r>
            <a:endParaRPr b="1" sz="85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Each marker pin represents an individual launch event. </a:t>
            </a:r>
            <a:r>
              <a:rPr b="1" lang="en-US" sz="950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r>
              <a:rPr b="0" lang="en-US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indicates a successful first-stage landing, while </a:t>
            </a:r>
            <a:r>
              <a:rPr b="1" lang="en-US" sz="95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red</a:t>
            </a:r>
            <a:r>
              <a:rPr b="0" lang="en-US"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denotes a landing failure. The expanded popup details a recorded failure.</a:t>
            </a:r>
            <a:endParaRPr b="1" sz="85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GEOGRAPHIC DETAILS</a:t>
            </a:r>
            <a:endParaRPr b="1" sz="85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orange boundary ring illustrates a 1 km proximity perimeter around the launch complex. Upper-right coordinates mark the active cursor position in this capture.</a:t>
            </a:r>
            <a:endParaRPr b="1" sz="85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5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2" name="Google Shape;1092;p5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VAFB SLC-4E: Proximity to Key Features</a:t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1093" name="Google Shape;109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40" y="1364052"/>
            <a:ext cx="5623561" cy="3398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55"/>
          <p:cNvSpPr txBox="1"/>
          <p:nvPr/>
        </p:nvSpPr>
        <p:spPr>
          <a:xfrm>
            <a:off x="777240" y="4937760"/>
            <a:ext cx="562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948CB"/>
                </a:solidFill>
              </a:rPr>
              <a:t>VAFB SLC-4E | SELECTED MAP POINTS</a:t>
            </a:r>
            <a:endParaRPr b="1" sz="1200">
              <a:solidFill>
                <a:srgbClr val="0948CB"/>
              </a:solidFill>
            </a:endParaRPr>
          </a:p>
        </p:txBody>
      </p:sp>
      <p:sp>
        <p:nvSpPr>
          <p:cNvPr id="1095" name="Google Shape;1095;p55"/>
          <p:cNvSpPr txBox="1"/>
          <p:nvPr/>
        </p:nvSpPr>
        <p:spPr>
          <a:xfrm>
            <a:off x="777240" y="5266944"/>
            <a:ext cx="5623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42E"/>
                </a:solidFill>
              </a:rPr>
              <a:t>Railway 1.26 km  •  Coastline 1.35 km</a:t>
            </a:r>
            <a:endParaRPr sz="1700">
              <a:solidFill>
                <a:srgbClr val="1F24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F242E"/>
                </a:solidFill>
              </a:rPr>
              <a:t>Highway 8.85 km  •  City 12.62 km</a:t>
            </a:r>
            <a:endParaRPr sz="1700">
              <a:solidFill>
                <a:srgbClr val="1F242E"/>
              </a:solidFill>
            </a:endParaRPr>
          </a:p>
        </p:txBody>
      </p:sp>
      <p:sp>
        <p:nvSpPr>
          <p:cNvPr id="1096" name="Google Shape;1096;p55"/>
          <p:cNvSpPr txBox="1"/>
          <p:nvPr/>
        </p:nvSpPr>
        <p:spPr>
          <a:xfrm>
            <a:off x="777240" y="5916168"/>
            <a:ext cx="562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42E"/>
                </a:solidFill>
              </a:rPr>
              <a:t>Of these selected points, the railway and coast are closest.</a:t>
            </a:r>
            <a:endParaRPr sz="1200">
              <a:solidFill>
                <a:srgbClr val="1F242E"/>
              </a:solidFill>
            </a:endParaRPr>
          </a:p>
        </p:txBody>
      </p:sp>
      <p:sp>
        <p:nvSpPr>
          <p:cNvPr id="1097" name="Google Shape;1097;p55"/>
          <p:cNvSpPr txBox="1"/>
          <p:nvPr/>
        </p:nvSpPr>
        <p:spPr>
          <a:xfrm>
            <a:off x="6556248" y="5166360"/>
            <a:ext cx="480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42E"/>
                </a:solidFill>
              </a:rPr>
              <a:t>Blue lines connect VAFB to selected feature points. The VAFB rows show the calculated distances. The upper-right coordinates show the cursor position.</a:t>
            </a:r>
            <a:endParaRPr>
              <a:solidFill>
                <a:srgbClr val="1F242E"/>
              </a:solidFill>
            </a:endParaRPr>
          </a:p>
        </p:txBody>
      </p:sp>
      <p:sp>
        <p:nvSpPr>
          <p:cNvPr id="1098" name="Google Shape;1098;p55"/>
          <p:cNvSpPr txBox="1"/>
          <p:nvPr/>
        </p:nvSpPr>
        <p:spPr>
          <a:xfrm>
            <a:off x="1261872" y="6382512"/>
            <a:ext cx="10058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D4D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https://github.com/treinart/IBM-Data-Science-Professional-Certificate/blob/main/10_Applied%20Data%20Science%20Capstone/Module%203/lab-jupyter-launch-site-location-v2.ipynb</a:t>
            </a:r>
            <a:endParaRPr sz="900" u="sng">
              <a:solidFill>
                <a:srgbClr val="0D4DCC"/>
              </a:solidFill>
            </a:endParaRPr>
          </a:p>
        </p:txBody>
      </p:sp>
      <p:pic>
        <p:nvPicPr>
          <p:cNvPr id="1099" name="Google Shape;1099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6248" y="1362915"/>
            <a:ext cx="4809745" cy="3546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0120" y="64328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55"/>
          <p:cNvSpPr/>
          <p:nvPr/>
        </p:nvSpPr>
        <p:spPr>
          <a:xfrm>
            <a:off x="6556248" y="4123944"/>
            <a:ext cx="4809600" cy="786300"/>
          </a:xfrm>
          <a:prstGeom prst="rect">
            <a:avLst/>
          </a:prstGeom>
          <a:noFill/>
          <a:ln cap="flat" cmpd="sng" w="25400">
            <a:solidFill>
              <a:srgbClr val="D64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56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7"/>
          <p:cNvSpPr txBox="1"/>
          <p:nvPr/>
        </p:nvSpPr>
        <p:spPr>
          <a:xfrm>
            <a:off x="762000" y="381000"/>
            <a:ext cx="1066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SpaceX Launch Analytics • Dashboard Insights</a:t>
            </a:r>
            <a:endParaRPr b="1" i="0" sz="900" u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Successful Landings by Launch Site</a:t>
            </a:r>
            <a:endParaRPr b="1" i="0" sz="900" u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2" name="Google Shape;1112;p57"/>
          <p:cNvGrpSpPr/>
          <p:nvPr/>
        </p:nvGrpSpPr>
        <p:grpSpPr>
          <a:xfrm>
            <a:off x="762000" y="1190625"/>
            <a:ext cx="7143900" cy="4333800"/>
            <a:chOff x="762000" y="1190625"/>
            <a:chExt cx="7143900" cy="4333800"/>
          </a:xfrm>
        </p:grpSpPr>
        <p:sp>
          <p:nvSpPr>
            <p:cNvPr id="1113" name="Google Shape;1113;p57"/>
            <p:cNvSpPr/>
            <p:nvPr/>
          </p:nvSpPr>
          <p:spPr>
            <a:xfrm>
              <a:off x="762000" y="1190625"/>
              <a:ext cx="7143900" cy="4333800"/>
            </a:xfrm>
            <a:prstGeom prst="roundRect">
              <a:avLst>
                <a:gd fmla="val 26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4" name="Google Shape;1114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62144" y="1333500"/>
              <a:ext cx="5543700" cy="3190800"/>
            </a:xfrm>
            <a:prstGeom prst="roundRect">
              <a:avLst>
                <a:gd fmla="val 1790" name="adj"/>
              </a:avLst>
            </a:prstGeom>
            <a:noFill/>
            <a:ln>
              <a:noFill/>
            </a:ln>
          </p:spPr>
        </p:pic>
        <p:sp>
          <p:nvSpPr>
            <p:cNvPr id="1115" name="Google Shape;1115;p57"/>
            <p:cNvSpPr/>
            <p:nvPr/>
          </p:nvSpPr>
          <p:spPr>
            <a:xfrm>
              <a:off x="914400" y="4714875"/>
              <a:ext cx="6839100" cy="647700"/>
            </a:xfrm>
            <a:prstGeom prst="roundRect">
              <a:avLst>
                <a:gd fmla="val 1176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57"/>
            <p:cNvSpPr txBox="1"/>
            <p:nvPr/>
          </p:nvSpPr>
          <p:spPr>
            <a:xfrm>
              <a:off x="1066800" y="4781550"/>
              <a:ext cx="65343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Key Takeaway: </a:t>
              </a:r>
              <a:r>
                <a:rPr b="0" i="0" lang="en-US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Pie slices show landing success share across sites, not individual site launch success rates.</a:t>
              </a:r>
              <a:endParaRPr b="1" i="0" sz="11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7" name="Google Shape;1117;p57"/>
          <p:cNvGrpSpPr/>
          <p:nvPr/>
        </p:nvGrpSpPr>
        <p:grpSpPr>
          <a:xfrm>
            <a:off x="8096250" y="1190625"/>
            <a:ext cx="3333900" cy="4333800"/>
            <a:chOff x="8096250" y="1190625"/>
            <a:chExt cx="3333900" cy="4333800"/>
          </a:xfrm>
        </p:grpSpPr>
        <p:sp>
          <p:nvSpPr>
            <p:cNvPr id="1118" name="Google Shape;1118;p57"/>
            <p:cNvSpPr/>
            <p:nvPr/>
          </p:nvSpPr>
          <p:spPr>
            <a:xfrm>
              <a:off x="8096250" y="1190625"/>
              <a:ext cx="3333900" cy="4333800"/>
            </a:xfrm>
            <a:prstGeom prst="roundRect">
              <a:avLst>
                <a:gd fmla="val 342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57"/>
            <p:cNvSpPr/>
            <p:nvPr/>
          </p:nvSpPr>
          <p:spPr>
            <a:xfrm>
              <a:off x="8324850" y="1428750"/>
              <a:ext cx="1190700" cy="2286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57"/>
            <p:cNvSpPr txBox="1"/>
            <p:nvPr/>
          </p:nvSpPr>
          <p:spPr>
            <a:xfrm>
              <a:off x="8420100" y="1457325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ALL-SITE VIEW</a:t>
              </a:r>
              <a:endParaRPr b="1" i="0" sz="85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21" name="Google Shape;1121;p57"/>
            <p:cNvSpPr txBox="1"/>
            <p:nvPr/>
          </p:nvSpPr>
          <p:spPr>
            <a:xfrm>
              <a:off x="8324850" y="1771650"/>
              <a:ext cx="28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65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Total Success Distribution</a:t>
              </a:r>
              <a:endParaRPr b="1" i="0" sz="1665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971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Across four active launch sites</a:t>
              </a:r>
              <a:endParaRPr b="1" i="0" sz="1665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22" name="Google Shape;1122;p57"/>
            <p:cNvCxnSpPr/>
            <p:nvPr/>
          </p:nvCxnSpPr>
          <p:spPr>
            <a:xfrm>
              <a:off x="8324850" y="2362200"/>
              <a:ext cx="2876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3" name="Google Shape;1123;p57"/>
            <p:cNvSpPr txBox="1"/>
            <p:nvPr/>
          </p:nvSpPr>
          <p:spPr>
            <a:xfrm>
              <a:off x="8324850" y="2495550"/>
              <a:ext cx="2876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00" u="none" strike="noStrike">
                  <a:solidFill>
                    <a:srgbClr val="22C55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41.7%</a:t>
              </a:r>
              <a:endParaRPr b="0" i="0" sz="3800" u="none" strike="noStrike">
                <a:solidFill>
                  <a:srgbClr val="22C5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200" u="none" strike="noStrike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KSC LC-39A Share</a:t>
              </a:r>
              <a:endParaRPr b="0" i="0" sz="1200" u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00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Contributed 10 of 24 successful landings</a:t>
              </a:r>
              <a:endParaRPr b="0" i="0" sz="3800" u="none" strike="noStrike">
                <a:solidFill>
                  <a:srgbClr val="22C5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cxnSp>
          <p:nvCxnSpPr>
            <p:cNvPr id="1124" name="Google Shape;1124;p57"/>
            <p:cNvCxnSpPr/>
            <p:nvPr/>
          </p:nvCxnSpPr>
          <p:spPr>
            <a:xfrm>
              <a:off x="8324850" y="3562350"/>
              <a:ext cx="2876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5" name="Google Shape;1125;p57"/>
            <p:cNvSpPr/>
            <p:nvPr/>
          </p:nvSpPr>
          <p:spPr>
            <a:xfrm>
              <a:off x="8324850" y="3714750"/>
              <a:ext cx="2876700" cy="1571700"/>
            </a:xfrm>
            <a:prstGeom prst="roundRect">
              <a:avLst>
                <a:gd fmla="val 606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57"/>
            <p:cNvSpPr txBox="1"/>
            <p:nvPr/>
          </p:nvSpPr>
          <p:spPr>
            <a:xfrm>
              <a:off x="8496300" y="3848100"/>
              <a:ext cx="2533800" cy="13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TOTAL SUCCESSES</a:t>
              </a:r>
              <a:endParaRPr b="1" i="0" sz="85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24 Landings</a:t>
              </a:r>
              <a:endParaRPr b="1" i="0" sz="200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CBD5E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Across all 4 sites</a:t>
              </a:r>
              <a:endParaRPr b="0" i="0" sz="1100" u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-US" sz="95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KSC LC-39A (10), VAFB SLC-4E (4), CCAFS LC-40 (7), CCAFS SLC-40 (3).</a:t>
              </a:r>
              <a:endParaRPr b="1" i="0" sz="85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7" name="Google Shape;1127;p57"/>
          <p:cNvGrpSpPr/>
          <p:nvPr/>
        </p:nvGrpSpPr>
        <p:grpSpPr>
          <a:xfrm>
            <a:off x="762000" y="5734050"/>
            <a:ext cx="10668150" cy="609750"/>
            <a:chOff x="762000" y="5734050"/>
            <a:chExt cx="10668150" cy="609750"/>
          </a:xfrm>
        </p:grpSpPr>
        <p:cxnSp>
          <p:nvCxnSpPr>
            <p:cNvPr id="1128" name="Google Shape;1128;p57"/>
            <p:cNvCxnSpPr/>
            <p:nvPr/>
          </p:nvCxnSpPr>
          <p:spPr>
            <a:xfrm>
              <a:off x="762000" y="57340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9" name="Google Shape;1129;p57"/>
            <p:cNvSpPr txBox="1"/>
            <p:nvPr/>
          </p:nvSpPr>
          <p:spPr>
            <a:xfrm>
              <a:off x="762000" y="5867400"/>
              <a:ext cx="571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Live app: https://spacex-launch-analytics.netlify.app/</a:t>
              </a:r>
              <a:endParaRPr sz="95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130" name="Google Shape;1130;p5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2000" y="6153150"/>
              <a:ext cx="171600" cy="1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57"/>
            <p:cNvSpPr txBox="1"/>
            <p:nvPr/>
          </p:nvSpPr>
          <p:spPr>
            <a:xfrm>
              <a:off x="1009650" y="6134100"/>
              <a:ext cx="10420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u="sng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https://github.com/treinart/IBM-Data-Science-Professional-Certificate/blob/main/10_Applied%20Data%20Science%20Capstone/Module%203/spacex-dash-app.py</a:t>
              </a:r>
              <a:endParaRPr sz="85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8"/>
          <p:cNvSpPr txBox="1"/>
          <p:nvPr/>
        </p:nvSpPr>
        <p:spPr>
          <a:xfrm>
            <a:off x="762000" y="381000"/>
            <a:ext cx="1066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SpaceX Launch Analytics • Dashboard Insights</a:t>
            </a:r>
            <a:endParaRPr b="1" i="0" sz="900" u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KSC LC-39A: 76.9% Success Rate</a:t>
            </a:r>
            <a:endParaRPr b="1" i="0" sz="900" u="none" strike="noStrik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7" name="Google Shape;1137;p58"/>
          <p:cNvGrpSpPr/>
          <p:nvPr/>
        </p:nvGrpSpPr>
        <p:grpSpPr>
          <a:xfrm>
            <a:off x="762000" y="1190625"/>
            <a:ext cx="7143900" cy="4333800"/>
            <a:chOff x="762000" y="1190625"/>
            <a:chExt cx="7143900" cy="4333800"/>
          </a:xfrm>
        </p:grpSpPr>
        <p:sp>
          <p:nvSpPr>
            <p:cNvPr id="1138" name="Google Shape;1138;p58"/>
            <p:cNvSpPr/>
            <p:nvPr/>
          </p:nvSpPr>
          <p:spPr>
            <a:xfrm>
              <a:off x="762000" y="1190625"/>
              <a:ext cx="7143900" cy="4333800"/>
            </a:xfrm>
            <a:prstGeom prst="roundRect">
              <a:avLst>
                <a:gd fmla="val 26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22414" y="1333500"/>
              <a:ext cx="5823000" cy="3190800"/>
            </a:xfrm>
            <a:prstGeom prst="roundRect">
              <a:avLst>
                <a:gd fmla="val 1790" name="adj"/>
              </a:avLst>
            </a:prstGeom>
            <a:noFill/>
            <a:ln>
              <a:noFill/>
            </a:ln>
          </p:spPr>
        </p:pic>
        <p:sp>
          <p:nvSpPr>
            <p:cNvPr id="1140" name="Google Shape;1140;p58"/>
            <p:cNvSpPr/>
            <p:nvPr/>
          </p:nvSpPr>
          <p:spPr>
            <a:xfrm>
              <a:off x="914400" y="4714875"/>
              <a:ext cx="6839100" cy="647700"/>
            </a:xfrm>
            <a:prstGeom prst="roundRect">
              <a:avLst>
                <a:gd fmla="val 1176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58"/>
            <p:cNvSpPr txBox="1"/>
            <p:nvPr/>
          </p:nvSpPr>
          <p:spPr>
            <a:xfrm>
              <a:off x="1066800" y="4781550"/>
              <a:ext cx="65343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Interactive Feature: </a:t>
              </a:r>
              <a:r>
                <a:rPr b="0" i="0" lang="en-US" sz="1100" u="none" strike="noStrik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Selecting KSC LC-39A in the dropdown changes the pie chart from all-site share to KSC's specific launch outcomes.</a:t>
              </a:r>
              <a:endParaRPr b="1" i="0" sz="1100" u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2" name="Google Shape;1142;p58"/>
          <p:cNvGrpSpPr/>
          <p:nvPr/>
        </p:nvGrpSpPr>
        <p:grpSpPr>
          <a:xfrm>
            <a:off x="8096250" y="1190625"/>
            <a:ext cx="3333900" cy="4333800"/>
            <a:chOff x="8096250" y="1190625"/>
            <a:chExt cx="3333900" cy="4333800"/>
          </a:xfrm>
        </p:grpSpPr>
        <p:sp>
          <p:nvSpPr>
            <p:cNvPr id="1143" name="Google Shape;1143;p58"/>
            <p:cNvSpPr/>
            <p:nvPr/>
          </p:nvSpPr>
          <p:spPr>
            <a:xfrm>
              <a:off x="8096250" y="1190625"/>
              <a:ext cx="3333900" cy="4333800"/>
            </a:xfrm>
            <a:prstGeom prst="roundRect">
              <a:avLst>
                <a:gd fmla="val 342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58"/>
            <p:cNvSpPr/>
            <p:nvPr/>
          </p:nvSpPr>
          <p:spPr>
            <a:xfrm>
              <a:off x="8324850" y="1428750"/>
              <a:ext cx="1190700" cy="2286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58"/>
            <p:cNvSpPr txBox="1"/>
            <p:nvPr/>
          </p:nvSpPr>
          <p:spPr>
            <a:xfrm>
              <a:off x="8420100" y="1457325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KSC LC-39A</a:t>
              </a:r>
              <a:endParaRPr b="1" i="0" sz="85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6" name="Google Shape;1146;p58"/>
            <p:cNvSpPr txBox="1"/>
            <p:nvPr/>
          </p:nvSpPr>
          <p:spPr>
            <a:xfrm>
              <a:off x="8324850" y="1771650"/>
              <a:ext cx="28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Site Success Breakdown</a:t>
              </a:r>
              <a:endParaRPr b="1" i="0" sz="180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05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Highest success rate in this dataset</a:t>
              </a:r>
              <a:endParaRPr b="1" i="0" sz="180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47" name="Google Shape;1147;p58"/>
            <p:cNvCxnSpPr/>
            <p:nvPr/>
          </p:nvCxnSpPr>
          <p:spPr>
            <a:xfrm>
              <a:off x="8324850" y="2362200"/>
              <a:ext cx="2876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8" name="Google Shape;1148;p58"/>
            <p:cNvSpPr txBox="1"/>
            <p:nvPr/>
          </p:nvSpPr>
          <p:spPr>
            <a:xfrm>
              <a:off x="8324850" y="2495550"/>
              <a:ext cx="2876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00" u="none" strike="noStrike">
                  <a:solidFill>
                    <a:srgbClr val="22C55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76.9%</a:t>
              </a:r>
              <a:endParaRPr b="0" i="0" sz="3800" u="none" strike="noStrike">
                <a:solidFill>
                  <a:srgbClr val="22C5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200" u="none" strike="noStrike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 / 13 Successful Landings</a:t>
              </a:r>
              <a:endParaRPr b="0" i="0" sz="1200" u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00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Only 3 landing failures out of 13 total attempts</a:t>
              </a:r>
              <a:endParaRPr b="0" i="0" sz="3800" u="none" strike="noStrike">
                <a:solidFill>
                  <a:srgbClr val="22C5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cxnSp>
          <p:nvCxnSpPr>
            <p:cNvPr id="1149" name="Google Shape;1149;p58"/>
            <p:cNvCxnSpPr/>
            <p:nvPr/>
          </p:nvCxnSpPr>
          <p:spPr>
            <a:xfrm>
              <a:off x="8324850" y="3562350"/>
              <a:ext cx="2876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0" name="Google Shape;1150;p58"/>
            <p:cNvSpPr/>
            <p:nvPr/>
          </p:nvSpPr>
          <p:spPr>
            <a:xfrm>
              <a:off x="8324850" y="3714750"/>
              <a:ext cx="2876700" cy="1571700"/>
            </a:xfrm>
            <a:prstGeom prst="roundRect">
              <a:avLst>
                <a:gd fmla="val 606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58"/>
            <p:cNvSpPr txBox="1"/>
            <p:nvPr/>
          </p:nvSpPr>
          <p:spPr>
            <a:xfrm>
              <a:off x="8496300" y="3848100"/>
              <a:ext cx="2533800" cy="13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0" u="none" strike="noStrik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OUTCOME SUMMARY</a:t>
              </a:r>
              <a:endParaRPr b="1" i="0" sz="85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i="0" lang="en-US" sz="2000" u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 Failures</a:t>
              </a:r>
              <a:endParaRPr b="1" i="0" sz="200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CBD5E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23.1% failure rate</a:t>
              </a:r>
              <a:endParaRPr b="0" i="0" sz="1100" u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i="0" lang="en-US" sz="95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KSC LC-39A demonstrates the highest reliability among all four SpaceX launch facilities.</a:t>
              </a:r>
              <a:endParaRPr b="1" i="0" sz="85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2" name="Google Shape;1152;p58"/>
          <p:cNvGrpSpPr/>
          <p:nvPr/>
        </p:nvGrpSpPr>
        <p:grpSpPr>
          <a:xfrm>
            <a:off x="762000" y="5734050"/>
            <a:ext cx="10668150" cy="609750"/>
            <a:chOff x="762000" y="5734050"/>
            <a:chExt cx="10668150" cy="609750"/>
          </a:xfrm>
        </p:grpSpPr>
        <p:cxnSp>
          <p:nvCxnSpPr>
            <p:cNvPr id="1153" name="Google Shape;1153;p58"/>
            <p:cNvCxnSpPr/>
            <p:nvPr/>
          </p:nvCxnSpPr>
          <p:spPr>
            <a:xfrm>
              <a:off x="762000" y="57340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4" name="Google Shape;1154;p58"/>
            <p:cNvSpPr txBox="1"/>
            <p:nvPr/>
          </p:nvSpPr>
          <p:spPr>
            <a:xfrm>
              <a:off x="762000" y="5867400"/>
              <a:ext cx="571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Live app: https://spacex-launch-analytics.netlify.app/</a:t>
              </a:r>
              <a:endParaRPr sz="95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155" name="Google Shape;1155;p5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2000" y="6153150"/>
              <a:ext cx="171600" cy="1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58"/>
            <p:cNvSpPr txBox="1"/>
            <p:nvPr/>
          </p:nvSpPr>
          <p:spPr>
            <a:xfrm>
              <a:off x="1009650" y="6134100"/>
              <a:ext cx="10420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u="sng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https://github.com/treinart/IBM-Data-Science-Professional-Certificate/blob/main/10_Applied%20Data%20Science%20Capstone/Module%203/spacex-dash-app.py</a:t>
              </a:r>
              <a:endParaRPr sz="85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59"/>
          <p:cNvSpPr txBox="1"/>
          <p:nvPr/>
        </p:nvSpPr>
        <p:spPr>
          <a:xfrm>
            <a:off x="762000" y="381000"/>
            <a:ext cx="10668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SpaceX Launch Analytics • Dashboard Insights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Payload Mass vs. Landing Outcome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62" name="Google Shape;1162;p59"/>
          <p:cNvGrpSpPr/>
          <p:nvPr/>
        </p:nvGrpSpPr>
        <p:grpSpPr>
          <a:xfrm>
            <a:off x="762000" y="1190625"/>
            <a:ext cx="7143900" cy="4333800"/>
            <a:chOff x="762000" y="1190625"/>
            <a:chExt cx="7143900" cy="4333800"/>
          </a:xfrm>
        </p:grpSpPr>
        <p:sp>
          <p:nvSpPr>
            <p:cNvPr id="1163" name="Google Shape;1163;p59"/>
            <p:cNvSpPr/>
            <p:nvPr/>
          </p:nvSpPr>
          <p:spPr>
            <a:xfrm>
              <a:off x="762000" y="1190625"/>
              <a:ext cx="7143900" cy="4333800"/>
            </a:xfrm>
            <a:prstGeom prst="roundRect">
              <a:avLst>
                <a:gd fmla="val 26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4" name="Google Shape;1164;p59"/>
            <p:cNvPicPr preferRelativeResize="0"/>
            <p:nvPr/>
          </p:nvPicPr>
          <p:blipFill rotWithShape="1">
            <a:blip r:embed="rId4">
              <a:alphaModFix/>
            </a:blip>
            <a:srcRect b="1324" l="0" r="0" t="1324"/>
            <a:stretch/>
          </p:blipFill>
          <p:spPr>
            <a:xfrm>
              <a:off x="914400" y="1333500"/>
              <a:ext cx="6839100" cy="3190800"/>
            </a:xfrm>
            <a:prstGeom prst="roundRect">
              <a:avLst>
                <a:gd fmla="val 1791" name="adj"/>
              </a:avLst>
            </a:prstGeom>
            <a:noFill/>
            <a:ln>
              <a:noFill/>
            </a:ln>
          </p:spPr>
        </p:pic>
        <p:sp>
          <p:nvSpPr>
            <p:cNvPr id="1165" name="Google Shape;1165;p59"/>
            <p:cNvSpPr/>
            <p:nvPr/>
          </p:nvSpPr>
          <p:spPr>
            <a:xfrm>
              <a:off x="914400" y="4714875"/>
              <a:ext cx="6839100" cy="647700"/>
            </a:xfrm>
            <a:prstGeom prst="roundRect">
              <a:avLst>
                <a:gd fmla="val 1176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9"/>
            <p:cNvSpPr txBox="1"/>
            <p:nvPr/>
          </p:nvSpPr>
          <p:spPr>
            <a:xfrm>
              <a:off x="1066800" y="4781550"/>
              <a:ext cx="65343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Key Observation:</a:t>
              </a:r>
              <a:r>
                <a:rPr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Each dot represents one launch. Color marks booster category; the hover state details specific failures (e.g., 5,600 kg KSC FT failure).</a:t>
              </a:r>
              <a:endParaRPr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7" name="Google Shape;1167;p59"/>
          <p:cNvGrpSpPr/>
          <p:nvPr/>
        </p:nvGrpSpPr>
        <p:grpSpPr>
          <a:xfrm>
            <a:off x="8096250" y="1190625"/>
            <a:ext cx="3333900" cy="4333800"/>
            <a:chOff x="8096250" y="1190625"/>
            <a:chExt cx="3333900" cy="4333800"/>
          </a:xfrm>
        </p:grpSpPr>
        <p:sp>
          <p:nvSpPr>
            <p:cNvPr id="1168" name="Google Shape;1168;p59"/>
            <p:cNvSpPr/>
            <p:nvPr/>
          </p:nvSpPr>
          <p:spPr>
            <a:xfrm>
              <a:off x="8096250" y="1190625"/>
              <a:ext cx="3333900" cy="4333800"/>
            </a:xfrm>
            <a:prstGeom prst="roundRect">
              <a:avLst>
                <a:gd fmla="val 342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59"/>
            <p:cNvSpPr/>
            <p:nvPr/>
          </p:nvSpPr>
          <p:spPr>
            <a:xfrm>
              <a:off x="8324850" y="1428750"/>
              <a:ext cx="1190700" cy="2286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59"/>
            <p:cNvSpPr txBox="1"/>
            <p:nvPr/>
          </p:nvSpPr>
          <p:spPr>
            <a:xfrm>
              <a:off x="8420100" y="1457325"/>
              <a:ext cx="1000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PAYLOAD FILTER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1" name="Google Shape;1171;p59"/>
            <p:cNvSpPr txBox="1"/>
            <p:nvPr/>
          </p:nvSpPr>
          <p:spPr>
            <a:xfrm>
              <a:off x="8324850" y="1771650"/>
              <a:ext cx="28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2,000 – 6,000 kg</a:t>
              </a:r>
              <a:endParaRPr b="1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Applied across all launch sites</a:t>
              </a:r>
              <a:endParaRPr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72" name="Google Shape;1172;p59"/>
            <p:cNvCxnSpPr/>
            <p:nvPr/>
          </p:nvCxnSpPr>
          <p:spPr>
            <a:xfrm>
              <a:off x="8324850" y="2362200"/>
              <a:ext cx="2876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3" name="Google Shape;1173;p59"/>
            <p:cNvSpPr txBox="1"/>
            <p:nvPr/>
          </p:nvSpPr>
          <p:spPr>
            <a:xfrm>
              <a:off x="8324850" y="2495550"/>
              <a:ext cx="2876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800">
                  <a:solidFill>
                    <a:srgbClr val="22C55E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18 / 34</a:t>
              </a:r>
              <a:endParaRPr b="0" sz="3800">
                <a:solidFill>
                  <a:srgbClr val="22C55E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Landings Succeeded</a:t>
              </a:r>
              <a:endParaRPr b="0" sz="12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52.9% success rate in this range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74" name="Google Shape;1174;p59"/>
            <p:cNvCxnSpPr/>
            <p:nvPr/>
          </p:nvCxnSpPr>
          <p:spPr>
            <a:xfrm>
              <a:off x="8324850" y="3562350"/>
              <a:ext cx="28767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5" name="Google Shape;1175;p59"/>
            <p:cNvSpPr/>
            <p:nvPr/>
          </p:nvSpPr>
          <p:spPr>
            <a:xfrm>
              <a:off x="8324850" y="3714750"/>
              <a:ext cx="2876700" cy="1571700"/>
            </a:xfrm>
            <a:prstGeom prst="roundRect">
              <a:avLst>
                <a:gd fmla="val 606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59"/>
            <p:cNvSpPr txBox="1"/>
            <p:nvPr/>
          </p:nvSpPr>
          <p:spPr>
            <a:xfrm>
              <a:off x="8496300" y="3848100"/>
              <a:ext cx="2533800" cy="13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FT BOOSTER HIGHLIGHT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13 of 18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CBD5E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Successes in FT category</a:t>
              </a:r>
              <a:endParaRPr b="0" sz="110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FT boosters achieve a 72.2% success rate in this specific payload bracket.</a:t>
              </a:r>
              <a:endParaRPr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7" name="Google Shape;1177;p59"/>
          <p:cNvGrpSpPr/>
          <p:nvPr/>
        </p:nvGrpSpPr>
        <p:grpSpPr>
          <a:xfrm>
            <a:off x="762000" y="5734050"/>
            <a:ext cx="10668150" cy="609750"/>
            <a:chOff x="762000" y="5734050"/>
            <a:chExt cx="10668150" cy="609750"/>
          </a:xfrm>
        </p:grpSpPr>
        <p:cxnSp>
          <p:nvCxnSpPr>
            <p:cNvPr id="1178" name="Google Shape;1178;p59"/>
            <p:cNvCxnSpPr/>
            <p:nvPr/>
          </p:nvCxnSpPr>
          <p:spPr>
            <a:xfrm>
              <a:off x="762000" y="5734050"/>
              <a:ext cx="106680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9" name="Google Shape;1179;p59"/>
            <p:cNvSpPr txBox="1"/>
            <p:nvPr/>
          </p:nvSpPr>
          <p:spPr>
            <a:xfrm>
              <a:off x="762000" y="5867400"/>
              <a:ext cx="571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u="sng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Live app: https://spacex-launch-analytics.netlify.app/</a:t>
              </a:r>
              <a:endParaRPr sz="950"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180" name="Google Shape;1180;p5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2000" y="6153150"/>
              <a:ext cx="171600" cy="1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59"/>
            <p:cNvSpPr txBox="1"/>
            <p:nvPr/>
          </p:nvSpPr>
          <p:spPr>
            <a:xfrm>
              <a:off x="1009650" y="6134100"/>
              <a:ext cx="10420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u="sng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https://github.com/treinart/IBM-Data-Science-Professional-Certificate/blob/main/10_Applied%20Data%20Science%20Capstone/Module%203/spacex-dash-app.py</a:t>
              </a:r>
              <a:endParaRPr sz="85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0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1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2" name="Google Shape;1192;p6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Classification Accuracy</a:t>
            </a:r>
            <a:endParaRPr b="1" sz="36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193" name="Google Shape;1193;p61"/>
          <p:cNvSpPr/>
          <p:nvPr/>
        </p:nvSpPr>
        <p:spPr>
          <a:xfrm>
            <a:off x="8979408" y="1435608"/>
            <a:ext cx="2304300" cy="4334400"/>
          </a:xfrm>
          <a:prstGeom prst="rect">
            <a:avLst/>
          </a:prstGeom>
          <a:solidFill>
            <a:srgbClr val="0B1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61"/>
          <p:cNvSpPr/>
          <p:nvPr/>
        </p:nvSpPr>
        <p:spPr>
          <a:xfrm>
            <a:off x="8979408" y="1435608"/>
            <a:ext cx="2304300" cy="63900"/>
          </a:xfrm>
          <a:prstGeom prst="rect">
            <a:avLst/>
          </a:prstGeom>
          <a:solidFill>
            <a:srgbClr val="0B4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5" name="Google Shape;119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096" y="1448388"/>
            <a:ext cx="8000998" cy="4312353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61"/>
          <p:cNvSpPr txBox="1"/>
          <p:nvPr/>
        </p:nvSpPr>
        <p:spPr>
          <a:xfrm>
            <a:off x="9208008" y="1682496"/>
            <a:ext cx="18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2CCF0"/>
                </a:solidFill>
              </a:rPr>
              <a:t>TEST SET</a:t>
            </a:r>
            <a:endParaRPr b="1" sz="1100">
              <a:solidFill>
                <a:srgbClr val="82CCF0"/>
              </a:solidFill>
            </a:endParaRPr>
          </a:p>
        </p:txBody>
      </p:sp>
      <p:sp>
        <p:nvSpPr>
          <p:cNvPr id="1197" name="Google Shape;1197;p61"/>
          <p:cNvSpPr txBox="1"/>
          <p:nvPr/>
        </p:nvSpPr>
        <p:spPr>
          <a:xfrm>
            <a:off x="9208008" y="2112264"/>
            <a:ext cx="1902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FFFFFF"/>
                </a:solidFill>
              </a:rPr>
              <a:t>83.3%</a:t>
            </a:r>
            <a:endParaRPr b="1" sz="2900">
              <a:solidFill>
                <a:srgbClr val="FFFFFF"/>
              </a:solidFill>
            </a:endParaRPr>
          </a:p>
        </p:txBody>
      </p:sp>
      <p:sp>
        <p:nvSpPr>
          <p:cNvPr id="1198" name="Google Shape;1198;p61"/>
          <p:cNvSpPr txBox="1"/>
          <p:nvPr/>
        </p:nvSpPr>
        <p:spPr>
          <a:xfrm>
            <a:off x="9208008" y="2788920"/>
            <a:ext cx="1920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Three models tie across 18 launches.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99" name="Google Shape;1199;p61"/>
          <p:cNvSpPr/>
          <p:nvPr/>
        </p:nvSpPr>
        <p:spPr>
          <a:xfrm>
            <a:off x="9208008" y="3657600"/>
            <a:ext cx="1819800" cy="16500"/>
          </a:xfrm>
          <a:prstGeom prst="rect">
            <a:avLst/>
          </a:prstGeom>
          <a:solidFill>
            <a:srgbClr val="82C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61"/>
          <p:cNvSpPr txBox="1"/>
          <p:nvPr/>
        </p:nvSpPr>
        <p:spPr>
          <a:xfrm>
            <a:off x="9208008" y="3831336"/>
            <a:ext cx="189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FFFF"/>
                </a:solidFill>
              </a:rPr>
              <a:t>72.2%</a:t>
            </a:r>
            <a:endParaRPr b="1" sz="2300">
              <a:solidFill>
                <a:srgbClr val="FFFFFF"/>
              </a:solidFill>
            </a:endParaRPr>
          </a:p>
        </p:txBody>
      </p:sp>
      <p:sp>
        <p:nvSpPr>
          <p:cNvPr id="1201" name="Google Shape;1201;p61"/>
          <p:cNvSpPr txBox="1"/>
          <p:nvPr/>
        </p:nvSpPr>
        <p:spPr>
          <a:xfrm>
            <a:off x="9208008" y="4361688"/>
            <a:ext cx="1892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</a:rPr>
              <a:t>Decision tree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1202" name="Google Shape;1202;p61"/>
          <p:cNvSpPr txBox="1"/>
          <p:nvPr/>
        </p:nvSpPr>
        <p:spPr>
          <a:xfrm>
            <a:off x="9208008" y="4882896"/>
            <a:ext cx="192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C9DBF0"/>
                </a:solidFill>
              </a:rPr>
              <a:t>SVM selected by 84.8% cross-validation accuracy.</a:t>
            </a:r>
            <a:endParaRPr sz="1120">
              <a:solidFill>
                <a:srgbClr val="C9DBF0"/>
              </a:solidFill>
            </a:endParaRPr>
          </a:p>
        </p:txBody>
      </p:sp>
      <p:sp>
        <p:nvSpPr>
          <p:cNvPr id="1203" name="Google Shape;1203;p61"/>
          <p:cNvSpPr/>
          <p:nvPr/>
        </p:nvSpPr>
        <p:spPr>
          <a:xfrm>
            <a:off x="768096" y="5879592"/>
            <a:ext cx="10652700" cy="11100"/>
          </a:xfrm>
          <a:prstGeom prst="rect">
            <a:avLst/>
          </a:prstGeom>
          <a:solidFill>
            <a:srgbClr val="0B4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61"/>
          <p:cNvSpPr txBox="1"/>
          <p:nvPr/>
        </p:nvSpPr>
        <p:spPr>
          <a:xfrm>
            <a:off x="1115568" y="6382512"/>
            <a:ext cx="10058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u="sng">
                <a:solidFill>
                  <a:srgbClr val="0B49CB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https://github.com/treinart/IBM-Data-Science-Professional-Certificate/blob/main/10_Applied%20Data%20Science%20Capstone/Module%204/SpaceX-Machine-Learning-Prediction-Part-5-v1.ipynb</a:t>
            </a:r>
            <a:endParaRPr sz="830" u="sng">
              <a:solidFill>
                <a:srgbClr val="0B49CB"/>
              </a:solidFill>
            </a:endParaRPr>
          </a:p>
        </p:txBody>
      </p:sp>
      <p:pic>
        <p:nvPicPr>
          <p:cNvPr id="1205" name="Google Shape;1205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104" y="639165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62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1" name="Google Shape;1211;p6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ts val="37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Confusion Matrix</a:t>
            </a:r>
            <a:endParaRPr b="1" sz="36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212" name="Google Shape;1212;p62"/>
          <p:cNvSpPr/>
          <p:nvPr/>
        </p:nvSpPr>
        <p:spPr>
          <a:xfrm>
            <a:off x="749808" y="1417320"/>
            <a:ext cx="5111400" cy="4370700"/>
          </a:xfrm>
          <a:prstGeom prst="rect">
            <a:avLst/>
          </a:prstGeom>
          <a:solidFill>
            <a:srgbClr val="0B4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62"/>
          <p:cNvSpPr/>
          <p:nvPr/>
        </p:nvSpPr>
        <p:spPr>
          <a:xfrm>
            <a:off x="6080760" y="3922776"/>
            <a:ext cx="5212200" cy="1828800"/>
          </a:xfrm>
          <a:prstGeom prst="rect">
            <a:avLst/>
          </a:prstGeom>
          <a:solidFill>
            <a:srgbClr val="0B1B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62"/>
          <p:cNvSpPr/>
          <p:nvPr/>
        </p:nvSpPr>
        <p:spPr>
          <a:xfrm>
            <a:off x="6080760" y="3922776"/>
            <a:ext cx="5212200" cy="63900"/>
          </a:xfrm>
          <a:prstGeom prst="rect">
            <a:avLst/>
          </a:prstGeom>
          <a:solidFill>
            <a:srgbClr val="0B4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5" name="Google Shape;121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0760" y="1417320"/>
            <a:ext cx="5212080" cy="23454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62"/>
          <p:cNvSpPr txBox="1"/>
          <p:nvPr/>
        </p:nvSpPr>
        <p:spPr>
          <a:xfrm>
            <a:off x="6373368" y="4160520"/>
            <a:ext cx="466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2CCF0"/>
                </a:solidFill>
              </a:rPr>
              <a:t>SVM MODEL | 18 TEST LAUNCHES</a:t>
            </a:r>
            <a:endParaRPr b="1" sz="1100">
              <a:solidFill>
                <a:srgbClr val="82CCF0"/>
              </a:solidFill>
            </a:endParaRPr>
          </a:p>
        </p:txBody>
      </p:sp>
      <p:sp>
        <p:nvSpPr>
          <p:cNvPr id="1217" name="Google Shape;1217;p62"/>
          <p:cNvSpPr txBox="1"/>
          <p:nvPr/>
        </p:nvSpPr>
        <p:spPr>
          <a:xfrm>
            <a:off x="6373368" y="4535424"/>
            <a:ext cx="466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</a:rPr>
              <a:t>15 / 18 correct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218" name="Google Shape;1218;p62"/>
          <p:cNvSpPr txBox="1"/>
          <p:nvPr/>
        </p:nvSpPr>
        <p:spPr>
          <a:xfrm>
            <a:off x="6373368" y="5074920"/>
            <a:ext cx="468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All 12 successful landings identified; three failures predicted to land.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19" name="Google Shape;1219;p62"/>
          <p:cNvSpPr/>
          <p:nvPr/>
        </p:nvSpPr>
        <p:spPr>
          <a:xfrm>
            <a:off x="768096" y="5879592"/>
            <a:ext cx="10652700" cy="11100"/>
          </a:xfrm>
          <a:prstGeom prst="rect">
            <a:avLst/>
          </a:prstGeom>
          <a:solidFill>
            <a:srgbClr val="0B49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62"/>
          <p:cNvSpPr txBox="1"/>
          <p:nvPr/>
        </p:nvSpPr>
        <p:spPr>
          <a:xfrm>
            <a:off x="1115568" y="6382512"/>
            <a:ext cx="10058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u="sng">
                <a:solidFill>
                  <a:srgbClr val="0B49CB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https://github.com/treinart/IBM-Data-Science-Professional-Certificate/blob/main/10_Applied%20Data%20Science%20Capstone/Module%204/SpaceX-Machine-Learning-Prediction-Part-5-v1.ipynb</a:t>
            </a:r>
            <a:endParaRPr sz="830" u="sng">
              <a:solidFill>
                <a:srgbClr val="0B49CB"/>
              </a:solidFill>
            </a:endParaRPr>
          </a:p>
        </p:txBody>
      </p:sp>
      <p:pic>
        <p:nvPicPr>
          <p:cNvPr id="1221" name="Google Shape;1221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875" y="1435608"/>
            <a:ext cx="5069361" cy="4334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2104" y="639165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63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8" name="Google Shape;1228;p63"/>
          <p:cNvSpPr txBox="1"/>
          <p:nvPr>
            <p:ph idx="1" type="body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1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2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3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4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229" name="Google Shape;1229;p6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64"/>
          <p:cNvSpPr txBox="1"/>
          <p:nvPr>
            <p:ph idx="12" type="sldNum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6" name="Google Shape;1236;p64"/>
          <p:cNvSpPr txBox="1"/>
          <p:nvPr>
            <p:ph idx="1" type="body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Include any relevant assets like Python code snippets, SQL queries, charts, Notebook outputs, or data sets that you may have created during this project</a:t>
            </a:r>
            <a:endParaRPr/>
          </a:p>
        </p:txBody>
      </p:sp>
      <p:sp>
        <p:nvSpPr>
          <p:cNvPr id="1237" name="Google Shape;1237;p6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